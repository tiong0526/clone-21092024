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9"/>
  </p:notesMasterIdLst>
  <p:handoutMasterIdLst>
    <p:handoutMasterId r:id="rId20"/>
  </p:handoutMasterIdLst>
  <p:sldIdLst>
    <p:sldId id="365" r:id="rId2"/>
    <p:sldId id="38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91">
          <p15:clr>
            <a:srgbClr val="A4A3A4"/>
          </p15:clr>
        </p15:guide>
        <p15:guide id="3" orient="horz" pos="3870">
          <p15:clr>
            <a:srgbClr val="A4A3A4"/>
          </p15:clr>
        </p15:guide>
        <p15:guide id="4" orient="horz" pos="1069">
          <p15:clr>
            <a:srgbClr val="A4A3A4"/>
          </p15:clr>
        </p15:guide>
        <p15:guide id="5" orient="horz" pos="1955">
          <p15:clr>
            <a:srgbClr val="A4A3A4"/>
          </p15:clr>
        </p15:guide>
        <p15:guide id="6" orient="horz" pos="357">
          <p15:clr>
            <a:srgbClr val="A4A3A4"/>
          </p15:clr>
        </p15:guide>
        <p15:guide id="7" pos="5550">
          <p15:clr>
            <a:srgbClr val="A4A3A4"/>
          </p15:clr>
        </p15:guide>
        <p15:guide id="8" pos="3078">
          <p15:clr>
            <a:srgbClr val="A4A3A4"/>
          </p15:clr>
        </p15:guide>
        <p15:guide id="9" pos="2533">
          <p15:clr>
            <a:srgbClr val="A4A3A4"/>
          </p15:clr>
        </p15:guide>
        <p15:guide id="10" pos="364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73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4" autoAdjust="0"/>
    <p:restoredTop sz="91963" autoAdjust="0"/>
  </p:normalViewPr>
  <p:slideViewPr>
    <p:cSldViewPr snapToGrid="0">
      <p:cViewPr varScale="1">
        <p:scale>
          <a:sx n="58" d="100"/>
          <a:sy n="58" d="100"/>
        </p:scale>
        <p:origin x="1424" y="48"/>
      </p:cViewPr>
      <p:guideLst>
        <p:guide orient="horz" pos="2160"/>
        <p:guide orient="horz" pos="791"/>
        <p:guide orient="horz" pos="3870"/>
        <p:guide orient="horz" pos="1069"/>
        <p:guide orient="horz" pos="1955"/>
        <p:guide orient="horz" pos="357"/>
        <p:guide pos="5550"/>
        <p:guide pos="3078"/>
        <p:guide pos="2533"/>
        <p:guide pos="36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"/>
    </p:cViewPr>
  </p:sorterViewPr>
  <p:notesViewPr>
    <p:cSldViewPr snapToGrid="0">
      <p:cViewPr varScale="1">
        <p:scale>
          <a:sx n="85" d="100"/>
          <a:sy n="85" d="100"/>
        </p:scale>
        <p:origin x="-383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0E4229BE-3042-445E-A20F-5C7D3641F6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E4FDFC6-9B57-4F21-A98F-E2EB361EAA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4FE1C-325C-4DC8-BBC1-0282F71A5968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A57F86A-4E50-47AC-8466-D6EC7B6B87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A0FE093-C2FD-4CBB-9E23-E2A31EC0B3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1801E-884E-4CFF-9FDA-DB575CD03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36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AF676-6C75-4EB8-89B0-06311F1A4E75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A84D8-D690-4E28-AF9C-7EC52C5D5E1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Notes Placeholder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92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763277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 TITLE</a:t>
            </a:r>
            <a:endParaRPr lang="en-GB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tx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13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3" y="5788551"/>
            <a:ext cx="5823635" cy="68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tx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and job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86325" y="566738"/>
            <a:ext cx="3924300" cy="2862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85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418134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 TITLE</a:t>
            </a:r>
            <a:endParaRPr lang="en-GB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tx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13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4" y="5788551"/>
            <a:ext cx="4181342" cy="68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tx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and job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86325" y="546100"/>
            <a:ext cx="3924300" cy="55880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46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418134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 TITLE</a:t>
            </a:r>
            <a:endParaRPr lang="en-GB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tx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13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4" y="5788551"/>
            <a:ext cx="4181342" cy="68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tx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</a:t>
            </a:r>
            <a:br>
              <a:rPr lang="nl-NL" dirty="0"/>
            </a:br>
            <a:r>
              <a:rPr lang="nl-NL" dirty="0"/>
              <a:t>Job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86325" y="566738"/>
            <a:ext cx="3924300" cy="2862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886325" y="3429000"/>
            <a:ext cx="3924300" cy="27051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97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BE1EC009-1AB6-46B3-89FC-A2752A5CC63B}"/>
              </a:ext>
            </a:extLst>
          </p:cNvPr>
          <p:cNvSpPr/>
          <p:nvPr userDrawn="1"/>
        </p:nvSpPr>
        <p:spPr>
          <a:xfrm>
            <a:off x="3243741" y="2741424"/>
            <a:ext cx="5896843" cy="4116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363785" y="3415144"/>
            <a:ext cx="8432223" cy="34428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763277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bg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 TITLE</a:t>
            </a:r>
            <a:endParaRPr lang="en-GB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bg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21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3" y="5788551"/>
            <a:ext cx="5823635" cy="68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bg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and job title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86325" y="546100"/>
            <a:ext cx="3924300" cy="2868613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78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BE1EC009-1AB6-46B3-89FC-A2752A5CC63B}"/>
              </a:ext>
            </a:extLst>
          </p:cNvPr>
          <p:cNvSpPr/>
          <p:nvPr userDrawn="1"/>
        </p:nvSpPr>
        <p:spPr>
          <a:xfrm>
            <a:off x="3243741" y="2741424"/>
            <a:ext cx="5896843" cy="4116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363785" y="3415144"/>
            <a:ext cx="8432223" cy="34428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418134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bg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</a:t>
            </a:r>
            <a:br>
              <a:rPr lang="nl-NL" dirty="0"/>
            </a:br>
            <a:r>
              <a:rPr lang="nl-NL" dirty="0"/>
              <a:t>TITLE</a:t>
            </a:r>
            <a:endParaRPr lang="en-GB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bg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21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4" y="5788551"/>
            <a:ext cx="4181342" cy="6024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bg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and </a:t>
            </a:r>
            <a:br>
              <a:rPr lang="nl-NL" dirty="0"/>
            </a:br>
            <a:r>
              <a:rPr lang="nl-NL" dirty="0"/>
              <a:t>job title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86325" y="566738"/>
            <a:ext cx="3924300" cy="55673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33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BE1EC009-1AB6-46B3-89FC-A2752A5CC63B}"/>
              </a:ext>
            </a:extLst>
          </p:cNvPr>
          <p:cNvSpPr/>
          <p:nvPr userDrawn="1"/>
        </p:nvSpPr>
        <p:spPr>
          <a:xfrm>
            <a:off x="3243741" y="2741424"/>
            <a:ext cx="5896843" cy="4116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378402" y="3415144"/>
            <a:ext cx="8432223" cy="34428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A199696C-1A0F-4C0D-85B6-89CC710B73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4983" y="3991479"/>
            <a:ext cx="4181342" cy="11679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4500"/>
              </a:lnSpc>
              <a:defRPr sz="4400" spc="70" baseline="0">
                <a:solidFill>
                  <a:schemeClr val="bg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EDIT TITLE</a:t>
            </a:r>
            <a:endParaRPr lang="en-GB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7D927364-844D-4A85-B6EB-FBFEED2E4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3346" y="5228105"/>
            <a:ext cx="4172979" cy="351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spc="50" baseline="0">
                <a:solidFill>
                  <a:schemeClr val="bg2"/>
                </a:solidFill>
                <a:latin typeface="+mn-lt"/>
                <a:ea typeface="Aero Light" pitchFamily="50" charset="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Click to edit subtitle </a:t>
            </a:r>
            <a:endParaRPr lang="en-GB" dirty="0"/>
          </a:p>
        </p:txBody>
      </p:sp>
      <p:sp>
        <p:nvSpPr>
          <p:cNvPr id="21" name="Tijdelijke aanduiding voor tekst 9">
            <a:extLst>
              <a:ext uri="{FF2B5EF4-FFF2-40B4-BE49-F238E27FC236}">
                <a16:creationId xmlns:a16="http://schemas.microsoft.com/office/drawing/2014/main" id="{BFA6C715-12C9-4F92-B6DE-60323A6EC8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984" y="5788551"/>
            <a:ext cx="4181342" cy="68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spc="50" baseline="0">
                <a:solidFill>
                  <a:schemeClr val="bg2"/>
                </a:solidFill>
                <a:latin typeface="+mj-lt"/>
                <a:ea typeface="Aero Light" pitchFamily="50" charset="2"/>
              </a:defRPr>
            </a:lvl1pPr>
          </a:lstStyle>
          <a:p>
            <a:pPr lvl="0"/>
            <a:r>
              <a:rPr lang="nl-NL" dirty="0"/>
              <a:t>Click to add presenter’s name and job title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E63E3581-10E1-4073-944D-F8E146E171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0" y="546281"/>
            <a:ext cx="3919535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jdelijke aanduiding voor afbeelding 4">
            <a:extLst>
              <a:ext uri="{FF2B5EF4-FFF2-40B4-BE49-F238E27FC236}">
                <a16:creationId xmlns:a16="http://schemas.microsoft.com/office/drawing/2014/main" id="{CF0C1C67-8795-4378-A1C9-7F9D220294C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6326" y="546281"/>
            <a:ext cx="3909682" cy="28688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txBody>
          <a:bodyPr anchor="t" anchorCtr="0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  <a:ea typeface="Aero Light" pitchFamily="50" charset="2"/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CF0C1C67-8795-4378-A1C9-7F9D220294C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91111" y="3424976"/>
            <a:ext cx="3909682" cy="28688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txBody>
          <a:bodyPr anchor="t" anchorCtr="0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  <a:ea typeface="Aero Light" pitchFamily="50" charset="2"/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43831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_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4454013" y="3415144"/>
            <a:ext cx="4689987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6145162" y="0"/>
            <a:ext cx="3002342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87A365B2-30D8-46C0-9FAA-25F176FE6749}"/>
              </a:ext>
            </a:extLst>
          </p:cNvPr>
          <p:cNvSpPr txBox="1">
            <a:spLocks/>
          </p:cNvSpPr>
          <p:nvPr userDrawn="1"/>
        </p:nvSpPr>
        <p:spPr>
          <a:xfrm>
            <a:off x="346075" y="4184651"/>
            <a:ext cx="4530013" cy="1949450"/>
          </a:xfrm>
          <a:prstGeom prst="rect">
            <a:avLst/>
          </a:prstGeom>
          <a:solidFill>
            <a:schemeClr val="tx2"/>
          </a:solidFill>
        </p:spPr>
        <p:txBody>
          <a:bodyPr lIns="252000" tIns="25200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Aero Light" pitchFamily="50" charset="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3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endParaRPr lang="en-GB" sz="2200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02" y="3247779"/>
            <a:ext cx="2537455" cy="58220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3" b="11158"/>
          <a:stretch/>
        </p:blipFill>
        <p:spPr bwMode="auto">
          <a:xfrm>
            <a:off x="1199898" y="1696762"/>
            <a:ext cx="957263" cy="38749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 userDrawn="1"/>
        </p:nvSpPr>
        <p:spPr>
          <a:xfrm>
            <a:off x="2677440" y="4949770"/>
            <a:ext cx="2191666" cy="9501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+mj-lt"/>
              </a:rPr>
              <a:t>UK city for students</a:t>
            </a:r>
          </a:p>
          <a:p>
            <a:pPr algn="ctr"/>
            <a:r>
              <a:rPr lang="en-GB" sz="1600" dirty="0" err="1">
                <a:solidFill>
                  <a:schemeClr val="bg1"/>
                </a:solidFill>
                <a:latin typeface="+mj-lt"/>
              </a:rPr>
              <a:t>Natwest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student living index 2016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6057035" y="5385545"/>
            <a:ext cx="2929007" cy="84224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+mj-lt"/>
              </a:rPr>
              <a:t>University of Portsmouth in top 15% for student satisfaction</a:t>
            </a:r>
          </a:p>
          <a:p>
            <a:pPr algn="ctr"/>
            <a:r>
              <a:rPr lang="en-GB" sz="1600" dirty="0">
                <a:solidFill>
                  <a:schemeClr val="bg1"/>
                </a:solidFill>
                <a:latin typeface="+mj-lt"/>
              </a:rPr>
              <a:t>(National Student Survey 2017)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4450787" y="3973968"/>
            <a:ext cx="3395937" cy="95476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+mj-lt"/>
              </a:rPr>
              <a:t>of </a:t>
            </a:r>
            <a:r>
              <a:rPr lang="en-GB" sz="1600" dirty="0">
                <a:solidFill>
                  <a:schemeClr val="bg1"/>
                </a:solidFill>
                <a:latin typeface="Calibri bold" panose="020F0702030404030204" pitchFamily="34" charset="0"/>
              </a:rPr>
              <a:t>GRADUATES WORKING </a:t>
            </a:r>
            <a:br>
              <a:rPr lang="en-GB" sz="1600" dirty="0">
                <a:solidFill>
                  <a:schemeClr val="bg1"/>
                </a:solidFill>
                <a:latin typeface="Calibri bold" panose="020F070203040403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+mj-lt"/>
              </a:rPr>
              <a:t>or in </a:t>
            </a:r>
            <a:r>
              <a:rPr lang="en-GB" sz="1600" dirty="0">
                <a:solidFill>
                  <a:schemeClr val="bg1"/>
                </a:solidFill>
                <a:latin typeface="Calibri bold" panose="020F0702030404030204" pitchFamily="34" charset="0"/>
              </a:rPr>
              <a:t>FURTHER STUDY 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(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DLHE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2016)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310632" y="4408668"/>
            <a:ext cx="2429356" cy="150023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700" dirty="0">
                <a:solidFill>
                  <a:schemeClr val="bg2"/>
                </a:solidFill>
                <a:latin typeface="Calibri bold" panose="020F0702030404030204" pitchFamily="34" charset="0"/>
              </a:rPr>
              <a:t>NEW UNIVERSITIES </a:t>
            </a:r>
            <a:br>
              <a:rPr lang="en-GB" sz="1700" dirty="0">
                <a:solidFill>
                  <a:schemeClr val="bg2"/>
                </a:solidFill>
                <a:latin typeface="+mj-lt"/>
              </a:rPr>
            </a:br>
            <a:r>
              <a:rPr lang="en-GB" sz="1600" dirty="0">
                <a:solidFill>
                  <a:schemeClr val="bg2"/>
                </a:solidFill>
                <a:latin typeface="+mj-lt"/>
              </a:rPr>
              <a:t>in the Times Higher Education Young</a:t>
            </a:r>
            <a:br>
              <a:rPr lang="en-GB" sz="1600" dirty="0">
                <a:solidFill>
                  <a:schemeClr val="bg2"/>
                </a:solidFill>
                <a:latin typeface="+mj-lt"/>
              </a:rPr>
            </a:br>
            <a:r>
              <a:rPr lang="en-GB" sz="1600" dirty="0">
                <a:solidFill>
                  <a:schemeClr val="bg2"/>
                </a:solidFill>
                <a:latin typeface="+mj-lt"/>
              </a:rPr>
              <a:t>University Rankings 2017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6174008" y="816535"/>
            <a:ext cx="2655668" cy="71703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600" dirty="0">
                <a:solidFill>
                  <a:schemeClr val="bg2"/>
                </a:solidFill>
                <a:latin typeface="+mj-lt"/>
              </a:rPr>
              <a:t>in The Guardian’s </a:t>
            </a:r>
            <a:br>
              <a:rPr lang="en-GB" sz="1600" dirty="0">
                <a:solidFill>
                  <a:schemeClr val="bg2"/>
                </a:solidFill>
                <a:latin typeface="+mj-lt"/>
              </a:rPr>
            </a:br>
            <a:r>
              <a:rPr lang="en-GB" sz="1600" dirty="0">
                <a:solidFill>
                  <a:schemeClr val="bg2"/>
                </a:solidFill>
                <a:latin typeface="+mj-lt"/>
              </a:rPr>
              <a:t>University guide 2018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974093" y="1034054"/>
            <a:ext cx="2657475" cy="171291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  <a:latin typeface="+mj-lt"/>
              </a:rPr>
              <a:t>in the UK for </a:t>
            </a:r>
            <a:r>
              <a:rPr lang="en-GB" dirty="0">
                <a:solidFill>
                  <a:schemeClr val="tx2"/>
                </a:solidFill>
                <a:latin typeface="Calibri bold" panose="020F0702030404030204" pitchFamily="34" charset="0"/>
              </a:rPr>
              <a:t>BOOSTING GRADUATE SALARIES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2749513" y="4321325"/>
            <a:ext cx="1097280" cy="108204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l"/>
            <a:r>
              <a:rPr lang="en-GB" sz="7200" b="1" spc="70" dirty="0">
                <a:solidFill>
                  <a:schemeClr val="accent1"/>
                </a:solidFill>
                <a:latin typeface="Vrinda" panose="020B0502040204020203" pitchFamily="34" charset="0"/>
                <a:ea typeface="Aero Bold" panose="02000000000000000000" pitchFamily="50" charset="2"/>
                <a:cs typeface="Vrinda" panose="020B0502040204020203" pitchFamily="34" charset="0"/>
              </a:rPr>
              <a:t>£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7182771" y="899412"/>
            <a:ext cx="1499357" cy="14557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r>
              <a:rPr lang="en-GB" sz="4000" spc="70" dirty="0">
                <a:solidFill>
                  <a:schemeClr val="bg2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  <a:sym typeface="Wingdings"/>
              </a:rPr>
              <a:t>5</a:t>
            </a:r>
            <a:endParaRPr lang="en-GB" sz="4000" spc="70" dirty="0">
              <a:solidFill>
                <a:schemeClr val="bg2"/>
              </a:solidFill>
              <a:latin typeface="Calibri bold" panose="020F0702030404030204" pitchFamily="34" charset="0"/>
              <a:ea typeface="Aero Bold" panose="02000000000000000000" pitchFamily="50" charset="2"/>
              <a:cs typeface="Calibri bold" panose="020F070203040403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174008" y="443579"/>
            <a:ext cx="26556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spc="70" dirty="0">
                <a:solidFill>
                  <a:schemeClr val="bg2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rPr>
              <a:t>TOP 40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531320" y="4324688"/>
            <a:ext cx="20002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spc="70" dirty="0">
                <a:solidFill>
                  <a:schemeClr val="bg2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rPr>
              <a:t>TOP 100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367090" y="1338869"/>
            <a:ext cx="1046763" cy="1073254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r>
              <a:rPr lang="en-GB" sz="4800" spc="70" dirty="0">
                <a:solidFill>
                  <a:schemeClr val="accent1"/>
                </a:solidFill>
                <a:latin typeface="Berlin Sans FB Demi" panose="020E0802020502020306" pitchFamily="34" charset="0"/>
                <a:ea typeface="Aero Bold" panose="02000000000000000000" pitchFamily="50" charset="2"/>
                <a:cs typeface="Calibri bold" panose="020F0702030404030204" pitchFamily="34" charset="0"/>
                <a:sym typeface="Wingdings"/>
              </a:rPr>
              <a:t></a:t>
            </a:r>
            <a:endParaRPr lang="en-GB" sz="4800" spc="70" dirty="0">
              <a:solidFill>
                <a:schemeClr val="accent1"/>
              </a:solidFill>
              <a:latin typeface="Berlin Sans FB Demi" panose="020E0802020502020306" pitchFamily="34" charset="0"/>
              <a:ea typeface="Aero Bold" panose="02000000000000000000" pitchFamily="50" charset="2"/>
              <a:cs typeface="Calibri bold" panose="020F0702030404030204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3001290" y="4272575"/>
            <a:ext cx="2017041" cy="74541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Calibri bold" panose="020F0702030404030204" pitchFamily="34" charset="0"/>
              </a:rPr>
              <a:t>MOST</a:t>
            </a:r>
            <a:r>
              <a:rPr lang="en-GB" sz="1600" dirty="0">
                <a:solidFill>
                  <a:schemeClr val="bg1"/>
                </a:solidFill>
                <a:latin typeface="Calibri bold" panose="020F0702030404030204" pitchFamily="34" charset="0"/>
              </a:rPr>
              <a:t> </a:t>
            </a:r>
            <a:endParaRPr lang="en-GB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928377" y="4756148"/>
            <a:ext cx="2191666" cy="39364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Calibri bold" panose="020F0702030404030204" pitchFamily="34" charset="0"/>
              </a:rPr>
              <a:t>AFFORDABLE</a:t>
            </a:r>
            <a:r>
              <a:rPr lang="en-GB" sz="1700" dirty="0">
                <a:solidFill>
                  <a:schemeClr val="bg1"/>
                </a:solidFill>
                <a:latin typeface="Calibri bold" panose="020F0702030404030204" pitchFamily="34" charset="0"/>
              </a:rPr>
              <a:t> </a:t>
            </a:r>
            <a:endParaRPr lang="en-GB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5355568" y="4984039"/>
            <a:ext cx="2929007" cy="61912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4300" spc="70" dirty="0">
                <a:solidFill>
                  <a:schemeClr val="bg1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rPr>
              <a:t>88% </a:t>
            </a:r>
            <a:endParaRPr lang="en-GB" sz="43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4849322" y="3645637"/>
            <a:ext cx="2554123" cy="671512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 fontScale="92500" lnSpcReduction="10000"/>
          </a:bodyPr>
          <a:lstStyle/>
          <a:p>
            <a:pPr algn="ctr"/>
            <a:r>
              <a:rPr lang="en-GB" sz="4300" spc="70" dirty="0">
                <a:solidFill>
                  <a:schemeClr val="bg1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rPr>
              <a:t>96.5% </a:t>
            </a:r>
            <a:endParaRPr lang="en-GB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135908" y="2342544"/>
            <a:ext cx="2831083" cy="95476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algn="ctr"/>
            <a:r>
              <a:rPr lang="en-GB" sz="1700" dirty="0">
                <a:solidFill>
                  <a:schemeClr val="bg2"/>
                </a:solidFill>
                <a:latin typeface="+mj-lt"/>
              </a:rPr>
              <a:t>Rating for </a:t>
            </a:r>
            <a:br>
              <a:rPr lang="en-GB" sz="1700" dirty="0">
                <a:solidFill>
                  <a:schemeClr val="bg2"/>
                </a:solidFill>
                <a:latin typeface="+mj-lt"/>
              </a:rPr>
            </a:br>
            <a:r>
              <a:rPr lang="en-GB" sz="1700" dirty="0">
                <a:solidFill>
                  <a:schemeClr val="bg2"/>
                </a:solidFill>
                <a:latin typeface="Calibri bold" panose="020F0702030404030204" pitchFamily="34" charset="0"/>
              </a:rPr>
              <a:t>TEACHING,  EMPLOYABILITY </a:t>
            </a:r>
            <a:br>
              <a:rPr lang="en-GB" sz="1700" dirty="0">
                <a:solidFill>
                  <a:schemeClr val="bg2"/>
                </a:solidFill>
                <a:latin typeface="Calibri bold" panose="020F0702030404030204" pitchFamily="34" charset="0"/>
              </a:rPr>
            </a:br>
            <a:r>
              <a:rPr lang="en-GB" sz="1700" dirty="0">
                <a:solidFill>
                  <a:schemeClr val="bg2"/>
                </a:solidFill>
                <a:latin typeface="+mj-lt"/>
              </a:rPr>
              <a:t>and </a:t>
            </a:r>
            <a:r>
              <a:rPr lang="en-GB" sz="1700" dirty="0">
                <a:solidFill>
                  <a:schemeClr val="bg2"/>
                </a:solidFill>
                <a:latin typeface="Calibri bold" panose="020F0702030404030204" pitchFamily="34" charset="0"/>
              </a:rPr>
              <a:t>FACILITIES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latin typeface="+mj-lt"/>
              </a:rPr>
              <a:t>(QS World University Ranking)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82605" y="546434"/>
            <a:ext cx="2657475" cy="171291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GB" sz="4400" spc="70" dirty="0">
                <a:solidFill>
                  <a:schemeClr val="tx2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rPr>
              <a:t>NO.1</a:t>
            </a:r>
            <a:endParaRPr lang="en-GB" dirty="0">
              <a:solidFill>
                <a:schemeClr val="tx2"/>
              </a:solidFill>
              <a:latin typeface="Calibri bold" panose="020F07020304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621" y="583586"/>
            <a:ext cx="5812134" cy="1130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4400" kern="1200" spc="70" baseline="0" dirty="0">
                <a:solidFill>
                  <a:schemeClr val="tx2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11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8358309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68711" y="1708353"/>
            <a:ext cx="8373651" cy="44257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5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8447721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68712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766184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95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4523421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68712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86325" y="547689"/>
            <a:ext cx="3924300" cy="2881312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886325" y="3425979"/>
            <a:ext cx="3924300" cy="2708121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09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4454013" y="3415144"/>
            <a:ext cx="4689987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6145162" y="0"/>
            <a:ext cx="3002342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8447720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68711" y="1708353"/>
            <a:ext cx="8441913" cy="44257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682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4454013" y="3415144"/>
            <a:ext cx="4689987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6145162" y="0"/>
            <a:ext cx="3002342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8447720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68712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766184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799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4454013" y="3415144"/>
            <a:ext cx="4689987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6145162" y="0"/>
            <a:ext cx="3002342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F078DCB-93EE-4BE7-A995-4A147D85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904" y="560367"/>
            <a:ext cx="4523421" cy="113667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3600"/>
              </a:lnSpc>
              <a:defRPr sz="4400" spc="70" baseline="0">
                <a:solidFill>
                  <a:schemeClr val="tx2"/>
                </a:solidFill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nl-NL" dirty="0"/>
              <a:t>CLICK TO ADD TITLE</a:t>
            </a:r>
            <a:endParaRPr lang="en-GB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A6DEE0E1-E6DD-48F9-961A-927DFCE674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6225042"/>
            <a:ext cx="1298114" cy="4619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8810624" y="3415144"/>
            <a:ext cx="333376" cy="3442856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5">
            <a:extLst>
              <a:ext uri="{FF2B5EF4-FFF2-40B4-BE49-F238E27FC236}">
                <a16:creationId xmlns:a16="http://schemas.microsoft.com/office/drawing/2014/main" id="{1D820570-21E1-43AC-BE0D-02ADF7C4CF21}"/>
              </a:ext>
            </a:extLst>
          </p:cNvPr>
          <p:cNvSpPr/>
          <p:nvPr userDrawn="1"/>
        </p:nvSpPr>
        <p:spPr>
          <a:xfrm>
            <a:off x="8810624" y="0"/>
            <a:ext cx="336879" cy="3425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68712" y="1708353"/>
            <a:ext cx="4038600" cy="44257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86325" y="547689"/>
            <a:ext cx="3924300" cy="2881312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886325" y="3425979"/>
            <a:ext cx="3924300" cy="2708121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4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16">
            <a:extLst>
              <a:ext uri="{FF2B5EF4-FFF2-40B4-BE49-F238E27FC236}">
                <a16:creationId xmlns:a16="http://schemas.microsoft.com/office/drawing/2014/main" id="{BE1EC009-1AB6-46B3-89FC-A2752A5CC63B}"/>
              </a:ext>
            </a:extLst>
          </p:cNvPr>
          <p:cNvSpPr/>
          <p:nvPr userDrawn="1"/>
        </p:nvSpPr>
        <p:spPr>
          <a:xfrm>
            <a:off x="1071717" y="2841524"/>
            <a:ext cx="8072284" cy="4016478"/>
          </a:xfrm>
          <a:prstGeom prst="rect">
            <a:avLst/>
          </a:prstGeom>
          <a:solidFill>
            <a:srgbClr val="6213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hoek 17">
            <a:extLst>
              <a:ext uri="{FF2B5EF4-FFF2-40B4-BE49-F238E27FC236}">
                <a16:creationId xmlns:a16="http://schemas.microsoft.com/office/drawing/2014/main" id="{552F9B91-4010-4562-9359-EED6891B29B8}"/>
              </a:ext>
            </a:extLst>
          </p:cNvPr>
          <p:cNvSpPr/>
          <p:nvPr userDrawn="1"/>
        </p:nvSpPr>
        <p:spPr>
          <a:xfrm>
            <a:off x="341199" y="3746090"/>
            <a:ext cx="8802801" cy="3111910"/>
          </a:xfrm>
          <a:prstGeom prst="rect">
            <a:avLst/>
          </a:prstGeom>
          <a:solidFill>
            <a:srgbClr val="3C02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jdelijke aanduiding voor tekst 12">
            <a:extLst>
              <a:ext uri="{FF2B5EF4-FFF2-40B4-BE49-F238E27FC236}">
                <a16:creationId xmlns:a16="http://schemas.microsoft.com/office/drawing/2014/main" id="{615C7DB6-2966-4805-BDB8-3CC368712F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58" y="5486761"/>
            <a:ext cx="4189268" cy="447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 spc="40" baseline="0">
                <a:solidFill>
                  <a:schemeClr val="bg1"/>
                </a:solidFill>
                <a:latin typeface="+mn-lt"/>
                <a:ea typeface="Aero Light" pitchFamily="50" charset="2"/>
              </a:defRPr>
            </a:lvl1pPr>
            <a:lvl2pPr marL="457200" indent="0">
              <a:buNone/>
              <a:defRPr sz="2000">
                <a:latin typeface="Aero Light" pitchFamily="50" charset="2"/>
                <a:ea typeface="Aero Light" pitchFamily="50" charset="2"/>
              </a:defRPr>
            </a:lvl2pPr>
            <a:lvl3pPr marL="914400" indent="0">
              <a:buNone/>
              <a:defRPr sz="1800">
                <a:latin typeface="Aero Light" pitchFamily="50" charset="2"/>
                <a:ea typeface="Aero Light" pitchFamily="50" charset="2"/>
              </a:defRPr>
            </a:lvl3pPr>
            <a:lvl4pPr marL="1371600" indent="0">
              <a:buNone/>
              <a:defRPr sz="1600">
                <a:latin typeface="Aero Light" pitchFamily="50" charset="2"/>
                <a:ea typeface="Aero Light" pitchFamily="50" charset="2"/>
              </a:defRPr>
            </a:lvl4pPr>
            <a:lvl5pPr marL="1828800" indent="0">
              <a:buNone/>
              <a:defRPr sz="1600">
                <a:latin typeface="Aero Light" pitchFamily="50" charset="2"/>
                <a:ea typeface="Aero Light" pitchFamily="50" charset="2"/>
              </a:defRPr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subtitle</a:t>
            </a:r>
            <a:endParaRPr lang="en-GB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E5147CD9-9D85-4ED3-84D6-AA0AB22B9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1" y="546281"/>
            <a:ext cx="4325121" cy="153924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00422" y="4171745"/>
            <a:ext cx="4185903" cy="13048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4400" kern="1200" spc="70" baseline="0" dirty="0">
                <a:solidFill>
                  <a:schemeClr val="bg1"/>
                </a:solidFill>
                <a:latin typeface="Calibri bold" panose="020F0702030404030204" pitchFamily="34" charset="0"/>
                <a:ea typeface="Aero Bold" panose="02000000000000000000" pitchFamily="50" charset="2"/>
                <a:cs typeface="Calibri bold" panose="020F0702030404030204" pitchFamily="34" charset="0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886325" y="566738"/>
            <a:ext cx="3924300" cy="55673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36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7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67" r:id="rId4"/>
    <p:sldLayoutId id="2147483836" r:id="rId5"/>
    <p:sldLayoutId id="2147483871" r:id="rId6"/>
    <p:sldLayoutId id="2147483866" r:id="rId7"/>
    <p:sldLayoutId id="2147483864" r:id="rId8"/>
    <p:sldLayoutId id="2147483875" r:id="rId9"/>
    <p:sldLayoutId id="2147483873" r:id="rId10"/>
    <p:sldLayoutId id="2147483874" r:id="rId11"/>
    <p:sldLayoutId id="2147483872" r:id="rId12"/>
    <p:sldLayoutId id="2147483876" r:id="rId13"/>
    <p:sldLayoutId id="2147483823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ero Bold" panose="02000000000000000000" pitchFamily="50" charset="2"/>
          <a:ea typeface="Aero Bold" panose="02000000000000000000" pitchFamily="50" charset="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06866" y="5249734"/>
            <a:ext cx="4172979" cy="35156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04984" y="5648322"/>
            <a:ext cx="3976744" cy="1209677"/>
          </a:xfrm>
        </p:spPr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1400" dirty="0">
              <a:solidFill>
                <a:schemeClr val="bg1"/>
              </a:solidFill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CB9E7-AC61-4351-B8CB-17480F3C0DBF}"/>
              </a:ext>
            </a:extLst>
          </p:cNvPr>
          <p:cNvSpPr txBox="1"/>
          <p:nvPr/>
        </p:nvSpPr>
        <p:spPr>
          <a:xfrm>
            <a:off x="497941" y="3748135"/>
            <a:ext cx="3414087" cy="9144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l"/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B41C5A-0A89-47C3-90EB-3E1D0ABEA065}"/>
              </a:ext>
            </a:extLst>
          </p:cNvPr>
          <p:cNvSpPr txBox="1"/>
          <p:nvPr/>
        </p:nvSpPr>
        <p:spPr>
          <a:xfrm flipH="1">
            <a:off x="3241141" y="2909444"/>
            <a:ext cx="5902859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– BDMLA Coursework 1</a:t>
            </a:r>
          </a:p>
          <a:p>
            <a:r>
              <a:rPr lang="en-US" sz="31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Big Data and Machine Learning Application:</a:t>
            </a:r>
          </a:p>
          <a:p>
            <a:r>
              <a:rPr lang="en-SG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Face Mask Detection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51E9F-88A1-6C85-981F-2E8E6435CA0B}"/>
              </a:ext>
            </a:extLst>
          </p:cNvPr>
          <p:cNvSpPr txBox="1"/>
          <p:nvPr/>
        </p:nvSpPr>
        <p:spPr>
          <a:xfrm>
            <a:off x="6205728" y="290169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82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pic>
        <p:nvPicPr>
          <p:cNvPr id="1026" name="Picture 2" descr="The University of Portsmouth Prospectus - Springpod">
            <a:extLst>
              <a:ext uri="{FF2B5EF4-FFF2-40B4-BE49-F238E27FC236}">
                <a16:creationId xmlns:a16="http://schemas.microsoft.com/office/drawing/2014/main" id="{D54B3BBE-6E8A-15D1-81CF-7A69FBE76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430" y="2081161"/>
            <a:ext cx="4044570" cy="269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814502"/>
      </p:ext>
    </p:extLst>
  </p:cSld>
  <p:clrMapOvr>
    <a:masterClrMapping/>
  </p:clrMapOvr>
</p:sld>
</file>

<file path=ppt/theme/theme1.xml><?xml version="1.0" encoding="utf-8"?>
<a:theme xmlns:a="http://schemas.openxmlformats.org/drawingml/2006/main" name="UoP master">
  <a:themeElements>
    <a:clrScheme name="UoP Masterbrand">
      <a:dk1>
        <a:srgbClr val="000000"/>
      </a:dk1>
      <a:lt1>
        <a:sysClr val="window" lastClr="FFFFFF"/>
      </a:lt1>
      <a:dk2>
        <a:srgbClr val="621360"/>
      </a:dk2>
      <a:lt2>
        <a:srgbClr val="FFFFFF"/>
      </a:lt2>
      <a:accent1>
        <a:srgbClr val="00A0FF"/>
      </a:accent1>
      <a:accent2>
        <a:srgbClr val="621360"/>
      </a:accent2>
      <a:accent3>
        <a:srgbClr val="D1D1D1"/>
      </a:accent3>
      <a:accent4>
        <a:srgbClr val="621360"/>
      </a:accent4>
      <a:accent5>
        <a:srgbClr val="ABAAAA"/>
      </a:accent5>
      <a:accent6>
        <a:srgbClr val="3C023C"/>
      </a:accent6>
      <a:hlink>
        <a:srgbClr val="00A0FF"/>
      </a:hlink>
      <a:folHlink>
        <a:srgbClr val="0078B4"/>
      </a:folHlink>
    </a:clrScheme>
    <a:fontScheme name="Kantoor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 fontScale="92500"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2 UoP Masterbrand-Calibri.potx" id="{24300EB1-9451-401C-9C5B-B264C73C93EF}" vid="{C62A1C1D-D111-48E7-BD77-8756F83F8EBE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4906</TotalTime>
  <Words>813</Words>
  <Application>Microsoft Office PowerPoint</Application>
  <PresentationFormat>On-screen Show (4:3)</PresentationFormat>
  <Paragraphs>97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Aero Bold</vt:lpstr>
      <vt:lpstr>Aero Light</vt:lpstr>
      <vt:lpstr>Arial</vt:lpstr>
      <vt:lpstr>Bahnschrift Condensed</vt:lpstr>
      <vt:lpstr>Berlin Sans FB Demi</vt:lpstr>
      <vt:lpstr>Calibri</vt:lpstr>
      <vt:lpstr>Calibri bold</vt:lpstr>
      <vt:lpstr>Calibri Light</vt:lpstr>
      <vt:lpstr>Google Sans</vt:lpstr>
      <vt:lpstr>Source Sans Pro</vt:lpstr>
      <vt:lpstr>Source Sans Pro Semibold</vt:lpstr>
      <vt:lpstr>Vrinda</vt:lpstr>
      <vt:lpstr>UoP master</vt:lpstr>
      <vt:lpstr>PowerPoint Presentation</vt:lpstr>
      <vt:lpstr>COVID-19 PANDEMIC</vt:lpstr>
      <vt:lpstr>PROJECT PROPOSAL</vt:lpstr>
      <vt:lpstr>OBJECTIVE AND SCOPE</vt:lpstr>
      <vt:lpstr>DATA SET USED</vt:lpstr>
      <vt:lpstr>RESEARCH ANALYSIS</vt:lpstr>
      <vt:lpstr>PROCESS MODEL</vt:lpstr>
      <vt:lpstr>ARCHITECTURE DESIGN</vt:lpstr>
      <vt:lpstr>TECHNOLOGY USED</vt:lpstr>
      <vt:lpstr>Convolutional Neural Network (CNN) model training</vt:lpstr>
      <vt:lpstr>PowerPoint Presentation</vt:lpstr>
      <vt:lpstr>Result Matric Validation Loss and Accuracy Value</vt:lpstr>
      <vt:lpstr>Result Output</vt:lpstr>
      <vt:lpstr>Challenges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Frederic Lootens</dc:creator>
  <cp:lastModifiedBy>Aarushi Vadhavkar</cp:lastModifiedBy>
  <cp:revision>270</cp:revision>
  <dcterms:created xsi:type="dcterms:W3CDTF">2017-08-25T10:33:37Z</dcterms:created>
  <dcterms:modified xsi:type="dcterms:W3CDTF">2026-09-26T06:27:21Z</dcterms:modified>
</cp:coreProperties>
</file>