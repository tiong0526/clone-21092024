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Carlito" panose="020B0604020202020204" charset="0"/>
      <p:regular r:id="rId26"/>
    </p:embeddedFont>
    <p:embeddedFont>
      <p:font typeface="Carlito Bold" panose="020B0604020202020204" charset="0"/>
      <p:regular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269" autoAdjust="0"/>
  </p:normalViewPr>
  <p:slideViewPr>
    <p:cSldViewPr snapToGrid="0" snapToObjects="1">
      <p:cViewPr varScale="1">
        <p:scale>
          <a:sx n="67" d="100"/>
          <a:sy n="67" d="100"/>
        </p:scale>
        <p:origin x="1593"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899217555716466E-2"/>
          <c:y val="2.3945621922500535E-2"/>
          <c:w val="0.87101059015206372"/>
          <c:h val="0.89315247642716855"/>
        </c:manualLayout>
      </c:layout>
      <c:barChart>
        <c:barDir val="col"/>
        <c:grouping val="clustered"/>
        <c:varyColors val="1"/>
        <c:ser>
          <c:idx val="0"/>
          <c:order val="0"/>
          <c:tx>
            <c:strRef>
              <c:f>Sheet1!$B$1</c:f>
              <c:strCache>
                <c:ptCount val="1"/>
                <c:pt idx="0">
                  <c:v>Flights</c:v>
                </c:pt>
              </c:strCache>
            </c:strRef>
          </c:tx>
          <c:spPr>
            <a:ln w="0">
              <a:noFill/>
            </a:ln>
          </c:spPr>
          <c:invertIfNegative val="0"/>
          <c:dPt>
            <c:idx val="0"/>
            <c:invertIfNegative val="1"/>
            <c:bubble3D val="0"/>
            <c:spPr>
              <a:solidFill>
                <a:srgbClr val="00A0FF"/>
              </a:solidFill>
              <a:ln w="0">
                <a:noFill/>
              </a:ln>
            </c:spPr>
            <c:extLst>
              <c:ext xmlns:c16="http://schemas.microsoft.com/office/drawing/2014/chart" uri="{C3380CC4-5D6E-409C-BE32-E72D297353CC}">
                <c16:uniqueId val="{00000001-559B-4BAA-8798-11BBC4FAFDA9}"/>
              </c:ext>
            </c:extLst>
          </c:dPt>
          <c:dPt>
            <c:idx val="1"/>
            <c:invertIfNegative val="1"/>
            <c:bubble3D val="0"/>
            <c:spPr>
              <a:solidFill>
                <a:srgbClr val="621360"/>
              </a:solidFill>
              <a:ln w="0">
                <a:noFill/>
              </a:ln>
            </c:spPr>
            <c:extLst>
              <c:ext xmlns:c16="http://schemas.microsoft.com/office/drawing/2014/chart" uri="{C3380CC4-5D6E-409C-BE32-E72D297353CC}">
                <c16:uniqueId val="{00000003-559B-4BAA-8798-11BBC4FAFDA9}"/>
              </c:ext>
            </c:extLst>
          </c:dPt>
          <c:dLbls>
            <c:dLbl>
              <c:idx val="0"/>
              <c:numFmt formatCode="#,##0" sourceLinked="0"/>
              <c:spPr/>
              <c:txPr>
                <a:bodyPr wrap="square"/>
                <a:lstStyle/>
                <a:p>
                  <a:pPr>
                    <a:defRPr sz="1100" b="0" u="none" strike="noStrike">
                      <a:solidFill>
                        <a:srgbClr val="5A5A5A"/>
                      </a:solidFill>
                      <a:uFillTx/>
                      <a:latin typeface="Calibri"/>
                    </a:defRPr>
                  </a:pPr>
                  <a:endParaRPr lang="en-US"/>
                </a:p>
              </c:txPr>
              <c:dLblPos val="outEnd"/>
              <c:showLegendKey val="0"/>
              <c:showVal val="1"/>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1-559B-4BAA-8798-11BBC4FAFDA9}"/>
                </c:ext>
              </c:extLst>
            </c:dLbl>
            <c:dLbl>
              <c:idx val="1"/>
              <c:numFmt formatCode="#,##0" sourceLinked="0"/>
              <c:spPr/>
              <c:txPr>
                <a:bodyPr wrap="square"/>
                <a:lstStyle/>
                <a:p>
                  <a:pPr>
                    <a:defRPr sz="1100" b="0" u="none" strike="noStrike">
                      <a:solidFill>
                        <a:srgbClr val="5A5A5A"/>
                      </a:solidFill>
                      <a:uFillTx/>
                      <a:latin typeface="Calibri"/>
                    </a:defRPr>
                  </a:pPr>
                  <a:endParaRPr lang="en-US"/>
                </a:p>
              </c:txPr>
              <c:dLblPos val="outEnd"/>
              <c:showLegendKey val="0"/>
              <c:showVal val="1"/>
              <c:showCatName val="0"/>
              <c:showSerName val="0"/>
              <c:showPercent val="0"/>
              <c:showBubbleSize val="1"/>
              <c:extLst>
                <c:ext xmlns:c15="http://schemas.microsoft.com/office/drawing/2012/chart" uri="{CE6537A1-D6FC-4f65-9D91-7224C49458BB}"/>
                <c:ext xmlns:c16="http://schemas.microsoft.com/office/drawing/2014/chart" uri="{C3380CC4-5D6E-409C-BE32-E72D297353CC}">
                  <c16:uniqueId val="{00000003-559B-4BAA-8798-11BBC4FAFDA9}"/>
                </c:ext>
              </c:extLst>
            </c:dLbl>
            <c:numFmt formatCode="#,##0" sourceLinked="0"/>
            <c:spPr>
              <a:noFill/>
              <a:ln>
                <a:noFill/>
              </a:ln>
              <a:effectLst/>
            </c:spPr>
            <c:txPr>
              <a:bodyPr wrap="square"/>
              <a:lstStyle/>
              <a:p>
                <a:pPr>
                  <a:defRPr sz="1100" b="0" u="none" strike="noStrike">
                    <a:solidFill>
                      <a:srgbClr val="5A5A5A"/>
                    </a:solidFill>
                    <a:uFillTx/>
                    <a:latin typeface="Calibri"/>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Sheet1!$A$2:$A$3</c:f>
              <c:strCache>
                <c:ptCount val="2"/>
                <c:pt idx="0">
                  <c:v>On time (&lt;15 min)</c:v>
                </c:pt>
                <c:pt idx="1">
                  <c:v>Delayed (≥15 min)</c:v>
                </c:pt>
              </c:strCache>
            </c:strRef>
          </c:cat>
          <c:val>
            <c:numRef>
              <c:f>Sheet1!$B$2:$B$3</c:f>
              <c:numCache>
                <c:formatCode>General</c:formatCode>
                <c:ptCount val="2"/>
                <c:pt idx="0">
                  <c:v>5344670</c:v>
                </c:pt>
                <c:pt idx="1">
                  <c:v>1534813</c:v>
                </c:pt>
              </c:numCache>
            </c:numRef>
          </c:val>
          <c:extLst>
            <c:ext xmlns:c16="http://schemas.microsoft.com/office/drawing/2014/chart" uri="{C3380CC4-5D6E-409C-BE32-E72D297353CC}">
              <c16:uniqueId val="{00000004-559B-4BAA-8798-11BBC4FAFDA9}"/>
            </c:ext>
          </c:extLst>
        </c:ser>
        <c:dLbls>
          <c:showLegendKey val="0"/>
          <c:showVal val="0"/>
          <c:showCatName val="0"/>
          <c:showSerName val="0"/>
          <c:showPercent val="0"/>
          <c:showBubbleSize val="0"/>
        </c:dLbls>
        <c:gapWidth val="70"/>
        <c:axId val="16015192"/>
        <c:axId val="67825482"/>
      </c:barChart>
      <c:catAx>
        <c:axId val="16015192"/>
        <c:scaling>
          <c:orientation val="minMax"/>
        </c:scaling>
        <c:delete val="0"/>
        <c:axPos val="b"/>
        <c:majorGridlines>
          <c:spPr>
            <a:ln w="6480">
              <a:solidFill>
                <a:srgbClr val="D1D1D1"/>
              </a:solidFill>
              <a:round/>
            </a:ln>
          </c:spPr>
        </c:majorGridlines>
        <c:numFmt formatCode="#,##0,,\M" sourceLinked="0"/>
        <c:majorTickMark val="out"/>
        <c:minorTickMark val="none"/>
        <c:tickLblPos val="nextTo"/>
        <c:spPr>
          <a:ln w="6480">
            <a:noFill/>
          </a:ln>
        </c:spPr>
        <c:txPr>
          <a:bodyPr/>
          <a:lstStyle/>
          <a:p>
            <a:pPr>
              <a:defRPr sz="1000" b="0" u="none" strike="noStrike">
                <a:solidFill>
                  <a:srgbClr val="5A5A5A"/>
                </a:solidFill>
                <a:uFillTx/>
                <a:latin typeface="Calibri"/>
              </a:defRPr>
            </a:pPr>
            <a:endParaRPr lang="en-US"/>
          </a:p>
        </c:txPr>
        <c:crossAx val="67825482"/>
        <c:crosses val="autoZero"/>
        <c:auto val="1"/>
        <c:lblAlgn val="ctr"/>
        <c:lblOffset val="100"/>
        <c:noMultiLvlLbl val="0"/>
      </c:catAx>
      <c:valAx>
        <c:axId val="67825482"/>
        <c:scaling>
          <c:orientation val="minMax"/>
        </c:scaling>
        <c:delete val="0"/>
        <c:axPos val="l"/>
        <c:majorGridlines>
          <c:spPr>
            <a:ln w="6480">
              <a:solidFill>
                <a:srgbClr val="D1D1D1"/>
              </a:solidFill>
              <a:round/>
            </a:ln>
          </c:spPr>
        </c:majorGridlines>
        <c:numFmt formatCode="#,##0,,\M" sourceLinked="0"/>
        <c:majorTickMark val="out"/>
        <c:minorTickMark val="none"/>
        <c:tickLblPos val="nextTo"/>
        <c:spPr>
          <a:ln w="6480">
            <a:noFill/>
          </a:ln>
        </c:spPr>
        <c:txPr>
          <a:bodyPr/>
          <a:lstStyle/>
          <a:p>
            <a:pPr>
              <a:defRPr sz="1000" b="0" u="none" strike="noStrike">
                <a:solidFill>
                  <a:srgbClr val="5A5A5A"/>
                </a:solidFill>
                <a:uFillTx/>
                <a:latin typeface="Calibri"/>
              </a:defRPr>
            </a:pPr>
            <a:endParaRPr lang="en-US"/>
          </a:p>
        </c:txPr>
        <c:crossAx val="16015192"/>
        <c:crosses val="autoZero"/>
        <c:crossBetween val="between"/>
      </c:valAx>
      <c:spPr>
        <a:noFill/>
        <a:ln w="0">
          <a:noFill/>
        </a:ln>
      </c:spPr>
    </c:plotArea>
    <c:plotVisOnly val="1"/>
    <c:dispBlanksAs val="gap"/>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Rows</c:v>
                </c:pt>
              </c:strCache>
            </c:strRef>
          </c:tx>
          <c:spPr>
            <a:solidFill>
              <a:srgbClr val="00A0FF"/>
            </a:solidFill>
          </c:spPr>
          <c:invertIfNegative val="0"/>
          <c:dPt>
            <c:idx val="0"/>
            <c:invertIfNegative val="1"/>
            <c:bubble3D val="0"/>
            <c:spPr>
              <a:solidFill>
                <a:srgbClr val="00A0FF"/>
              </a:solidFill>
              <a:ln w="0">
                <a:noFill/>
              </a:ln>
            </c:spPr>
            <c:extLst>
              <c:ext xmlns:c16="http://schemas.microsoft.com/office/drawing/2014/chart" uri="{C3380CC4-5D6E-409C-BE32-E72D297353CC}">
                <c16:uniqueId val="{00000001-FD20-40EB-BE16-E5A75A0BFAC8}"/>
              </c:ext>
            </c:extLst>
          </c:dPt>
          <c:dPt>
            <c:idx val="1"/>
            <c:invertIfNegative val="1"/>
            <c:bubble3D val="0"/>
            <c:spPr>
              <a:solidFill>
                <a:srgbClr val="00A0FF"/>
              </a:solidFill>
              <a:ln w="0">
                <a:noFill/>
              </a:ln>
            </c:spPr>
            <c:extLst>
              <c:ext xmlns:c16="http://schemas.microsoft.com/office/drawing/2014/chart" uri="{C3380CC4-5D6E-409C-BE32-E72D297353CC}">
                <c16:uniqueId val="{00000003-FD20-40EB-BE16-E5A75A0BFAC8}"/>
              </c:ext>
            </c:extLst>
          </c:dPt>
          <c:dPt>
            <c:idx val="2"/>
            <c:invertIfNegative val="1"/>
            <c:bubble3D val="0"/>
            <c:spPr>
              <a:solidFill>
                <a:srgbClr val="00A0FF"/>
              </a:solidFill>
              <a:ln w="0">
                <a:noFill/>
              </a:ln>
            </c:spPr>
            <c:extLst>
              <c:ext xmlns:c16="http://schemas.microsoft.com/office/drawing/2014/chart" uri="{C3380CC4-5D6E-409C-BE32-E72D297353CC}">
                <c16:uniqueId val="{00000005-FD20-40EB-BE16-E5A75A0BFAC8}"/>
              </c:ext>
            </c:extLst>
          </c:dPt>
          <c:dPt>
            <c:idx val="3"/>
            <c:invertIfNegative val="1"/>
            <c:bubble3D val="0"/>
            <c:spPr>
              <a:solidFill>
                <a:srgbClr val="00A0FF"/>
              </a:solidFill>
              <a:ln w="0">
                <a:noFill/>
              </a:ln>
            </c:spPr>
            <c:extLst>
              <c:ext xmlns:c16="http://schemas.microsoft.com/office/drawing/2014/chart" uri="{C3380CC4-5D6E-409C-BE32-E72D297353CC}">
                <c16:uniqueId val="{00000007-FD20-40EB-BE16-E5A75A0BFAC8}"/>
              </c:ext>
            </c:extLst>
          </c:dPt>
          <c:dPt>
            <c:idx val="4"/>
            <c:invertIfNegative val="1"/>
            <c:bubble3D val="0"/>
            <c:spPr>
              <a:solidFill>
                <a:srgbClr val="00A0FF"/>
              </a:solidFill>
              <a:ln w="0">
                <a:noFill/>
              </a:ln>
            </c:spPr>
            <c:extLst>
              <c:ext xmlns:c16="http://schemas.microsoft.com/office/drawing/2014/chart" uri="{C3380CC4-5D6E-409C-BE32-E72D297353CC}">
                <c16:uniqueId val="{00000009-FD20-40EB-BE16-E5A75A0BFAC8}"/>
              </c:ext>
            </c:extLst>
          </c:dPt>
          <c:dPt>
            <c:idx val="5"/>
            <c:invertIfNegative val="1"/>
            <c:bubble3D val="0"/>
            <c:spPr>
              <a:solidFill>
                <a:srgbClr val="00A0FF"/>
              </a:solidFill>
              <a:ln w="0">
                <a:noFill/>
              </a:ln>
            </c:spPr>
            <c:extLst>
              <c:ext xmlns:c16="http://schemas.microsoft.com/office/drawing/2014/chart" uri="{C3380CC4-5D6E-409C-BE32-E72D297353CC}">
                <c16:uniqueId val="{0000000B-FD20-40EB-BE16-E5A75A0BFAC8}"/>
              </c:ext>
            </c:extLst>
          </c:dPt>
          <c:dLbls>
            <c:numFmt formatCode="#,##0" sourceLinked="0"/>
            <c:spPr>
              <a:noFill/>
              <a:ln>
                <a:noFill/>
              </a:ln>
              <a:effectLst/>
            </c:spPr>
            <c:txPr>
              <a:bodyPr wrap="square"/>
              <a:lstStyle/>
              <a:p>
                <a:pPr>
                  <a:defRPr sz="1000" b="0" u="none" strike="noStrike">
                    <a:solidFill>
                      <a:srgbClr val="5A5A5A"/>
                    </a:solidFill>
                    <a:uFillTx/>
                    <a:latin typeface="Calibri"/>
                  </a:defRPr>
                </a:pPr>
                <a:endParaRPr lang="en-US"/>
              </a:p>
            </c:txPr>
            <c:dLblPos val="outEnd"/>
            <c:showLegendKey val="0"/>
            <c:showVal val="1"/>
            <c:showCatName val="0"/>
            <c:showSerName val="0"/>
            <c:showPercent val="0"/>
            <c:showBubbleSize val="1"/>
            <c:separator>; </c:separator>
            <c:showLeaderLines val="0"/>
            <c:extLst>
              <c:ext xmlns:c15="http://schemas.microsoft.com/office/drawing/2012/chart" uri="{CE6537A1-D6FC-4f65-9D91-7224C49458BB}">
                <c15:showLeaderLines val="0"/>
              </c:ext>
            </c:extLst>
          </c:dLbls>
          <c:cat>
            <c:strRef>
              <c:f>Sheet1!$A$2:$A$7</c:f>
              <c:strCache>
                <c:ptCount val="6"/>
                <c:pt idx="0">
                  <c:v>Raw flights</c:v>
                </c:pt>
                <c:pt idx="1">
                  <c:v>− cancelled</c:v>
                </c:pt>
                <c:pt idx="2">
                  <c:v>− diverted</c:v>
                </c:pt>
                <c:pt idx="3">
                  <c:v>− null ARR_DELAY</c:v>
                </c:pt>
                <c:pt idx="4">
                  <c:v>− duplicates</c:v>
                </c:pt>
                <c:pt idx="5">
                  <c:v>− invalid values</c:v>
                </c:pt>
              </c:strCache>
            </c:strRef>
          </c:cat>
          <c:val>
            <c:numRef>
              <c:f>Sheet1!$B$2:$B$7</c:f>
              <c:numCache>
                <c:formatCode>General</c:formatCode>
                <c:ptCount val="6"/>
                <c:pt idx="0">
                  <c:v>7001619</c:v>
                </c:pt>
                <c:pt idx="1">
                  <c:v>6898743</c:v>
                </c:pt>
                <c:pt idx="2">
                  <c:v>6879485</c:v>
                </c:pt>
                <c:pt idx="3">
                  <c:v>6879484</c:v>
                </c:pt>
                <c:pt idx="4">
                  <c:v>6879484</c:v>
                </c:pt>
                <c:pt idx="5">
                  <c:v>6879483</c:v>
                </c:pt>
              </c:numCache>
            </c:numRef>
          </c:val>
          <c:extLst>
            <c:ext xmlns:c16="http://schemas.microsoft.com/office/drawing/2014/chart" uri="{C3380CC4-5D6E-409C-BE32-E72D297353CC}">
              <c16:uniqueId val="{0000000C-FD20-40EB-BE16-E5A75A0BFAC8}"/>
            </c:ext>
          </c:extLst>
        </c:ser>
        <c:dLbls>
          <c:showLegendKey val="0"/>
          <c:showVal val="0"/>
          <c:showCatName val="0"/>
          <c:showSerName val="0"/>
          <c:showPercent val="0"/>
          <c:showBubbleSize val="0"/>
        </c:dLbls>
        <c:gapWidth val="50"/>
        <c:axId val="92830675"/>
        <c:axId val="88088798"/>
      </c:barChart>
      <c:catAx>
        <c:axId val="92830675"/>
        <c:scaling>
          <c:orientation val="maxMin"/>
        </c:scaling>
        <c:delete val="0"/>
        <c:axPos val="l"/>
        <c:majorGridlines>
          <c:spPr>
            <a:ln w="6480">
              <a:solidFill>
                <a:srgbClr val="D1D1D1"/>
              </a:solidFill>
              <a:round/>
            </a:ln>
          </c:spPr>
        </c:majorGridlines>
        <c:numFmt formatCode="0.0,,\M" sourceLinked="0"/>
        <c:majorTickMark val="out"/>
        <c:minorTickMark val="none"/>
        <c:tickLblPos val="nextTo"/>
        <c:spPr>
          <a:ln w="6480">
            <a:noFill/>
          </a:ln>
        </c:spPr>
        <c:txPr>
          <a:bodyPr/>
          <a:lstStyle/>
          <a:p>
            <a:pPr>
              <a:defRPr sz="1000" b="0" u="none" strike="noStrike">
                <a:solidFill>
                  <a:srgbClr val="5A5A5A"/>
                </a:solidFill>
                <a:uFillTx/>
                <a:latin typeface="Calibri"/>
              </a:defRPr>
            </a:pPr>
            <a:endParaRPr lang="en-US"/>
          </a:p>
        </c:txPr>
        <c:crossAx val="88088798"/>
        <c:crosses val="autoZero"/>
        <c:auto val="1"/>
        <c:lblAlgn val="ctr"/>
        <c:lblOffset val="100"/>
        <c:noMultiLvlLbl val="0"/>
      </c:catAx>
      <c:valAx>
        <c:axId val="88088798"/>
        <c:scaling>
          <c:orientation val="minMax"/>
          <c:min val="6000000"/>
        </c:scaling>
        <c:delete val="0"/>
        <c:axPos val="t"/>
        <c:majorGridlines>
          <c:spPr>
            <a:ln w="6480">
              <a:solidFill>
                <a:srgbClr val="D1D1D1"/>
              </a:solidFill>
              <a:round/>
            </a:ln>
          </c:spPr>
        </c:majorGridlines>
        <c:numFmt formatCode="0.0,,\M" sourceLinked="0"/>
        <c:majorTickMark val="out"/>
        <c:minorTickMark val="none"/>
        <c:tickLblPos val="nextTo"/>
        <c:spPr>
          <a:ln w="6480">
            <a:noFill/>
          </a:ln>
        </c:spPr>
        <c:txPr>
          <a:bodyPr/>
          <a:lstStyle/>
          <a:p>
            <a:pPr>
              <a:defRPr sz="1000" b="0" u="none" strike="noStrike">
                <a:solidFill>
                  <a:srgbClr val="5A5A5A"/>
                </a:solidFill>
                <a:uFillTx/>
                <a:latin typeface="Calibri"/>
              </a:defRPr>
            </a:pPr>
            <a:endParaRPr lang="en-US"/>
          </a:p>
        </c:txPr>
        <c:crossAx val="92830675"/>
        <c:crosses val="autoZero"/>
        <c:crossBetween val="between"/>
      </c:valAx>
      <c:spPr>
        <a:noFill/>
        <a:ln w="0">
          <a:noFill/>
        </a:ln>
      </c:spPr>
    </c:plotArea>
    <c:plotVisOnly val="1"/>
    <c:dispBlanksAs val="gap"/>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Logistic Regression</c:v>
                </c:pt>
              </c:strCache>
            </c:strRef>
          </c:tx>
          <c:spPr>
            <a:solidFill>
              <a:srgbClr val="00A0FF"/>
            </a:solidFill>
            <a:ln w="0">
              <a:noFill/>
            </a:ln>
          </c:spPr>
          <c:invertIfNegative val="0"/>
          <c:dLbls>
            <c:spPr>
              <a:noFill/>
              <a:ln>
                <a:noFill/>
              </a:ln>
              <a:effectLst/>
            </c:spPr>
            <c:txPr>
              <a:bodyPr wrap="square"/>
              <a:lstStyle/>
              <a:p>
                <a:pPr>
                  <a:defRPr sz="1100" b="0" u="none" strike="noStrike">
                    <a:solidFill>
                      <a:srgbClr val="5A5A5A"/>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Sheet1!$A$2:$A$6</c:f>
              <c:strCache>
                <c:ptCount val="5"/>
                <c:pt idx="0">
                  <c:v>Precision</c:v>
                </c:pt>
                <c:pt idx="1">
                  <c:v>Recall</c:v>
                </c:pt>
                <c:pt idx="2">
                  <c:v>F1</c:v>
                </c:pt>
                <c:pt idx="3">
                  <c:v>ROC-AUC</c:v>
                </c:pt>
                <c:pt idx="4">
                  <c:v>PR-AUC</c:v>
                </c:pt>
              </c:strCache>
            </c:strRef>
          </c:cat>
          <c:val>
            <c:numRef>
              <c:f>Sheet1!$B$2:$B$6</c:f>
              <c:numCache>
                <c:formatCode>General</c:formatCode>
                <c:ptCount val="5"/>
                <c:pt idx="0">
                  <c:v>0.32500000000000001</c:v>
                </c:pt>
                <c:pt idx="1">
                  <c:v>0.63800000000000001</c:v>
                </c:pt>
                <c:pt idx="2">
                  <c:v>0.43099999999999999</c:v>
                </c:pt>
                <c:pt idx="3">
                  <c:v>0.67600000000000005</c:v>
                </c:pt>
                <c:pt idx="4">
                  <c:v>0.36799999999999999</c:v>
                </c:pt>
              </c:numCache>
            </c:numRef>
          </c:val>
          <c:extLst>
            <c:ext xmlns:c16="http://schemas.microsoft.com/office/drawing/2014/chart" uri="{C3380CC4-5D6E-409C-BE32-E72D297353CC}">
              <c16:uniqueId val="{00000000-17B6-40A8-B2AD-3AB59F401711}"/>
            </c:ext>
          </c:extLst>
        </c:ser>
        <c:ser>
          <c:idx val="1"/>
          <c:order val="1"/>
          <c:tx>
            <c:strRef>
              <c:f>Sheet1!$C$1</c:f>
              <c:strCache>
                <c:ptCount val="1"/>
                <c:pt idx="0">
                  <c:v>Random Forest</c:v>
                </c:pt>
              </c:strCache>
            </c:strRef>
          </c:tx>
          <c:spPr>
            <a:solidFill>
              <a:srgbClr val="621360"/>
            </a:solidFill>
            <a:ln w="0">
              <a:noFill/>
            </a:ln>
          </c:spPr>
          <c:invertIfNegative val="0"/>
          <c:dLbls>
            <c:spPr>
              <a:noFill/>
              <a:ln>
                <a:noFill/>
              </a:ln>
              <a:effectLst/>
            </c:spPr>
            <c:txPr>
              <a:bodyPr wrap="square"/>
              <a:lstStyle/>
              <a:p>
                <a:pPr>
                  <a:defRPr sz="1100" b="0" u="none" strike="noStrike">
                    <a:solidFill>
                      <a:srgbClr val="5A5A5A"/>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Sheet1!$A$2:$A$6</c:f>
              <c:strCache>
                <c:ptCount val="5"/>
                <c:pt idx="0">
                  <c:v>Precision</c:v>
                </c:pt>
                <c:pt idx="1">
                  <c:v>Recall</c:v>
                </c:pt>
                <c:pt idx="2">
                  <c:v>F1</c:v>
                </c:pt>
                <c:pt idx="3">
                  <c:v>ROC-AUC</c:v>
                </c:pt>
                <c:pt idx="4">
                  <c:v>PR-AUC</c:v>
                </c:pt>
              </c:strCache>
            </c:strRef>
          </c:cat>
          <c:val>
            <c:numRef>
              <c:f>Sheet1!$C$2:$C$6</c:f>
              <c:numCache>
                <c:formatCode>General</c:formatCode>
                <c:ptCount val="5"/>
                <c:pt idx="0">
                  <c:v>0.36199999999999999</c:v>
                </c:pt>
                <c:pt idx="1">
                  <c:v>0.63</c:v>
                </c:pt>
                <c:pt idx="2">
                  <c:v>0.46</c:v>
                </c:pt>
                <c:pt idx="3">
                  <c:v>0.71499999999999997</c:v>
                </c:pt>
                <c:pt idx="4">
                  <c:v>0.45700000000000002</c:v>
                </c:pt>
              </c:numCache>
            </c:numRef>
          </c:val>
          <c:extLst>
            <c:ext xmlns:c16="http://schemas.microsoft.com/office/drawing/2014/chart" uri="{C3380CC4-5D6E-409C-BE32-E72D297353CC}">
              <c16:uniqueId val="{00000001-17B6-40A8-B2AD-3AB59F401711}"/>
            </c:ext>
          </c:extLst>
        </c:ser>
        <c:ser>
          <c:idx val="2"/>
          <c:order val="2"/>
          <c:tx>
            <c:strRef>
              <c:f>Sheet1!$D$1</c:f>
              <c:strCache>
                <c:ptCount val="1"/>
                <c:pt idx="0">
                  <c:v>Gradient-Boosted Trees</c:v>
                </c:pt>
              </c:strCache>
            </c:strRef>
          </c:tx>
          <c:spPr>
            <a:solidFill>
              <a:srgbClr val="1BAF7A"/>
            </a:solidFill>
            <a:ln w="0">
              <a:noFill/>
            </a:ln>
          </c:spPr>
          <c:invertIfNegative val="0"/>
          <c:dLbls>
            <c:spPr>
              <a:noFill/>
              <a:ln>
                <a:noFill/>
              </a:ln>
              <a:effectLst/>
            </c:spPr>
            <c:txPr>
              <a:bodyPr wrap="square"/>
              <a:lstStyle/>
              <a:p>
                <a:pPr>
                  <a:defRPr sz="1100" b="0" u="none" strike="noStrike">
                    <a:solidFill>
                      <a:srgbClr val="5A5A5A"/>
                    </a:solidFill>
                    <a:uFillTx/>
                    <a:latin typeface="Calibri"/>
                  </a:defRPr>
                </a:pPr>
                <a:endParaRPr lang="en-US"/>
              </a:p>
            </c:txPr>
            <c:dLblPos val="outEnd"/>
            <c:showLegendKey val="0"/>
            <c:showVal val="0"/>
            <c:showCatName val="0"/>
            <c:showSerName val="0"/>
            <c:showPercent val="0"/>
            <c:showBubbleSize val="1"/>
            <c:separator>; </c:separator>
            <c:showLeaderLines val="0"/>
            <c:extLst>
              <c:ext xmlns:c15="http://schemas.microsoft.com/office/drawing/2012/chart" uri="{CE6537A1-D6FC-4f65-9D91-7224C49458BB}">
                <c15:showLeaderLines val="1"/>
              </c:ext>
            </c:extLst>
          </c:dLbls>
          <c:cat>
            <c:strRef>
              <c:f>Sheet1!$A$2:$A$6</c:f>
              <c:strCache>
                <c:ptCount val="5"/>
                <c:pt idx="0">
                  <c:v>Precision</c:v>
                </c:pt>
                <c:pt idx="1">
                  <c:v>Recall</c:v>
                </c:pt>
                <c:pt idx="2">
                  <c:v>F1</c:v>
                </c:pt>
                <c:pt idx="3">
                  <c:v>ROC-AUC</c:v>
                </c:pt>
                <c:pt idx="4">
                  <c:v>PR-AUC</c:v>
                </c:pt>
              </c:strCache>
            </c:strRef>
          </c:cat>
          <c:val>
            <c:numRef>
              <c:f>Sheet1!$D$2:$D$6</c:f>
              <c:numCache>
                <c:formatCode>General</c:formatCode>
                <c:ptCount val="5"/>
                <c:pt idx="0">
                  <c:v>0.4</c:v>
                </c:pt>
                <c:pt idx="1">
                  <c:v>0.59799999999999998</c:v>
                </c:pt>
                <c:pt idx="2">
                  <c:v>0.47899999999999998</c:v>
                </c:pt>
                <c:pt idx="3">
                  <c:v>0.73499999999999999</c:v>
                </c:pt>
                <c:pt idx="4">
                  <c:v>0.48199999999999998</c:v>
                </c:pt>
              </c:numCache>
            </c:numRef>
          </c:val>
          <c:extLst>
            <c:ext xmlns:c16="http://schemas.microsoft.com/office/drawing/2014/chart" uri="{C3380CC4-5D6E-409C-BE32-E72D297353CC}">
              <c16:uniqueId val="{00000002-17B6-40A8-B2AD-3AB59F401711}"/>
            </c:ext>
          </c:extLst>
        </c:ser>
        <c:dLbls>
          <c:showLegendKey val="0"/>
          <c:showVal val="0"/>
          <c:showCatName val="0"/>
          <c:showSerName val="0"/>
          <c:showPercent val="0"/>
          <c:showBubbleSize val="0"/>
        </c:dLbls>
        <c:gapWidth val="60"/>
        <c:overlap val="-5"/>
        <c:axId val="35734765"/>
        <c:axId val="93888190"/>
      </c:barChart>
      <c:catAx>
        <c:axId val="35734765"/>
        <c:scaling>
          <c:orientation val="minMax"/>
        </c:scaling>
        <c:delete val="0"/>
        <c:axPos val="b"/>
        <c:majorGridlines>
          <c:spPr>
            <a:ln w="6480">
              <a:solidFill>
                <a:srgbClr val="D1D1D1"/>
              </a:solidFill>
              <a:round/>
            </a:ln>
          </c:spPr>
        </c:majorGridlines>
        <c:numFmt formatCode="General" sourceLinked="0"/>
        <c:majorTickMark val="out"/>
        <c:minorTickMark val="none"/>
        <c:tickLblPos val="nextTo"/>
        <c:spPr>
          <a:ln w="6480">
            <a:noFill/>
          </a:ln>
        </c:spPr>
        <c:txPr>
          <a:bodyPr/>
          <a:lstStyle/>
          <a:p>
            <a:pPr>
              <a:defRPr sz="1000" b="0" u="none" strike="noStrike">
                <a:solidFill>
                  <a:srgbClr val="5A5A5A"/>
                </a:solidFill>
                <a:uFillTx/>
                <a:latin typeface="Calibri"/>
              </a:defRPr>
            </a:pPr>
            <a:endParaRPr lang="en-US"/>
          </a:p>
        </c:txPr>
        <c:crossAx val="93888190"/>
        <c:crosses val="autoZero"/>
        <c:auto val="1"/>
        <c:lblAlgn val="ctr"/>
        <c:lblOffset val="100"/>
        <c:noMultiLvlLbl val="0"/>
      </c:catAx>
      <c:valAx>
        <c:axId val="93888190"/>
        <c:scaling>
          <c:orientation val="minMax"/>
          <c:max val="1"/>
          <c:min val="0"/>
        </c:scaling>
        <c:delete val="0"/>
        <c:axPos val="l"/>
        <c:majorGridlines>
          <c:spPr>
            <a:ln w="6480">
              <a:solidFill>
                <a:srgbClr val="D1D1D1"/>
              </a:solidFill>
              <a:round/>
            </a:ln>
          </c:spPr>
        </c:majorGridlines>
        <c:numFmt formatCode="General" sourceLinked="0"/>
        <c:majorTickMark val="out"/>
        <c:minorTickMark val="none"/>
        <c:tickLblPos val="nextTo"/>
        <c:spPr>
          <a:ln w="6480">
            <a:noFill/>
          </a:ln>
        </c:spPr>
        <c:txPr>
          <a:bodyPr/>
          <a:lstStyle/>
          <a:p>
            <a:pPr>
              <a:defRPr sz="1000" b="0" u="none" strike="noStrike">
                <a:solidFill>
                  <a:srgbClr val="5A5A5A"/>
                </a:solidFill>
                <a:uFillTx/>
                <a:latin typeface="Calibri"/>
              </a:defRPr>
            </a:pPr>
            <a:endParaRPr lang="en-US"/>
          </a:p>
        </c:txPr>
        <c:crossAx val="35734765"/>
        <c:crosses val="autoZero"/>
        <c:crossBetween val="between"/>
      </c:valAx>
      <c:spPr>
        <a:noFill/>
        <a:ln w="0">
          <a:noFill/>
        </a:ln>
      </c:spPr>
    </c:plotArea>
    <c:legend>
      <c:legendPos val="b"/>
      <c:overlay val="0"/>
      <c:spPr>
        <a:noFill/>
        <a:ln w="0">
          <a:noFill/>
        </a:ln>
      </c:spPr>
      <c:txPr>
        <a:bodyPr/>
        <a:lstStyle/>
        <a:p>
          <a:pPr>
            <a:defRPr sz="1100" b="0" u="none" strike="noStrike">
              <a:solidFill>
                <a:srgbClr val="5A5A5A"/>
              </a:solidFill>
              <a:uFillTx/>
              <a:latin typeface="Calibri"/>
            </a:defRPr>
          </a:pPr>
          <a:endParaRPr lang="en-US"/>
        </a:p>
      </c:txPr>
    </c:legend>
    <c:plotVisOnly val="1"/>
    <c:dispBlanksAs val="gap"/>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4070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[0:00-0:24]  Hello, my name is Soh Chee Yong, and this is my Big Data and Machine Learning Applications project: predicting airline flight delays with Apache Spark. I used every U.S. domestic flight from 2025, 7,001,619 of them, to test one practical question: can we tell, before a plane even leaves the gate, that it is going to arrive late?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[0:24-0:58]  Delays matter because they are expensive: a major U.S. study estimated around 33 billion dollars in 2007 alone. The industry uses a simple rule: a flight that arrives 15 minutes or more after schedule counts as delayed. The Bureau of Transportation Statistics publishes a record for every domestic flight, which gives us millions of labelled examples. If risky flights can be flagged early, airlines can re-plan crews and spare aircraft, and passengers with tight connections can be warned.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[0:58-1:36]  So the problem statement is: using only information known before departure, will this flight arrive 15 or more minutes late? That makes it a binary classification problem. The 'before departure' condition is the important part. Many online examples use the departure delay as an input, but you only know that once the plane has left, so the model looks accurate but is useless in practice. My approach is to process the whole year with Spark, build features from the schedule only, and compare three Spark MLlib classifiers fairly.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[1:36-2:05]  I set five objectives: ingest and clean all twelve monthly files in Spark; engineer features with no target leakage; train Logistic Regression, Random Forest and Gradient-Boosted Trees; evaluate them with metrics that suit an imbalanced problem, plus training time; and show how the pipeline scales out. The scope is all 2025 U.S. domestic flights, using schedule information only, running on a free Google Colab machine.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[2:05-2:20]  I followed CRISP-DM, the standard process model for data-science projects. It is a cycle rather than a straight line, which matched reality: a trial run, a fix, the full run, and a resume after Colab disconnected.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[2:20-2:55]  The data is the official BTS on-time performance table: twelve monthly CSV files, 3.17 gigabytes, and 7,001,619 flights. Each file has about 110 columns, but I only load 17 of them, for leakage reasons I'll come back to. After cleaning, 22.31% of flights are delayed. So the classes are imbalanced: a model that always says 'on time' would already score 77.70% accuracy. One early optimisation was converting the CSVs to Parquet once; after that, the same query ran 25.1x faster.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[2:55-3:23]  Here is what that step looks like in the notebook. The first cell checks that all twelve files are in Drive, 3.17 gigabytes in total. After the union there are 7,001,619 flights. The bottom box is the benchmark: the same aggregation took about 80 seconds on the CSV files and about 3 seconds on Parquet, a 25.1x speed-up, so everything after this reads from Parquet.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[3:23-4:00]  Exploring the data showed two patterns that shaped my features. On the left, the delay rate by scheduled departure hour: only about 9 percent of 5am departures arrive late, but by 7pm it's around a third. On the right, the later the leg of the day for an aircraft, the more likely it is to be late, and very tight turnarounds under 40 minutes have a 38 percent delay rate. Delays roll forward through an aircraft's day, so I built features that capture exactly that.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[4:00-4:34]  This is the whole pipeline. The twelve files sit in Google Drive. Spark reads each month, maps the column names, keeps only the allowed columns and unions them into one DataFrame. That is written once to Parquet, which also acts as a checkpoint. Then come the schedule features, cleaning and the label. The second row is the machine learning layer: split, encode, train, tune and evaluate, and finally export every chart and table used in my report.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[4:34-4:41]  The stack: Spark through PySpark, MLlib, Spark SQL with Parquet, Python, and Google Colab with Google Drive.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[4:41-5:21]  Cleaning followed the brief: remove cancelled and diverted flights and rows with no arrival delay, then duplicates and impossible values, which leaves 6,879,483 flights. The bigger issue is leakage. Columns such as wheels-on time or the delay-cause minutes are only known after landing, so they are never loaded. I also excluded departure delay and taxi-out time. There's a subtle trap too: if you count flights per hour after removing cancellations, a stormy day looks quiet, and the feature leaks the outcome. So those counts are calculated on the full schedule first.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[5:21-6:02]  I ended up with 39 features in four groups, all built from the published schedule: calendar and time, including how close the date is to a public holiday; basic flight details; airport congestion, meaning how many flights are scheduled at the same airport in the same hour; and aircraft rotation, built with a Spark window function over each tail number. Airports and routes have thousands of values, which would explode the feature space and break Spark's tree limits, so I replaced each with its smoothed historical delay rate, fitted on the training data only.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[6:02-6:33]  This is the target-encoding code. The encoders are fitted on the training split only, so the validation and test flights never influence them. The output shows why one-hot encoding was not an option: there are 6,886 routes and 4,499 airport-and-hour combinations. The second cell is the leakage guard: an assertion compares the feature list with the forbidden columns, and the run stops if any of them is there. In my run it passed.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[6:33-7:12]  Here is the training pipeline. The data is split 70, 10 and 20 percent into train, validation and test sets. Because Colab only has two cores, models were trained on a 30% sample of the training set, but validation and test were always scored in full. Every model gets class weights, so delayed flights count as much as on-time ones. Each model is tuned with three-fold cross-validation on PR-AUC, the decision threshold is chosen on the validation set, and the test set is used once, at the end.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[7:12-7:45]  And this is the tuning step in Spark MLlib. Each model has a small parameter grid, and CrossValidator runs three-fold cross-validation scored on PR-AUC. The boxed lines are the winners: Random Forest with depth 12 and 120 trees, and boosting with depth 6 and a step size of 0.1, which had the best cross-validated PR-AUC, 0.469. Tuning Random Forest alone took about 37 minutes on Colab, which shows how expensive a grid search is on two cores.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[7:45-8:25]  These are the results on the random test split. Gradient-Boosted Trees came out best, with an F1 of 0.479 and a ROC-AUC of 0.735. In plain terms, it catches about 60 percent of delayed flights, but about six in ten of its delay alerts are false alarms. Notice the last row: a 'model' that always says on time gets 77.70% accuracy and catches zero delays, which is why accuracy alone is misleading here. Both tree models achieved a higher ROC-AUC than Logistic Regression, which suggests that interactions between the features help.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[8:25-9:12]  What is the model using? Permutation importance, on the left, shows the two features that matter most: the historical delay rate of that airport at that hour, and the scheduled turnaround time. On the right is a stricter test: train on January to September, then predict October to December. All models drop, and the ranking changes: Random Forest has the higher F1, while boosting keeps a slightly higher ROC-AUC. So the preferred model depends on the metric and on how it is evaluated. I consider this temporal test more relevant to practical use, with one caveat: the thresholds came from a validation set that includes some autumn flights.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[9:12-9:50]  There were some practical challenges. My first full run stopped after more than three hours, most likely because of a Colab session limit, so I added checkpoints and a resume option. Feature-importance labels were also shifted: my code assumed the metadata order used by Spark 3.5, but Colab ran Spark 4.0, which orders it differently. It was spotted because one chart ranked day-of-week as the strongest feature, which made no sense, and it is now fixed with an explicit check. Leakage, imbalance and memory limits also needed care.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[9:50-10:01]  Next, I would add weather forecasts, use out-of-fold target encoding inside cross-validation, measure the effect of class weights, and repeat the training on a real cluster.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[10:01-10:32]  So what did I learn? First, accuracy can be misleading on imbalanced data. Second, leakage is subtle: removing post-flight columns was easy, but problems like counting flights after cancellations, or encoding categories before cross-validation, only showed up on closer inspection. Third, evaluating on future months changed my view of which model is best. And finally, the engineering side, checkpointing, version differences and memory, took as much effort as the modelling.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[10:32-10:59]  To conclude: I built a Spark pipeline over every U.S. domestic flight in 2025 that excludes post-flight information. On the random split, Gradient-Boosted Trees performed best; on later months, Random Forest had the higher F1. Schedule-only prediction works, but it has a ceiling, and before extending it I would first validate the method itself: the rotation features, the encoding and the chronological validation.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[10:59-11:03]  The main references I used are listed here.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[11:03-11:10]  Thank you very much for watching. The full code, results and report are included in my submission.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e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e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9.jpe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0.jpe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3243635" y="2741414"/>
            <a:ext cx="5896794" cy="4116512"/>
          </a:xfrm>
          <a:prstGeom prst="rect">
            <a:avLst/>
          </a:prstGeom>
          <a:solidFill>
            <a:srgbClr val="621360"/>
          </a:solidFill>
          <a:ln/>
        </p:spPr>
        <p:txBody>
          <a:bodyPr/>
          <a:lstStyle/>
          <a:p>
            <a:endParaRPr lang="en-US"/>
          </a:p>
        </p:txBody>
      </p:sp>
      <p:sp>
        <p:nvSpPr>
          <p:cNvPr id="3" name="Shape 1"/>
          <p:cNvSpPr/>
          <p:nvPr/>
        </p:nvSpPr>
        <p:spPr>
          <a:xfrm>
            <a:off x="363662" y="3415085"/>
            <a:ext cx="8432155" cy="3442841"/>
          </a:xfrm>
          <a:prstGeom prst="rect">
            <a:avLst/>
          </a:prstGeom>
          <a:solidFill>
            <a:srgbClr val="3C023C"/>
          </a:solidFill>
          <a:ln/>
        </p:spPr>
        <p:txBody>
          <a:bodyPr/>
          <a:lstStyle/>
          <a:p>
            <a:endParaRPr lang="en-US"/>
          </a:p>
        </p:txBody>
      </p:sp>
      <p:sp>
        <p:nvSpPr>
          <p:cNvPr id="4" name="Text 2"/>
          <p:cNvSpPr/>
          <p:nvPr/>
        </p:nvSpPr>
        <p:spPr>
          <a:xfrm>
            <a:off x="589285" y="5335029"/>
            <a:ext cx="7343403" cy="246831"/>
          </a:xfrm>
          <a:prstGeom prst="rect">
            <a:avLst/>
          </a:prstGeom>
          <a:noFill/>
          <a:ln/>
        </p:spPr>
        <p:txBody>
          <a:bodyPr wrap="none" lIns="0" tIns="0" rIns="0" bIns="0" rtlCol="0" anchor="t"/>
          <a:lstStyle/>
          <a:p>
            <a:pPr marL="0" indent="0" algn="l">
              <a:lnSpc>
                <a:spcPct val="90000"/>
              </a:lnSpc>
              <a:buNone/>
            </a:pPr>
            <a:r>
              <a:rPr lang="en-US" sz="1800" kern="100" spc="50" dirty="0">
                <a:solidFill>
                  <a:srgbClr val="FFFFFF"/>
                </a:solidFill>
                <a:latin typeface="Carlito" pitchFamily="34" charset="0"/>
                <a:ea typeface="Carlito" pitchFamily="34" charset="-122"/>
                <a:cs typeface="Carlito" pitchFamily="34" charset="-120"/>
              </a:rPr>
              <a:t>Soh Chee Yong </a:t>
            </a:r>
            <a:endParaRPr lang="en-US" sz="1800" dirty="0"/>
          </a:p>
        </p:txBody>
      </p:sp>
      <p:sp>
        <p:nvSpPr>
          <p:cNvPr id="5" name="Text 3"/>
          <p:cNvSpPr/>
          <p:nvPr/>
        </p:nvSpPr>
        <p:spPr>
          <a:xfrm>
            <a:off x="589285" y="5709852"/>
            <a:ext cx="7343403" cy="246831"/>
          </a:xfrm>
          <a:prstGeom prst="rect">
            <a:avLst/>
          </a:prstGeom>
          <a:noFill/>
          <a:ln/>
        </p:spPr>
        <p:txBody>
          <a:bodyPr wrap="none" lIns="0" tIns="0" rIns="0" bIns="0" rtlCol="0" anchor="t"/>
          <a:lstStyle/>
          <a:p>
            <a:pPr marL="0" indent="0" algn="l">
              <a:lnSpc>
                <a:spcPct val="90000"/>
              </a:lnSpc>
              <a:buNone/>
            </a:pPr>
            <a:r>
              <a:rPr lang="en-US" sz="1800" kern="100" spc="50" dirty="0">
                <a:solidFill>
                  <a:srgbClr val="FFFFFF"/>
                </a:solidFill>
                <a:latin typeface="Carlito" pitchFamily="34" charset="0"/>
                <a:ea typeface="Carlito" pitchFamily="34" charset="-122"/>
                <a:cs typeface="Carlito" pitchFamily="34" charset="-120"/>
              </a:rPr>
              <a:t>Student ID: UP2653853 </a:t>
            </a:r>
            <a:endParaRPr lang="en-US" sz="1800" dirty="0"/>
          </a:p>
        </p:txBody>
      </p:sp>
      <p:sp>
        <p:nvSpPr>
          <p:cNvPr id="6" name="Text 4"/>
          <p:cNvSpPr/>
          <p:nvPr/>
        </p:nvSpPr>
        <p:spPr>
          <a:xfrm>
            <a:off x="589285" y="6084676"/>
            <a:ext cx="7343403" cy="246831"/>
          </a:xfrm>
          <a:prstGeom prst="rect">
            <a:avLst/>
          </a:prstGeom>
          <a:noFill/>
          <a:ln/>
        </p:spPr>
        <p:txBody>
          <a:bodyPr wrap="none" lIns="0" tIns="0" rIns="0" bIns="0" rtlCol="0" anchor="t"/>
          <a:lstStyle/>
          <a:p>
            <a:pPr marL="0" indent="0" algn="l">
              <a:lnSpc>
                <a:spcPct val="90000"/>
              </a:lnSpc>
              <a:buNone/>
            </a:pPr>
            <a:r>
              <a:rPr lang="en-US" sz="1800" kern="100" spc="50" dirty="0">
                <a:solidFill>
                  <a:srgbClr val="FFFFFF"/>
                </a:solidFill>
                <a:latin typeface="Carlito" pitchFamily="34" charset="0"/>
                <a:ea typeface="Carlito" pitchFamily="34" charset="-122"/>
                <a:cs typeface="Carlito" pitchFamily="34" charset="-120"/>
              </a:rPr>
              <a:t>M33877 Big Data and Machine Learning Applications </a:t>
            </a:r>
            <a:endParaRPr lang="en-US" sz="1800" dirty="0"/>
          </a:p>
        </p:txBody>
      </p:sp>
      <p:sp>
        <p:nvSpPr>
          <p:cNvPr id="7" name="Text 5"/>
          <p:cNvSpPr/>
          <p:nvPr/>
        </p:nvSpPr>
        <p:spPr>
          <a:xfrm>
            <a:off x="589285" y="6459500"/>
            <a:ext cx="7343403" cy="246831"/>
          </a:xfrm>
          <a:prstGeom prst="rect">
            <a:avLst/>
          </a:prstGeom>
          <a:noFill/>
          <a:ln/>
        </p:spPr>
        <p:txBody>
          <a:bodyPr wrap="none" lIns="0" tIns="0" rIns="0" bIns="0" rtlCol="0" anchor="t"/>
          <a:lstStyle/>
          <a:p>
            <a:pPr marL="0" indent="0" algn="l">
              <a:lnSpc>
                <a:spcPct val="90000"/>
              </a:lnSpc>
              <a:buNone/>
            </a:pPr>
            <a:r>
              <a:rPr lang="en-US" sz="1800" kern="100" spc="50" dirty="0">
                <a:solidFill>
                  <a:srgbClr val="FFFFFF"/>
                </a:solidFill>
                <a:latin typeface="Carlito" pitchFamily="34" charset="0"/>
                <a:ea typeface="Carlito" pitchFamily="34" charset="-122"/>
                <a:cs typeface="Carlito" pitchFamily="34" charset="-120"/>
              </a:rPr>
              <a:t>November 2026</a:t>
            </a:r>
            <a:endParaRPr lang="en-US" sz="1800" dirty="0"/>
          </a:p>
        </p:txBody>
      </p:sp>
      <p:sp>
        <p:nvSpPr>
          <p:cNvPr id="8" name="Text 6"/>
          <p:cNvSpPr/>
          <p:nvPr/>
        </p:nvSpPr>
        <p:spPr>
          <a:xfrm>
            <a:off x="3332485" y="2942680"/>
            <a:ext cx="5754291" cy="731490"/>
          </a:xfrm>
          <a:prstGeom prst="rect">
            <a:avLst/>
          </a:prstGeom>
          <a:noFill/>
          <a:ln/>
        </p:spPr>
        <p:txBody>
          <a:bodyPr wrap="square" lIns="0" tIns="0" rIns="0" bIns="0" rtlCol="0" anchor="t">
            <a:normAutofit lnSpcReduction="10000"/>
          </a:bodyPr>
          <a:lstStyle/>
          <a:p>
            <a:pPr marL="0" indent="0" algn="l">
              <a:lnSpc>
                <a:spcPct val="100000"/>
              </a:lnSpc>
              <a:buNone/>
            </a:pPr>
            <a:r>
              <a:rPr lang="en-US" sz="2400" dirty="0">
                <a:solidFill>
                  <a:srgbClr val="FFFFFF"/>
                </a:solidFill>
                <a:latin typeface="Carlito" pitchFamily="34" charset="0"/>
                <a:ea typeface="Carlito" pitchFamily="34" charset="-122"/>
                <a:cs typeface="Carlito" pitchFamily="34" charset="-120"/>
              </a:rPr>
              <a:t>BDMLA Coursework 1</a:t>
            </a:r>
            <a:endParaRPr lang="en-US" sz="2400" dirty="0"/>
          </a:p>
          <a:p>
            <a:pPr marL="0" indent="0" algn="l">
              <a:lnSpc>
                <a:spcPct val="100000"/>
              </a:lnSpc>
              <a:buNone/>
            </a:pPr>
            <a:r>
              <a:rPr lang="en-US" sz="2400" dirty="0">
                <a:solidFill>
                  <a:srgbClr val="FFFFFF"/>
                </a:solidFill>
                <a:latin typeface="Carlito" pitchFamily="34" charset="0"/>
                <a:ea typeface="Carlito" pitchFamily="34" charset="-122"/>
                <a:cs typeface="Carlito" pitchFamily="34" charset="-120"/>
              </a:rPr>
              <a:t>Big Data and Machine Learning Application:</a:t>
            </a:r>
            <a:endParaRPr lang="en-US" sz="2400" dirty="0"/>
          </a:p>
        </p:txBody>
      </p:sp>
      <p:sp>
        <p:nvSpPr>
          <p:cNvPr id="9" name="Text 7"/>
          <p:cNvSpPr/>
          <p:nvPr/>
        </p:nvSpPr>
        <p:spPr>
          <a:xfrm>
            <a:off x="3332485" y="3675256"/>
            <a:ext cx="5754291" cy="914400"/>
          </a:xfrm>
          <a:prstGeom prst="rect">
            <a:avLst/>
          </a:prstGeom>
          <a:noFill/>
          <a:ln/>
        </p:spPr>
        <p:txBody>
          <a:bodyPr wrap="square" lIns="0" tIns="0" rIns="0" bIns="0" rtlCol="0" anchor="t">
            <a:normAutofit/>
          </a:bodyPr>
          <a:lstStyle/>
          <a:p>
            <a:pPr marL="0" indent="0" algn="l">
              <a:lnSpc>
                <a:spcPct val="100000"/>
              </a:lnSpc>
              <a:buNone/>
            </a:pPr>
            <a:r>
              <a:rPr lang="en-US" sz="3000" dirty="0">
                <a:solidFill>
                  <a:srgbClr val="FFFFFF"/>
                </a:solidFill>
                <a:latin typeface="Carlito" pitchFamily="34" charset="0"/>
                <a:ea typeface="Carlito" pitchFamily="34" charset="-122"/>
                <a:cs typeface="Carlito" pitchFamily="34" charset="-120"/>
              </a:rPr>
              <a:t>Predicting Airline Flight Delays with Apache Spark</a:t>
            </a:r>
            <a:endParaRPr lang="en-US" sz="3000" dirty="0"/>
          </a:p>
        </p:txBody>
      </p:sp>
      <p:pic>
        <p:nvPicPr>
          <p:cNvPr id="10" name="Image 0" descr="preencoded.png"/>
          <p:cNvPicPr>
            <a:picLocks noChangeAspect="1"/>
          </p:cNvPicPr>
          <p:nvPr/>
        </p:nvPicPr>
        <p:blipFill>
          <a:blip r:embed="rId3"/>
          <a:stretch>
            <a:fillRect/>
          </a:stretch>
        </p:blipFill>
        <p:spPr>
          <a:xfrm>
            <a:off x="367233" y="546199"/>
            <a:ext cx="3919463" cy="13948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BACKGROUND</a:t>
            </a:r>
            <a:endParaRPr lang="en-US" sz="4400" dirty="0"/>
          </a:p>
        </p:txBody>
      </p:sp>
      <p:sp>
        <p:nvSpPr>
          <p:cNvPr id="5" name="Text 3"/>
          <p:cNvSpPr/>
          <p:nvPr/>
        </p:nvSpPr>
        <p:spPr>
          <a:xfrm>
            <a:off x="365745" y="1586210"/>
            <a:ext cx="4798665" cy="3047926"/>
          </a:xfrm>
          <a:prstGeom prst="rect">
            <a:avLst/>
          </a:prstGeom>
          <a:noFill/>
          <a:ln/>
        </p:spPr>
        <p:txBody>
          <a:bodyPr wrap="square" lIns="0" tIns="0" rIns="0" bIns="0" rtlCol="0" anchor="t">
            <a:normAutofit/>
          </a:bodyPr>
          <a:lstStyle/>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Costly. </a:t>
            </a:r>
            <a:r>
              <a:rPr lang="en-US" sz="1500" dirty="0">
                <a:solidFill>
                  <a:srgbClr val="1F1F1F"/>
                </a:solidFill>
                <a:latin typeface="Carlito" pitchFamily="34" charset="0"/>
                <a:ea typeface="Carlito" pitchFamily="34" charset="-122"/>
                <a:cs typeface="Carlito" pitchFamily="34" charset="-120"/>
              </a:rPr>
              <a:t>Flight delays cost the U.S. economy an estimated $32.9 billion in 2007, shared between airlines, passengers and lost demand (Ball et al., 2010).</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Clearly defined. </a:t>
            </a:r>
            <a:r>
              <a:rPr lang="en-US" sz="1500" dirty="0">
                <a:solidFill>
                  <a:srgbClr val="1F1F1F"/>
                </a:solidFill>
                <a:latin typeface="Carlito" pitchFamily="34" charset="0"/>
                <a:ea typeface="Carlito" pitchFamily="34" charset="-122"/>
                <a:cs typeface="Carlito" pitchFamily="34" charset="-120"/>
              </a:rPr>
              <a:t>The Bureau of Transportation Statistics (BTS) counts a flight as delayed when it arrives 15 or more minutes late.</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Big data. </a:t>
            </a:r>
            <a:r>
              <a:rPr lang="en-US" sz="1500" dirty="0">
                <a:solidFill>
                  <a:srgbClr val="1F1F1F"/>
                </a:solidFill>
                <a:latin typeface="Carlito" pitchFamily="34" charset="0"/>
                <a:ea typeface="Carlito" pitchFamily="34" charset="-122"/>
                <a:cs typeface="Carlito" pitchFamily="34" charset="-120"/>
              </a:rPr>
              <a:t>BTS publishes a record for every domestic flight of the larger U.S. carriers: millions of labelled rows every year.</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Useful if predicted early. </a:t>
            </a:r>
            <a:r>
              <a:rPr lang="en-US" sz="1500" dirty="0">
                <a:solidFill>
                  <a:srgbClr val="1F1F1F"/>
                </a:solidFill>
                <a:latin typeface="Carlito" pitchFamily="34" charset="0"/>
                <a:ea typeface="Carlito" pitchFamily="34" charset="-122"/>
                <a:cs typeface="Carlito" pitchFamily="34" charset="-120"/>
              </a:rPr>
              <a:t>Airlines can re-plan crews, gates and spare aircraft; passengers with tight connections can be warned.</a:t>
            </a:r>
            <a:endParaRPr lang="en-US" sz="1500" dirty="0"/>
          </a:p>
        </p:txBody>
      </p:sp>
      <p:sp>
        <p:nvSpPr>
          <p:cNvPr id="6" name="Shape 4"/>
          <p:cNvSpPr/>
          <p:nvPr/>
        </p:nvSpPr>
        <p:spPr>
          <a:xfrm>
            <a:off x="5486400" y="1600200"/>
            <a:ext cx="3108945" cy="1280145"/>
          </a:xfrm>
          <a:prstGeom prst="roundRect">
            <a:avLst>
              <a:gd name="adj" fmla="val 9595"/>
            </a:avLst>
          </a:prstGeom>
          <a:solidFill>
            <a:srgbClr val="F4EFF4"/>
          </a:solidFill>
          <a:ln/>
        </p:spPr>
        <p:txBody>
          <a:bodyPr/>
          <a:lstStyle/>
          <a:p>
            <a:endParaRPr lang="en-US"/>
          </a:p>
        </p:txBody>
      </p:sp>
      <p:sp>
        <p:nvSpPr>
          <p:cNvPr id="7" name="Text 5"/>
          <p:cNvSpPr/>
          <p:nvPr/>
        </p:nvSpPr>
        <p:spPr>
          <a:xfrm>
            <a:off x="5669235" y="1725980"/>
            <a:ext cx="3291780" cy="457200"/>
          </a:xfrm>
          <a:prstGeom prst="rect">
            <a:avLst/>
          </a:prstGeom>
          <a:noFill/>
          <a:ln/>
        </p:spPr>
        <p:txBody>
          <a:bodyPr wrap="none" lIns="0" tIns="0" rIns="0" bIns="0" rtlCol="0" anchor="t"/>
          <a:lstStyle/>
          <a:p>
            <a:pPr marL="0" indent="0" algn="l">
              <a:lnSpc>
                <a:spcPct val="100000"/>
              </a:lnSpc>
              <a:buNone/>
            </a:pPr>
            <a:r>
              <a:rPr lang="en-US" sz="3000" b="1" dirty="0">
                <a:solidFill>
                  <a:srgbClr val="621360"/>
                </a:solidFill>
                <a:latin typeface="Carlito Bold" pitchFamily="34" charset="0"/>
                <a:ea typeface="Carlito Bold" pitchFamily="34" charset="-122"/>
                <a:cs typeface="Carlito Bold" pitchFamily="34" charset="-120"/>
              </a:rPr>
              <a:t>$32.9B</a:t>
            </a:r>
            <a:endParaRPr lang="en-US" sz="3000" dirty="0"/>
          </a:p>
        </p:txBody>
      </p:sp>
      <p:sp>
        <p:nvSpPr>
          <p:cNvPr id="8" name="Text 6"/>
          <p:cNvSpPr/>
          <p:nvPr/>
        </p:nvSpPr>
        <p:spPr>
          <a:xfrm>
            <a:off x="5669235" y="2363465"/>
            <a:ext cx="3200400" cy="323776"/>
          </a:xfrm>
          <a:prstGeom prst="rect">
            <a:avLst/>
          </a:prstGeom>
          <a:noFill/>
          <a:ln/>
        </p:spPr>
        <p:txBody>
          <a:bodyPr wrap="none" lIns="0" tIns="0" rIns="0" bIns="0" rtlCol="0" anchor="t"/>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cost of U.S. delays in 2007</a:t>
            </a:r>
            <a:endParaRPr lang="en-US" sz="1700" dirty="0"/>
          </a:p>
        </p:txBody>
      </p:sp>
      <p:sp>
        <p:nvSpPr>
          <p:cNvPr id="9" name="Shape 7"/>
          <p:cNvSpPr/>
          <p:nvPr/>
        </p:nvSpPr>
        <p:spPr>
          <a:xfrm>
            <a:off x="5486400" y="3063180"/>
            <a:ext cx="3108945" cy="1280145"/>
          </a:xfrm>
          <a:prstGeom prst="roundRect">
            <a:avLst>
              <a:gd name="adj" fmla="val 9595"/>
            </a:avLst>
          </a:prstGeom>
          <a:solidFill>
            <a:srgbClr val="F4EFF4"/>
          </a:solidFill>
          <a:ln/>
        </p:spPr>
        <p:txBody>
          <a:bodyPr/>
          <a:lstStyle/>
          <a:p>
            <a:endParaRPr lang="en-US"/>
          </a:p>
        </p:txBody>
      </p:sp>
      <p:sp>
        <p:nvSpPr>
          <p:cNvPr id="10" name="Text 8"/>
          <p:cNvSpPr/>
          <p:nvPr/>
        </p:nvSpPr>
        <p:spPr>
          <a:xfrm>
            <a:off x="5669235" y="3189034"/>
            <a:ext cx="3291780" cy="457200"/>
          </a:xfrm>
          <a:prstGeom prst="rect">
            <a:avLst/>
          </a:prstGeom>
          <a:noFill/>
          <a:ln/>
        </p:spPr>
        <p:txBody>
          <a:bodyPr wrap="none" lIns="0" tIns="0" rIns="0" bIns="0" rtlCol="0" anchor="t"/>
          <a:lstStyle/>
          <a:p>
            <a:pPr marL="0" indent="0" algn="l">
              <a:lnSpc>
                <a:spcPct val="100000"/>
              </a:lnSpc>
              <a:buNone/>
            </a:pPr>
            <a:r>
              <a:rPr lang="en-US" sz="3000" b="1" dirty="0">
                <a:solidFill>
                  <a:srgbClr val="00A0FF"/>
                </a:solidFill>
                <a:latin typeface="Carlito Bold" pitchFamily="34" charset="0"/>
                <a:ea typeface="Carlito Bold" pitchFamily="34" charset="-122"/>
                <a:cs typeface="Carlito Bold" pitchFamily="34" charset="-120"/>
              </a:rPr>
              <a:t>15 min</a:t>
            </a:r>
            <a:endParaRPr lang="en-US" sz="3000" dirty="0"/>
          </a:p>
        </p:txBody>
      </p:sp>
      <p:sp>
        <p:nvSpPr>
          <p:cNvPr id="11" name="Text 9"/>
          <p:cNvSpPr/>
          <p:nvPr/>
        </p:nvSpPr>
        <p:spPr>
          <a:xfrm>
            <a:off x="5669235" y="3826446"/>
            <a:ext cx="3200400" cy="323776"/>
          </a:xfrm>
          <a:prstGeom prst="rect">
            <a:avLst/>
          </a:prstGeom>
          <a:noFill/>
          <a:ln/>
        </p:spPr>
        <p:txBody>
          <a:bodyPr wrap="none" lIns="0" tIns="0" rIns="0" bIns="0" rtlCol="0" anchor="t"/>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BTS delay threshold</a:t>
            </a:r>
            <a:endParaRPr lang="en-US" sz="1700" dirty="0"/>
          </a:p>
        </p:txBody>
      </p:sp>
      <p:sp>
        <p:nvSpPr>
          <p:cNvPr id="12" name="Shape 10"/>
          <p:cNvSpPr/>
          <p:nvPr/>
        </p:nvSpPr>
        <p:spPr>
          <a:xfrm>
            <a:off x="5486400" y="4526235"/>
            <a:ext cx="3108945" cy="1280145"/>
          </a:xfrm>
          <a:prstGeom prst="roundRect">
            <a:avLst>
              <a:gd name="adj" fmla="val 9595"/>
            </a:avLst>
          </a:prstGeom>
          <a:solidFill>
            <a:srgbClr val="F4EFF4"/>
          </a:solidFill>
          <a:ln/>
        </p:spPr>
        <p:txBody>
          <a:bodyPr/>
          <a:lstStyle/>
          <a:p>
            <a:endParaRPr lang="en-US"/>
          </a:p>
        </p:txBody>
      </p:sp>
      <p:sp>
        <p:nvSpPr>
          <p:cNvPr id="13" name="Text 11"/>
          <p:cNvSpPr/>
          <p:nvPr/>
        </p:nvSpPr>
        <p:spPr>
          <a:xfrm>
            <a:off x="5669235" y="4652089"/>
            <a:ext cx="3291780" cy="457200"/>
          </a:xfrm>
          <a:prstGeom prst="rect">
            <a:avLst/>
          </a:prstGeom>
          <a:noFill/>
          <a:ln/>
        </p:spPr>
        <p:txBody>
          <a:bodyPr wrap="none" lIns="0" tIns="0" rIns="0" bIns="0" rtlCol="0" anchor="t"/>
          <a:lstStyle/>
          <a:p>
            <a:pPr marL="0" indent="0" algn="l">
              <a:lnSpc>
                <a:spcPct val="100000"/>
              </a:lnSpc>
              <a:buNone/>
            </a:pPr>
            <a:r>
              <a:rPr lang="en-US" sz="3000" b="1" dirty="0">
                <a:solidFill>
                  <a:srgbClr val="1BAF7A"/>
                </a:solidFill>
                <a:latin typeface="Carlito Bold" pitchFamily="34" charset="0"/>
                <a:ea typeface="Carlito Bold" pitchFamily="34" charset="-122"/>
                <a:cs typeface="Carlito Bold" pitchFamily="34" charset="-120"/>
              </a:rPr>
              <a:t>7,001,619</a:t>
            </a:r>
            <a:endParaRPr lang="en-US" sz="3000" dirty="0"/>
          </a:p>
        </p:txBody>
      </p:sp>
      <p:sp>
        <p:nvSpPr>
          <p:cNvPr id="14" name="Text 12"/>
          <p:cNvSpPr/>
          <p:nvPr/>
        </p:nvSpPr>
        <p:spPr>
          <a:xfrm>
            <a:off x="5669235" y="5289500"/>
            <a:ext cx="3200400" cy="323776"/>
          </a:xfrm>
          <a:prstGeom prst="rect">
            <a:avLst/>
          </a:prstGeom>
          <a:noFill/>
          <a:ln/>
        </p:spPr>
        <p:txBody>
          <a:bodyPr wrap="none" lIns="0" tIns="0" rIns="0" bIns="0" rtlCol="0" anchor="t"/>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flights in 2025</a:t>
            </a:r>
            <a:endParaRPr lang="en-US" sz="1700" dirty="0"/>
          </a:p>
        </p:txBody>
      </p:sp>
      <p:pic>
        <p:nvPicPr>
          <p:cNvPr id="15"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PROJECT PROPOSAL</a:t>
            </a:r>
            <a:endParaRPr lang="en-US" sz="4400" dirty="0"/>
          </a:p>
        </p:txBody>
      </p:sp>
      <p:sp>
        <p:nvSpPr>
          <p:cNvPr id="5" name="Shape 3"/>
          <p:cNvSpPr/>
          <p:nvPr/>
        </p:nvSpPr>
        <p:spPr>
          <a:xfrm>
            <a:off x="365745" y="1600200"/>
            <a:ext cx="8275290" cy="1051545"/>
          </a:xfrm>
          <a:prstGeom prst="roundRect">
            <a:avLst>
              <a:gd name="adj" fmla="val 9594"/>
            </a:avLst>
          </a:prstGeom>
          <a:solidFill>
            <a:srgbClr val="3C023C"/>
          </a:solidFill>
          <a:ln/>
        </p:spPr>
        <p:txBody>
          <a:bodyPr/>
          <a:lstStyle/>
          <a:p>
            <a:endParaRPr lang="en-US"/>
          </a:p>
        </p:txBody>
      </p:sp>
      <p:sp>
        <p:nvSpPr>
          <p:cNvPr id="6" name="Text 4"/>
          <p:cNvSpPr/>
          <p:nvPr/>
        </p:nvSpPr>
        <p:spPr>
          <a:xfrm>
            <a:off x="640035" y="1807146"/>
            <a:ext cx="7669485" cy="609451"/>
          </a:xfrm>
          <a:prstGeom prst="rect">
            <a:avLst/>
          </a:prstGeom>
          <a:noFill/>
          <a:ln/>
        </p:spPr>
        <p:txBody>
          <a:bodyPr wrap="square" lIns="0" tIns="0" rIns="0" bIns="0" rtlCol="0" anchor="t">
            <a:normAutofit lnSpcReduction="10000"/>
          </a:bodyPr>
          <a:lstStyle/>
          <a:p>
            <a:pPr marL="0" indent="0" algn="l">
              <a:lnSpc>
                <a:spcPct val="100000"/>
              </a:lnSpc>
              <a:buNone/>
            </a:pPr>
            <a:r>
              <a:rPr lang="en-US" sz="2000" b="1" dirty="0">
                <a:solidFill>
                  <a:srgbClr val="FFFFFF"/>
                </a:solidFill>
                <a:latin typeface="Carlito Bold" pitchFamily="34" charset="0"/>
                <a:ea typeface="Carlito Bold" pitchFamily="34" charset="-122"/>
                <a:cs typeface="Carlito Bold" pitchFamily="34" charset="-120"/>
              </a:rPr>
              <a:t>Using only information known before departure, will this flight arrive 15+ minutes late?</a:t>
            </a:r>
            <a:endParaRPr lang="en-US" sz="2000" dirty="0"/>
          </a:p>
        </p:txBody>
      </p:sp>
      <p:pic>
        <p:nvPicPr>
          <p:cNvPr id="8" name="Image 0" descr="preencoded.png"/>
          <p:cNvPicPr>
            <a:picLocks noChangeAspect="1"/>
          </p:cNvPicPr>
          <p:nvPr/>
        </p:nvPicPr>
        <p:blipFill>
          <a:blip r:embed="rId3"/>
          <a:stretch>
            <a:fillRect/>
          </a:stretch>
        </p:blipFill>
        <p:spPr>
          <a:xfrm>
            <a:off x="471488" y="6225108"/>
            <a:ext cx="1298004" cy="461963"/>
          </a:xfrm>
          <a:prstGeom prst="rect">
            <a:avLst/>
          </a:prstGeom>
        </p:spPr>
      </p:pic>
      <p:sp>
        <p:nvSpPr>
          <p:cNvPr id="12" name="TextBox 11">
            <a:extLst>
              <a:ext uri="{FF2B5EF4-FFF2-40B4-BE49-F238E27FC236}">
                <a16:creationId xmlns:a16="http://schemas.microsoft.com/office/drawing/2014/main" id="{579B576B-CBCB-2686-A14D-30D1E060FF9A}"/>
              </a:ext>
            </a:extLst>
          </p:cNvPr>
          <p:cNvSpPr txBox="1"/>
          <p:nvPr/>
        </p:nvSpPr>
        <p:spPr>
          <a:xfrm>
            <a:off x="365744" y="2887920"/>
            <a:ext cx="7592393" cy="1323439"/>
          </a:xfrm>
          <a:prstGeom prst="rect">
            <a:avLst/>
          </a:prstGeom>
          <a:noFill/>
        </p:spPr>
        <p:txBody>
          <a:bodyPr wrap="square">
            <a:spAutoFit/>
          </a:bodyPr>
          <a:lstStyle/>
          <a:p>
            <a:pPr marL="228600" indent="-182880" defTabSz="914400">
              <a:lnSpc>
                <a:spcPct val="100000"/>
              </a:lnSpc>
              <a:spcAft>
                <a:spcPts val="799"/>
              </a:spcAft>
              <a:buClr>
                <a:srgbClr val="1F1F1F"/>
              </a:buClr>
              <a:buFont typeface="Symbol" charset="2"/>
              <a:buChar char=""/>
            </a:pPr>
            <a:r>
              <a:rPr lang="en-US" sz="1500" dirty="0">
                <a:solidFill>
                  <a:srgbClr val="1F1F1F"/>
                </a:solidFill>
                <a:latin typeface="Carlito" pitchFamily="34" charset="0"/>
                <a:cs typeface="Carlito" pitchFamily="34" charset="-120"/>
              </a:rPr>
              <a:t>Target: DELAYED = 1 when ARR_DELAY ≥ 15 minutes, otherwise 0.</a:t>
            </a:r>
          </a:p>
          <a:p>
            <a:pPr marL="228600" indent="-182880" defTabSz="914400">
              <a:lnSpc>
                <a:spcPct val="100000"/>
              </a:lnSpc>
              <a:spcAft>
                <a:spcPts val="799"/>
              </a:spcAft>
              <a:buClr>
                <a:srgbClr val="1F1F1F"/>
              </a:buClr>
              <a:buFont typeface="Symbol" charset="2"/>
              <a:buChar char=""/>
            </a:pPr>
            <a:r>
              <a:rPr lang="en-US" sz="1500" dirty="0">
                <a:solidFill>
                  <a:srgbClr val="1F1F1F"/>
                </a:solidFill>
                <a:latin typeface="Carlito" pitchFamily="34" charset="0"/>
                <a:cs typeface="Carlito" pitchFamily="34" charset="-120"/>
              </a:rPr>
              <a:t>Prediction point: before scheduled departure, using schedule-derived inputs.</a:t>
            </a:r>
          </a:p>
          <a:p>
            <a:pPr marL="228600" indent="-182880" defTabSz="914400">
              <a:lnSpc>
                <a:spcPct val="100000"/>
              </a:lnSpc>
              <a:spcAft>
                <a:spcPts val="799"/>
              </a:spcAft>
              <a:buClr>
                <a:srgbClr val="1F1F1F"/>
              </a:buClr>
              <a:buFont typeface="Symbol" charset="2"/>
              <a:buChar char=""/>
            </a:pPr>
            <a:r>
              <a:rPr lang="en-US" sz="1500" dirty="0">
                <a:solidFill>
                  <a:srgbClr val="1F1F1F"/>
                </a:solidFill>
                <a:latin typeface="Carlito" pitchFamily="34" charset="0"/>
                <a:cs typeface="Carlito" pitchFamily="34" charset="-120"/>
              </a:rPr>
              <a:t>Departure delay is excluded because it is unavailable at that prediction point.</a:t>
            </a:r>
          </a:p>
          <a:p>
            <a:pPr marL="228600" indent="-182880" defTabSz="914400">
              <a:lnSpc>
                <a:spcPct val="100000"/>
              </a:lnSpc>
              <a:spcAft>
                <a:spcPts val="799"/>
              </a:spcAft>
              <a:buClr>
                <a:srgbClr val="1F1F1F"/>
              </a:buClr>
              <a:buFont typeface="Symbol" charset="2"/>
              <a:buChar char=""/>
            </a:pPr>
            <a:r>
              <a:rPr lang="en-US" sz="1500" dirty="0">
                <a:solidFill>
                  <a:srgbClr val="1F1F1F"/>
                </a:solidFill>
                <a:latin typeface="Carlito" pitchFamily="34" charset="0"/>
                <a:cs typeface="Carlito" pitchFamily="34" charset="-120"/>
              </a:rPr>
              <a:t>Method: process 12 monthly files in Spark and compare three </a:t>
            </a:r>
            <a:r>
              <a:rPr lang="en-US" sz="1500" dirty="0" err="1">
                <a:solidFill>
                  <a:srgbClr val="1F1F1F"/>
                </a:solidFill>
                <a:latin typeface="Carlito" pitchFamily="34" charset="0"/>
                <a:cs typeface="Carlito" pitchFamily="34" charset="-120"/>
              </a:rPr>
              <a:t>MLlib</a:t>
            </a:r>
            <a:r>
              <a:rPr lang="en-US" sz="1500" dirty="0">
                <a:solidFill>
                  <a:srgbClr val="1F1F1F"/>
                </a:solidFill>
                <a:latin typeface="Carlito" pitchFamily="34" charset="0"/>
                <a:cs typeface="Carlito" pitchFamily="34" charset="-120"/>
              </a:rPr>
              <a:t> classifiers.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OBJECTIVES AND SCOPE</a:t>
            </a:r>
            <a:endParaRPr lang="en-US" sz="4400" dirty="0"/>
          </a:p>
        </p:txBody>
      </p:sp>
      <p:sp>
        <p:nvSpPr>
          <p:cNvPr id="5" name="Text 3"/>
          <p:cNvSpPr/>
          <p:nvPr/>
        </p:nvSpPr>
        <p:spPr>
          <a:xfrm>
            <a:off x="365745" y="1586210"/>
            <a:ext cx="4810720"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Objectives</a:t>
            </a:r>
            <a:endParaRPr lang="en-US" sz="2000" dirty="0"/>
          </a:p>
        </p:txBody>
      </p:sp>
      <p:sp>
        <p:nvSpPr>
          <p:cNvPr id="6" name="Shape 4"/>
          <p:cNvSpPr/>
          <p:nvPr/>
        </p:nvSpPr>
        <p:spPr>
          <a:xfrm>
            <a:off x="365745" y="2103090"/>
            <a:ext cx="548580" cy="548580"/>
          </a:xfrm>
          <a:prstGeom prst="roundRect">
            <a:avLst>
              <a:gd name="adj" fmla="val 14390"/>
            </a:avLst>
          </a:prstGeom>
          <a:solidFill>
            <a:srgbClr val="621360"/>
          </a:solidFill>
          <a:ln/>
        </p:spPr>
        <p:txBody>
          <a:bodyPr/>
          <a:lstStyle/>
          <a:p>
            <a:endParaRPr lang="en-US"/>
          </a:p>
        </p:txBody>
      </p:sp>
      <p:sp>
        <p:nvSpPr>
          <p:cNvPr id="7" name="Text 5"/>
          <p:cNvSpPr/>
          <p:nvPr/>
        </p:nvSpPr>
        <p:spPr>
          <a:xfrm>
            <a:off x="210294" y="2205930"/>
            <a:ext cx="859482" cy="44574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O1</a:t>
            </a:r>
            <a:endParaRPr lang="en-US" sz="1800" dirty="0"/>
          </a:p>
        </p:txBody>
      </p:sp>
      <p:sp>
        <p:nvSpPr>
          <p:cNvPr id="8" name="Text 6"/>
          <p:cNvSpPr/>
          <p:nvPr/>
        </p:nvSpPr>
        <p:spPr>
          <a:xfrm>
            <a:off x="1082947" y="2071462"/>
            <a:ext cx="3417540"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F1F1F"/>
                </a:solidFill>
                <a:latin typeface="Carlito" pitchFamily="34" charset="0"/>
                <a:ea typeface="Carlito" pitchFamily="34" charset="-122"/>
                <a:cs typeface="Carlito" pitchFamily="34" charset="-120"/>
              </a:rPr>
              <a:t>Ingest, union and clean all 12 monthly files in Spark</a:t>
            </a:r>
            <a:endParaRPr lang="en-US" sz="1800" dirty="0"/>
          </a:p>
        </p:txBody>
      </p:sp>
      <p:sp>
        <p:nvSpPr>
          <p:cNvPr id="9" name="Shape 7"/>
          <p:cNvSpPr/>
          <p:nvPr/>
        </p:nvSpPr>
        <p:spPr>
          <a:xfrm>
            <a:off x="365745" y="2834580"/>
            <a:ext cx="548580" cy="548580"/>
          </a:xfrm>
          <a:prstGeom prst="roundRect">
            <a:avLst>
              <a:gd name="adj" fmla="val 14390"/>
            </a:avLst>
          </a:prstGeom>
          <a:solidFill>
            <a:srgbClr val="00A0FF"/>
          </a:solidFill>
          <a:ln/>
        </p:spPr>
        <p:txBody>
          <a:bodyPr/>
          <a:lstStyle/>
          <a:p>
            <a:endParaRPr lang="en-US"/>
          </a:p>
        </p:txBody>
      </p:sp>
      <p:sp>
        <p:nvSpPr>
          <p:cNvPr id="10" name="Text 8"/>
          <p:cNvSpPr/>
          <p:nvPr/>
        </p:nvSpPr>
        <p:spPr>
          <a:xfrm>
            <a:off x="210294" y="2937421"/>
            <a:ext cx="859482" cy="44574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O2</a:t>
            </a:r>
            <a:endParaRPr lang="en-US" sz="1800" dirty="0"/>
          </a:p>
        </p:txBody>
      </p:sp>
      <p:sp>
        <p:nvSpPr>
          <p:cNvPr id="11" name="Text 9"/>
          <p:cNvSpPr/>
          <p:nvPr/>
        </p:nvSpPr>
        <p:spPr>
          <a:xfrm>
            <a:off x="1082947" y="2803026"/>
            <a:ext cx="3417540"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F1F1F"/>
                </a:solidFill>
                <a:latin typeface="Carlito" pitchFamily="34" charset="0"/>
                <a:ea typeface="Carlito" pitchFamily="34" charset="-122"/>
                <a:cs typeface="Carlito" pitchFamily="34" charset="-120"/>
              </a:rPr>
              <a:t>Engineer features from schedule information only</a:t>
            </a:r>
            <a:endParaRPr lang="en-US" sz="1800" dirty="0"/>
          </a:p>
        </p:txBody>
      </p:sp>
      <p:sp>
        <p:nvSpPr>
          <p:cNvPr id="12" name="Shape 10"/>
          <p:cNvSpPr/>
          <p:nvPr/>
        </p:nvSpPr>
        <p:spPr>
          <a:xfrm>
            <a:off x="365745" y="3566145"/>
            <a:ext cx="548580" cy="548580"/>
          </a:xfrm>
          <a:prstGeom prst="roundRect">
            <a:avLst>
              <a:gd name="adj" fmla="val 14390"/>
            </a:avLst>
          </a:prstGeom>
          <a:solidFill>
            <a:srgbClr val="621360"/>
          </a:solidFill>
          <a:ln/>
        </p:spPr>
        <p:txBody>
          <a:bodyPr/>
          <a:lstStyle/>
          <a:p>
            <a:endParaRPr lang="en-US"/>
          </a:p>
        </p:txBody>
      </p:sp>
      <p:sp>
        <p:nvSpPr>
          <p:cNvPr id="13" name="Text 11"/>
          <p:cNvSpPr/>
          <p:nvPr/>
        </p:nvSpPr>
        <p:spPr>
          <a:xfrm>
            <a:off x="210294" y="3668985"/>
            <a:ext cx="859482" cy="44574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O3</a:t>
            </a:r>
            <a:endParaRPr lang="en-US" sz="1800" dirty="0"/>
          </a:p>
        </p:txBody>
      </p:sp>
      <p:sp>
        <p:nvSpPr>
          <p:cNvPr id="14" name="Text 12"/>
          <p:cNvSpPr/>
          <p:nvPr/>
        </p:nvSpPr>
        <p:spPr>
          <a:xfrm>
            <a:off x="1082947" y="3641226"/>
            <a:ext cx="3474690"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F1F1F"/>
                </a:solidFill>
                <a:latin typeface="Carlito" pitchFamily="34" charset="0"/>
                <a:ea typeface="Carlito" pitchFamily="34" charset="-122"/>
                <a:cs typeface="Carlito" pitchFamily="34" charset="-120"/>
              </a:rPr>
              <a:t>Train LR, Random Forest and GBT in Spark MLlib</a:t>
            </a:r>
            <a:endParaRPr lang="en-US" sz="1800" dirty="0"/>
          </a:p>
        </p:txBody>
      </p:sp>
      <p:sp>
        <p:nvSpPr>
          <p:cNvPr id="15" name="Shape 13"/>
          <p:cNvSpPr/>
          <p:nvPr/>
        </p:nvSpPr>
        <p:spPr>
          <a:xfrm>
            <a:off x="365745" y="4297635"/>
            <a:ext cx="548580" cy="548580"/>
          </a:xfrm>
          <a:prstGeom prst="roundRect">
            <a:avLst>
              <a:gd name="adj" fmla="val 14390"/>
            </a:avLst>
          </a:prstGeom>
          <a:solidFill>
            <a:srgbClr val="621360"/>
          </a:solidFill>
          <a:ln/>
        </p:spPr>
        <p:txBody>
          <a:bodyPr/>
          <a:lstStyle/>
          <a:p>
            <a:endParaRPr lang="en-US"/>
          </a:p>
        </p:txBody>
      </p:sp>
      <p:sp>
        <p:nvSpPr>
          <p:cNvPr id="16" name="Text 14"/>
          <p:cNvSpPr/>
          <p:nvPr/>
        </p:nvSpPr>
        <p:spPr>
          <a:xfrm>
            <a:off x="210294" y="4400476"/>
            <a:ext cx="859482" cy="44574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O4</a:t>
            </a:r>
            <a:endParaRPr lang="en-US" sz="1800" dirty="0"/>
          </a:p>
        </p:txBody>
      </p:sp>
      <p:sp>
        <p:nvSpPr>
          <p:cNvPr id="17" name="Text 15"/>
          <p:cNvSpPr/>
          <p:nvPr/>
        </p:nvSpPr>
        <p:spPr>
          <a:xfrm>
            <a:off x="1082947" y="4266081"/>
            <a:ext cx="3417540" cy="685800"/>
          </a:xfrm>
          <a:prstGeom prst="rect">
            <a:avLst/>
          </a:prstGeom>
          <a:noFill/>
          <a:ln/>
        </p:spPr>
        <p:txBody>
          <a:bodyPr wrap="square" lIns="0" tIns="0" rIns="0" bIns="0" rtlCol="0" anchor="t">
            <a:normAutofit/>
          </a:bodyPr>
          <a:lstStyle/>
          <a:p>
            <a:pPr marL="0" indent="0" algn="l">
              <a:lnSpc>
                <a:spcPct val="125000"/>
              </a:lnSpc>
              <a:buNone/>
            </a:pPr>
            <a:r>
              <a:rPr lang="en-US" sz="1800" dirty="0">
                <a:solidFill>
                  <a:srgbClr val="1F1F1F"/>
                </a:solidFill>
                <a:latin typeface="Carlito" pitchFamily="34" charset="0"/>
                <a:ea typeface="Carlito" pitchFamily="34" charset="-122"/>
                <a:cs typeface="Carlito" pitchFamily="34" charset="-120"/>
              </a:rPr>
              <a:t>Evaluate with imbalance-aware metrics + training time</a:t>
            </a:r>
            <a:endParaRPr lang="en-US" sz="1800" dirty="0"/>
          </a:p>
        </p:txBody>
      </p:sp>
      <p:sp>
        <p:nvSpPr>
          <p:cNvPr id="18" name="Shape 16"/>
          <p:cNvSpPr/>
          <p:nvPr/>
        </p:nvSpPr>
        <p:spPr>
          <a:xfrm>
            <a:off x="365745" y="5029200"/>
            <a:ext cx="548580" cy="548580"/>
          </a:xfrm>
          <a:prstGeom prst="roundRect">
            <a:avLst>
              <a:gd name="adj" fmla="val 14390"/>
            </a:avLst>
          </a:prstGeom>
          <a:solidFill>
            <a:srgbClr val="621360"/>
          </a:solidFill>
          <a:ln/>
        </p:spPr>
        <p:txBody>
          <a:bodyPr/>
          <a:lstStyle/>
          <a:p>
            <a:endParaRPr lang="en-US"/>
          </a:p>
        </p:txBody>
      </p:sp>
      <p:sp>
        <p:nvSpPr>
          <p:cNvPr id="19" name="Text 17"/>
          <p:cNvSpPr/>
          <p:nvPr/>
        </p:nvSpPr>
        <p:spPr>
          <a:xfrm>
            <a:off x="210294" y="5132040"/>
            <a:ext cx="859482" cy="44574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O5</a:t>
            </a:r>
            <a:endParaRPr lang="en-US" sz="1800" dirty="0"/>
          </a:p>
        </p:txBody>
      </p:sp>
      <p:sp>
        <p:nvSpPr>
          <p:cNvPr id="20" name="Text 18"/>
          <p:cNvSpPr/>
          <p:nvPr/>
        </p:nvSpPr>
        <p:spPr>
          <a:xfrm>
            <a:off x="1082947" y="5104281"/>
            <a:ext cx="3931890" cy="342900"/>
          </a:xfrm>
          <a:prstGeom prst="rect">
            <a:avLst/>
          </a:prstGeom>
          <a:noFill/>
          <a:ln/>
        </p:spPr>
        <p:txBody>
          <a:bodyPr wrap="none" lIns="0" tIns="0" rIns="0" bIns="0" rtlCol="0" anchor="t"/>
          <a:lstStyle/>
          <a:p>
            <a:pPr marL="0" indent="0" algn="l">
              <a:lnSpc>
                <a:spcPct val="125000"/>
              </a:lnSpc>
              <a:buNone/>
            </a:pPr>
            <a:r>
              <a:rPr lang="en-US" sz="1800" dirty="0">
                <a:solidFill>
                  <a:srgbClr val="1F1F1F"/>
                </a:solidFill>
                <a:latin typeface="Carlito" pitchFamily="34" charset="0"/>
                <a:ea typeface="Carlito" pitchFamily="34" charset="-122"/>
                <a:cs typeface="Carlito" pitchFamily="34" charset="-120"/>
              </a:rPr>
              <a:t>Show how the pipeline scales out</a:t>
            </a:r>
            <a:endParaRPr lang="en-US" sz="1800" dirty="0"/>
          </a:p>
        </p:txBody>
      </p:sp>
      <p:sp>
        <p:nvSpPr>
          <p:cNvPr id="21" name="Shape 19"/>
          <p:cNvSpPr/>
          <p:nvPr/>
        </p:nvSpPr>
        <p:spPr>
          <a:xfrm>
            <a:off x="4846290" y="1600200"/>
            <a:ext cx="3794745" cy="4206180"/>
          </a:xfrm>
          <a:prstGeom prst="roundRect">
            <a:avLst>
              <a:gd name="adj" fmla="val 9598"/>
            </a:avLst>
          </a:prstGeom>
          <a:solidFill>
            <a:srgbClr val="F4EFF4"/>
          </a:solidFill>
          <a:ln/>
        </p:spPr>
        <p:txBody>
          <a:bodyPr/>
          <a:lstStyle/>
          <a:p>
            <a:endParaRPr lang="en-US"/>
          </a:p>
        </p:txBody>
      </p:sp>
      <p:sp>
        <p:nvSpPr>
          <p:cNvPr id="22" name="Text 20"/>
          <p:cNvSpPr/>
          <p:nvPr/>
        </p:nvSpPr>
        <p:spPr>
          <a:xfrm>
            <a:off x="5074890" y="1769046"/>
            <a:ext cx="4059882"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Scope</a:t>
            </a:r>
            <a:endParaRPr lang="en-US" sz="2000" dirty="0"/>
          </a:p>
        </p:txBody>
      </p:sp>
      <p:sp>
        <p:nvSpPr>
          <p:cNvPr id="23" name="Text 21"/>
          <p:cNvSpPr/>
          <p:nvPr/>
        </p:nvSpPr>
        <p:spPr>
          <a:xfrm>
            <a:off x="5074890" y="2272010"/>
            <a:ext cx="3338810" cy="2442865"/>
          </a:xfrm>
          <a:prstGeom prst="rect">
            <a:avLst/>
          </a:prstGeom>
          <a:noFill/>
          <a:ln/>
        </p:spPr>
        <p:txBody>
          <a:bodyPr wrap="square" lIns="0" tIns="0" rIns="0" bIns="0" rtlCol="0" anchor="t">
            <a:normAutofit/>
          </a:bodyPr>
          <a:lstStyle/>
          <a:p>
            <a:pPr marL="229362" indent="-229362"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U.S. domestic flights, January–December 2025</a:t>
            </a:r>
            <a:endParaRPr lang="en-US" sz="1500" dirty="0"/>
          </a:p>
          <a:p>
            <a:pPr marL="229362" indent="-229362"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Arrival delay ≥ 15 min as the target</a:t>
            </a:r>
            <a:endParaRPr lang="en-US" sz="1500" dirty="0"/>
          </a:p>
          <a:p>
            <a:pPr marL="229362" indent="-229362"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Schedule information only: no departure delay, no weather</a:t>
            </a:r>
            <a:endParaRPr lang="en-US" sz="1500" dirty="0"/>
          </a:p>
          <a:p>
            <a:pPr marL="229362" indent="-229362"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Google Colab (2 cores, ~12 GB RAM) with PySpark</a:t>
            </a:r>
            <a:endParaRPr lang="en-US" sz="1500" dirty="0"/>
          </a:p>
        </p:txBody>
      </p:sp>
      <p:pic>
        <p:nvPicPr>
          <p:cNvPr id="24"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PROCESS MODEL</a:t>
            </a:r>
            <a:endParaRPr lang="en-US" sz="4400" dirty="0"/>
          </a:p>
        </p:txBody>
      </p:sp>
      <p:sp>
        <p:nvSpPr>
          <p:cNvPr id="5" name="Text 3"/>
          <p:cNvSpPr/>
          <p:nvPr/>
        </p:nvSpPr>
        <p:spPr>
          <a:xfrm>
            <a:off x="365745" y="1311846"/>
            <a:ext cx="4206180" cy="609600"/>
          </a:xfrm>
          <a:prstGeom prst="rect">
            <a:avLst/>
          </a:prstGeom>
          <a:noFill/>
          <a:ln/>
        </p:spPr>
        <p:txBody>
          <a:bodyPr wrap="square" lIns="0" tIns="0" rIns="0" bIns="0" rtlCol="0" anchor="t">
            <a:normAutofit/>
          </a:bodyPr>
          <a:lstStyle/>
          <a:p>
            <a:pPr marL="0" indent="0" algn="l">
              <a:lnSpc>
                <a:spcPct val="125000"/>
              </a:lnSpc>
              <a:buNone/>
            </a:pPr>
            <a:r>
              <a:rPr lang="en-US" sz="1400" dirty="0">
                <a:solidFill>
                  <a:srgbClr val="5A5A5A"/>
                </a:solidFill>
                <a:latin typeface="Carlito" pitchFamily="34" charset="0"/>
                <a:ea typeface="Carlito" pitchFamily="34" charset="-122"/>
                <a:cs typeface="Carlito" pitchFamily="34" charset="-120"/>
              </a:rPr>
              <a:t>CRISP-DM (Wirth &amp; Hipp, 2000): an iterative data-science process</a:t>
            </a:r>
            <a:endParaRPr lang="en-US" sz="1400" dirty="0"/>
          </a:p>
        </p:txBody>
      </p:sp>
      <p:sp>
        <p:nvSpPr>
          <p:cNvPr id="6" name="Shape 4"/>
          <p:cNvSpPr/>
          <p:nvPr/>
        </p:nvSpPr>
        <p:spPr>
          <a:xfrm>
            <a:off x="1668735" y="1911028"/>
            <a:ext cx="1325835" cy="566886"/>
          </a:xfrm>
          <a:prstGeom prst="roundRect">
            <a:avLst>
              <a:gd name="adj" fmla="val 14410"/>
            </a:avLst>
          </a:prstGeom>
          <a:solidFill>
            <a:srgbClr val="621360"/>
          </a:solidFill>
          <a:ln/>
        </p:spPr>
        <p:txBody>
          <a:bodyPr/>
          <a:lstStyle/>
          <a:p>
            <a:endParaRPr lang="en-US"/>
          </a:p>
        </p:txBody>
      </p:sp>
      <p:sp>
        <p:nvSpPr>
          <p:cNvPr id="7" name="Text 5"/>
          <p:cNvSpPr/>
          <p:nvPr/>
        </p:nvSpPr>
        <p:spPr>
          <a:xfrm>
            <a:off x="1741884" y="1965871"/>
            <a:ext cx="1179537" cy="457200"/>
          </a:xfrm>
          <a:prstGeom prst="rect">
            <a:avLst/>
          </a:prstGeom>
          <a:noFill/>
          <a:ln/>
        </p:spPr>
        <p:txBody>
          <a:bodyPr wrap="square" lIns="0" tIns="0" rIns="0" bIns="0" rtlCol="0" anchor="t">
            <a:normAutofit/>
          </a:bodyPr>
          <a:lstStyle/>
          <a:p>
            <a:pPr marL="0" indent="0" algn="ctr">
              <a:lnSpc>
                <a:spcPct val="125000"/>
              </a:lnSpc>
              <a:buNone/>
            </a:pPr>
            <a:r>
              <a:rPr lang="en-US" sz="1200" b="1" dirty="0">
                <a:solidFill>
                  <a:srgbClr val="FFFFFF"/>
                </a:solidFill>
                <a:latin typeface="Carlito Bold" pitchFamily="34" charset="0"/>
                <a:ea typeface="Carlito Bold" pitchFamily="34" charset="-122"/>
                <a:cs typeface="Carlito Bold" pitchFamily="34" charset="-120"/>
              </a:rPr>
              <a:t>Business</a:t>
            </a:r>
            <a:endParaRPr lang="en-US" sz="1200" dirty="0"/>
          </a:p>
          <a:p>
            <a:pPr marL="0" indent="0" algn="ctr">
              <a:lnSpc>
                <a:spcPct val="125000"/>
              </a:lnSpc>
              <a:buNone/>
            </a:pPr>
            <a:r>
              <a:rPr lang="en-US" sz="1200" b="1" dirty="0">
                <a:solidFill>
                  <a:srgbClr val="FFFFFF"/>
                </a:solidFill>
                <a:latin typeface="Carlito Bold" pitchFamily="34" charset="0"/>
                <a:ea typeface="Carlito Bold" pitchFamily="34" charset="-122"/>
                <a:cs typeface="Carlito Bold" pitchFamily="34" charset="-120"/>
              </a:rPr>
              <a:t>understanding</a:t>
            </a:r>
            <a:endParaRPr lang="en-US" sz="1200" dirty="0"/>
          </a:p>
        </p:txBody>
      </p:sp>
      <p:sp>
        <p:nvSpPr>
          <p:cNvPr id="8" name="Shape 6"/>
          <p:cNvSpPr/>
          <p:nvPr/>
        </p:nvSpPr>
        <p:spPr>
          <a:xfrm rot="19800000">
            <a:off x="1927920" y="2367483"/>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9" name="Shape 7"/>
          <p:cNvSpPr/>
          <p:nvPr/>
        </p:nvSpPr>
        <p:spPr>
          <a:xfrm>
            <a:off x="3054548" y="2711128"/>
            <a:ext cx="1325835" cy="566886"/>
          </a:xfrm>
          <a:prstGeom prst="roundRect">
            <a:avLst>
              <a:gd name="adj" fmla="val 14410"/>
            </a:avLst>
          </a:prstGeom>
          <a:solidFill>
            <a:srgbClr val="00A0FF"/>
          </a:solidFill>
          <a:ln/>
        </p:spPr>
        <p:txBody>
          <a:bodyPr/>
          <a:lstStyle/>
          <a:p>
            <a:endParaRPr lang="en-US"/>
          </a:p>
        </p:txBody>
      </p:sp>
      <p:sp>
        <p:nvSpPr>
          <p:cNvPr id="10" name="Text 8"/>
          <p:cNvSpPr/>
          <p:nvPr/>
        </p:nvSpPr>
        <p:spPr>
          <a:xfrm>
            <a:off x="3127697" y="2727945"/>
            <a:ext cx="1179537" cy="533251"/>
          </a:xfrm>
          <a:prstGeom prst="rect">
            <a:avLst/>
          </a:prstGeom>
          <a:noFill/>
          <a:ln/>
        </p:spPr>
        <p:txBody>
          <a:bodyPr wrap="square" lIns="0" tIns="0" rIns="0" bIns="0" rtlCol="0" anchor="t">
            <a:normAutofit/>
          </a:bodyPr>
          <a:lstStyle/>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Data</a:t>
            </a:r>
            <a:endParaRPr lang="en-US" sz="1400" dirty="0"/>
          </a:p>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understanding</a:t>
            </a:r>
            <a:endParaRPr lang="en-US" sz="1400" dirty="0"/>
          </a:p>
        </p:txBody>
      </p:sp>
      <p:sp>
        <p:nvSpPr>
          <p:cNvPr id="12" name="Shape 10"/>
          <p:cNvSpPr/>
          <p:nvPr/>
        </p:nvSpPr>
        <p:spPr>
          <a:xfrm>
            <a:off x="3054548" y="4311328"/>
            <a:ext cx="1325835" cy="566886"/>
          </a:xfrm>
          <a:prstGeom prst="roundRect">
            <a:avLst>
              <a:gd name="adj" fmla="val 14410"/>
            </a:avLst>
          </a:prstGeom>
          <a:solidFill>
            <a:srgbClr val="00A0FF"/>
          </a:solidFill>
          <a:ln/>
        </p:spPr>
        <p:txBody>
          <a:bodyPr/>
          <a:lstStyle/>
          <a:p>
            <a:endParaRPr lang="en-US"/>
          </a:p>
        </p:txBody>
      </p:sp>
      <p:sp>
        <p:nvSpPr>
          <p:cNvPr id="13" name="Text 11"/>
          <p:cNvSpPr/>
          <p:nvPr/>
        </p:nvSpPr>
        <p:spPr>
          <a:xfrm>
            <a:off x="3127697" y="4328145"/>
            <a:ext cx="1179537" cy="533251"/>
          </a:xfrm>
          <a:prstGeom prst="rect">
            <a:avLst/>
          </a:prstGeom>
          <a:noFill/>
          <a:ln/>
        </p:spPr>
        <p:txBody>
          <a:bodyPr wrap="square" lIns="0" tIns="0" rIns="0" bIns="0" rtlCol="0" anchor="t">
            <a:normAutofit/>
          </a:bodyPr>
          <a:lstStyle/>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Data</a:t>
            </a:r>
            <a:endParaRPr lang="en-US" sz="1400" dirty="0"/>
          </a:p>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preparation</a:t>
            </a:r>
            <a:endParaRPr lang="en-US" sz="1400" dirty="0"/>
          </a:p>
        </p:txBody>
      </p:sp>
      <p:sp>
        <p:nvSpPr>
          <p:cNvPr id="14" name="Shape 12"/>
          <p:cNvSpPr/>
          <p:nvPr/>
        </p:nvSpPr>
        <p:spPr>
          <a:xfrm>
            <a:off x="1668735" y="5111428"/>
            <a:ext cx="1325835" cy="566886"/>
          </a:xfrm>
          <a:prstGeom prst="roundRect">
            <a:avLst>
              <a:gd name="adj" fmla="val 14410"/>
            </a:avLst>
          </a:prstGeom>
          <a:solidFill>
            <a:srgbClr val="621360"/>
          </a:solidFill>
          <a:ln/>
        </p:spPr>
        <p:txBody>
          <a:bodyPr/>
          <a:lstStyle/>
          <a:p>
            <a:endParaRPr lang="en-US"/>
          </a:p>
        </p:txBody>
      </p:sp>
      <p:sp>
        <p:nvSpPr>
          <p:cNvPr id="15" name="Text 13"/>
          <p:cNvSpPr/>
          <p:nvPr/>
        </p:nvSpPr>
        <p:spPr>
          <a:xfrm>
            <a:off x="1513284" y="5261521"/>
            <a:ext cx="1636737" cy="266626"/>
          </a:xfrm>
          <a:prstGeom prst="rect">
            <a:avLst/>
          </a:prstGeom>
          <a:noFill/>
          <a:ln/>
        </p:spPr>
        <p:txBody>
          <a:bodyPr wrap="none" lIns="0" tIns="0" rIns="0" bIns="0" rtlCol="0" anchor="t"/>
          <a:lstStyle/>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Modelling</a:t>
            </a:r>
            <a:endParaRPr lang="en-US" sz="1400" dirty="0"/>
          </a:p>
        </p:txBody>
      </p:sp>
      <p:sp>
        <p:nvSpPr>
          <p:cNvPr id="17" name="Shape 15"/>
          <p:cNvSpPr/>
          <p:nvPr/>
        </p:nvSpPr>
        <p:spPr>
          <a:xfrm>
            <a:off x="282922" y="4311328"/>
            <a:ext cx="1325835" cy="566886"/>
          </a:xfrm>
          <a:prstGeom prst="roundRect">
            <a:avLst>
              <a:gd name="adj" fmla="val 14410"/>
            </a:avLst>
          </a:prstGeom>
          <a:solidFill>
            <a:srgbClr val="621360"/>
          </a:solidFill>
          <a:ln/>
        </p:spPr>
        <p:txBody>
          <a:bodyPr/>
          <a:lstStyle/>
          <a:p>
            <a:endParaRPr lang="en-US"/>
          </a:p>
        </p:txBody>
      </p:sp>
      <p:sp>
        <p:nvSpPr>
          <p:cNvPr id="18" name="Text 16"/>
          <p:cNvSpPr/>
          <p:nvPr/>
        </p:nvSpPr>
        <p:spPr>
          <a:xfrm>
            <a:off x="127471" y="4461421"/>
            <a:ext cx="1636737" cy="266626"/>
          </a:xfrm>
          <a:prstGeom prst="rect">
            <a:avLst/>
          </a:prstGeom>
          <a:noFill/>
          <a:ln/>
        </p:spPr>
        <p:txBody>
          <a:bodyPr wrap="none" lIns="0" tIns="0" rIns="0" bIns="0" rtlCol="0" anchor="t"/>
          <a:lstStyle/>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Evaluation</a:t>
            </a:r>
            <a:endParaRPr lang="en-US" sz="1400" dirty="0"/>
          </a:p>
        </p:txBody>
      </p:sp>
      <p:sp>
        <p:nvSpPr>
          <p:cNvPr id="20" name="Shape 18"/>
          <p:cNvSpPr/>
          <p:nvPr/>
        </p:nvSpPr>
        <p:spPr>
          <a:xfrm>
            <a:off x="282922" y="2711128"/>
            <a:ext cx="1325835" cy="566886"/>
          </a:xfrm>
          <a:prstGeom prst="roundRect">
            <a:avLst>
              <a:gd name="adj" fmla="val 14410"/>
            </a:avLst>
          </a:prstGeom>
          <a:solidFill>
            <a:srgbClr val="3C023C"/>
          </a:solidFill>
          <a:ln/>
        </p:spPr>
        <p:txBody>
          <a:bodyPr/>
          <a:lstStyle/>
          <a:p>
            <a:endParaRPr lang="en-US"/>
          </a:p>
        </p:txBody>
      </p:sp>
      <p:sp>
        <p:nvSpPr>
          <p:cNvPr id="21" name="Text 19"/>
          <p:cNvSpPr/>
          <p:nvPr/>
        </p:nvSpPr>
        <p:spPr>
          <a:xfrm>
            <a:off x="356071" y="2727945"/>
            <a:ext cx="1179537" cy="533251"/>
          </a:xfrm>
          <a:prstGeom prst="rect">
            <a:avLst/>
          </a:prstGeom>
          <a:noFill/>
          <a:ln/>
        </p:spPr>
        <p:txBody>
          <a:bodyPr wrap="square" lIns="0" tIns="0" rIns="0" bIns="0" rtlCol="0" anchor="t">
            <a:normAutofit/>
          </a:bodyPr>
          <a:lstStyle/>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Deployment</a:t>
            </a:r>
            <a:endParaRPr lang="en-US" sz="1400" dirty="0"/>
          </a:p>
          <a:p>
            <a:pPr marL="0" indent="0" algn="ctr">
              <a:lnSpc>
                <a:spcPct val="125000"/>
              </a:lnSpc>
              <a:buNone/>
            </a:pPr>
            <a:r>
              <a:rPr lang="en-US" sz="1400" b="1" dirty="0">
                <a:solidFill>
                  <a:srgbClr val="FFFFFF"/>
                </a:solidFill>
                <a:latin typeface="Carlito Bold" pitchFamily="34" charset="0"/>
                <a:ea typeface="Carlito Bold" pitchFamily="34" charset="-122"/>
                <a:cs typeface="Carlito Bold" pitchFamily="34" charset="-120"/>
              </a:rPr>
              <a:t>(proposed)</a:t>
            </a:r>
            <a:endParaRPr lang="en-US" sz="1400" dirty="0"/>
          </a:p>
        </p:txBody>
      </p:sp>
      <p:sp>
        <p:nvSpPr>
          <p:cNvPr id="23" name="Shape 21"/>
          <p:cNvSpPr/>
          <p:nvPr/>
        </p:nvSpPr>
        <p:spPr>
          <a:xfrm>
            <a:off x="3707978" y="3378696"/>
            <a:ext cx="19050" cy="755898"/>
          </a:xfrm>
          <a:prstGeom prst="rect">
            <a:avLst/>
          </a:prstGeom>
          <a:solidFill>
            <a:srgbClr val="5A5A5A"/>
          </a:solidFill>
          <a:ln/>
        </p:spPr>
        <p:txBody>
          <a:bodyPr/>
          <a:lstStyle/>
          <a:p>
            <a:endParaRPr lang="en-US"/>
          </a:p>
        </p:txBody>
      </p:sp>
      <p:sp>
        <p:nvSpPr>
          <p:cNvPr id="24" name="Shape 22"/>
          <p:cNvSpPr/>
          <p:nvPr/>
        </p:nvSpPr>
        <p:spPr>
          <a:xfrm rot="5400000">
            <a:off x="3679403" y="4134594"/>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27" name="Shape 25"/>
          <p:cNvSpPr/>
          <p:nvPr/>
        </p:nvSpPr>
        <p:spPr>
          <a:xfrm>
            <a:off x="936352" y="3454896"/>
            <a:ext cx="19050" cy="755898"/>
          </a:xfrm>
          <a:prstGeom prst="rect">
            <a:avLst/>
          </a:prstGeom>
          <a:solidFill>
            <a:srgbClr val="5A5A5A"/>
          </a:solidFill>
          <a:ln/>
        </p:spPr>
        <p:txBody>
          <a:bodyPr/>
          <a:lstStyle/>
          <a:p>
            <a:endParaRPr lang="en-US"/>
          </a:p>
        </p:txBody>
      </p:sp>
      <p:sp>
        <p:nvSpPr>
          <p:cNvPr id="28" name="Shape 26"/>
          <p:cNvSpPr/>
          <p:nvPr/>
        </p:nvSpPr>
        <p:spPr>
          <a:xfrm rot="16200000">
            <a:off x="907777" y="3378696"/>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30" name="Shape 28"/>
          <p:cNvSpPr/>
          <p:nvPr/>
        </p:nvSpPr>
        <p:spPr>
          <a:xfrm>
            <a:off x="1828800" y="3291780"/>
            <a:ext cx="1005780" cy="1005780"/>
          </a:xfrm>
          <a:prstGeom prst="ellipse">
            <a:avLst/>
          </a:prstGeom>
          <a:solidFill>
            <a:srgbClr val="F4EFF4"/>
          </a:solidFill>
          <a:ln w="4763">
            <a:solidFill>
              <a:srgbClr val="D1D1D1"/>
            </a:solidFill>
            <a:prstDash val="solid"/>
          </a:ln>
        </p:spPr>
        <p:txBody>
          <a:bodyPr/>
          <a:lstStyle/>
          <a:p>
            <a:endParaRPr lang="en-US"/>
          </a:p>
        </p:txBody>
      </p:sp>
      <p:sp>
        <p:nvSpPr>
          <p:cNvPr id="31" name="Text 29"/>
          <p:cNvSpPr/>
          <p:nvPr/>
        </p:nvSpPr>
        <p:spPr>
          <a:xfrm>
            <a:off x="2065958" y="3366046"/>
            <a:ext cx="531465" cy="857250"/>
          </a:xfrm>
          <a:prstGeom prst="rect">
            <a:avLst/>
          </a:prstGeom>
          <a:noFill/>
          <a:ln/>
        </p:spPr>
        <p:txBody>
          <a:bodyPr wrap="square" lIns="0" tIns="0" rIns="0" bIns="0" rtlCol="0" anchor="t">
            <a:normAutofit/>
          </a:bodyPr>
          <a:lstStyle/>
          <a:p>
            <a:pPr marL="0" indent="0" algn="ctr">
              <a:lnSpc>
                <a:spcPct val="125000"/>
              </a:lnSpc>
              <a:buNone/>
            </a:pPr>
            <a:r>
              <a:rPr lang="en-US" sz="1500" b="1" dirty="0">
                <a:solidFill>
                  <a:srgbClr val="621360"/>
                </a:solidFill>
                <a:latin typeface="Carlito Bold" pitchFamily="34" charset="0"/>
                <a:ea typeface="Carlito Bold" pitchFamily="34" charset="-122"/>
                <a:cs typeface="Carlito Bold" pitchFamily="34" charset="-120"/>
              </a:rPr>
              <a:t>BTS</a:t>
            </a:r>
            <a:endParaRPr lang="en-US" sz="1500" dirty="0"/>
          </a:p>
          <a:p>
            <a:pPr marL="0" indent="0" algn="ctr">
              <a:lnSpc>
                <a:spcPct val="125000"/>
              </a:lnSpc>
              <a:buNone/>
            </a:pPr>
            <a:r>
              <a:rPr lang="en-US" sz="1500" b="1" dirty="0">
                <a:solidFill>
                  <a:srgbClr val="621360"/>
                </a:solidFill>
                <a:latin typeface="Carlito Bold" pitchFamily="34" charset="0"/>
                <a:ea typeface="Carlito Bold" pitchFamily="34" charset="-122"/>
                <a:cs typeface="Carlito Bold" pitchFamily="34" charset="-120"/>
              </a:rPr>
              <a:t>2025 data</a:t>
            </a:r>
            <a:endParaRPr lang="en-US" sz="1500" dirty="0"/>
          </a:p>
        </p:txBody>
      </p:sp>
      <p:sp>
        <p:nvSpPr>
          <p:cNvPr id="32" name="Text 30"/>
          <p:cNvSpPr/>
          <p:nvPr/>
        </p:nvSpPr>
        <p:spPr>
          <a:xfrm>
            <a:off x="4692487" y="1852673"/>
            <a:ext cx="4030935" cy="2755046"/>
          </a:xfrm>
          <a:prstGeom prst="rect">
            <a:avLst/>
          </a:prstGeom>
          <a:noFill/>
          <a:ln/>
        </p:spPr>
        <p:txBody>
          <a:bodyPr wrap="square" lIns="0" tIns="0" rIns="0" bIns="0" rtlCol="0" anchor="t">
            <a:normAutofit/>
          </a:bodyPr>
          <a:lstStyle/>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Business understanding: </a:t>
            </a:r>
            <a:r>
              <a:rPr lang="en-US" sz="1500" dirty="0">
                <a:solidFill>
                  <a:srgbClr val="1F1F1F"/>
                </a:solidFill>
                <a:latin typeface="Carlito" pitchFamily="34" charset="0"/>
                <a:ea typeface="Carlito" pitchFamily="34" charset="-122"/>
                <a:cs typeface="Carlito" pitchFamily="34" charset="-120"/>
              </a:rPr>
              <a:t>flag flights likely to arrive 15+ min late, before departure</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Data understanding: </a:t>
            </a:r>
            <a:r>
              <a:rPr lang="en-US" sz="1500" dirty="0">
                <a:solidFill>
                  <a:srgbClr val="1F1F1F"/>
                </a:solidFill>
                <a:latin typeface="Carlito" pitchFamily="34" charset="0"/>
                <a:ea typeface="Carlito" pitchFamily="34" charset="-122"/>
                <a:cs typeface="Carlito" pitchFamily="34" charset="-120"/>
              </a:rPr>
              <a:t>12 BTS files, data-quality profile, exploratory charts</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Data preparation: </a:t>
            </a:r>
            <a:r>
              <a:rPr lang="en-US" sz="1500" dirty="0">
                <a:solidFill>
                  <a:srgbClr val="1F1F1F"/>
                </a:solidFill>
                <a:latin typeface="Carlito" pitchFamily="34" charset="0"/>
                <a:ea typeface="Carlito" pitchFamily="34" charset="-122"/>
                <a:cs typeface="Carlito" pitchFamily="34" charset="-120"/>
              </a:rPr>
              <a:t>cleaning funnel, leakage control, 39 features</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Modelling: </a:t>
            </a:r>
            <a:r>
              <a:rPr lang="en-US" sz="1500" dirty="0">
                <a:solidFill>
                  <a:srgbClr val="1F1F1F"/>
                </a:solidFill>
                <a:latin typeface="Carlito" pitchFamily="34" charset="0"/>
                <a:ea typeface="Carlito" pitchFamily="34" charset="-122"/>
                <a:cs typeface="Carlito" pitchFamily="34" charset="-120"/>
              </a:rPr>
              <a:t>LR, Random Forest, GBT with 3-fold CV tuning</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Evaluation: </a:t>
            </a:r>
            <a:r>
              <a:rPr lang="en-US" sz="1500" dirty="0">
                <a:solidFill>
                  <a:srgbClr val="1F1F1F"/>
                </a:solidFill>
                <a:latin typeface="Carlito" pitchFamily="34" charset="0"/>
                <a:ea typeface="Carlito" pitchFamily="34" charset="-122"/>
                <a:cs typeface="Carlito" pitchFamily="34" charset="-120"/>
              </a:rPr>
              <a:t>test metrics, temporal test, feature importance</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Deployment (proposed): </a:t>
            </a:r>
            <a:r>
              <a:rPr lang="en-US" sz="1500" dirty="0">
                <a:solidFill>
                  <a:srgbClr val="1F1F1F"/>
                </a:solidFill>
                <a:latin typeface="Carlito" pitchFamily="34" charset="0"/>
                <a:ea typeface="Carlito" pitchFamily="34" charset="-122"/>
                <a:cs typeface="Carlito" pitchFamily="34" charset="-120"/>
              </a:rPr>
              <a:t>weather, Dataproc cluster, streaming</a:t>
            </a:r>
            <a:endParaRPr lang="en-US" sz="1500" dirty="0"/>
          </a:p>
        </p:txBody>
      </p:sp>
      <p:sp>
        <p:nvSpPr>
          <p:cNvPr id="33" name="Shape 31"/>
          <p:cNvSpPr/>
          <p:nvPr/>
        </p:nvSpPr>
        <p:spPr>
          <a:xfrm>
            <a:off x="4572000" y="5029200"/>
            <a:ext cx="4069035" cy="1092175"/>
          </a:xfrm>
          <a:prstGeom prst="roundRect">
            <a:avLst>
              <a:gd name="adj" fmla="val 8037"/>
            </a:avLst>
          </a:prstGeom>
          <a:solidFill>
            <a:srgbClr val="F4EFF4"/>
          </a:solidFill>
          <a:ln/>
        </p:spPr>
        <p:txBody>
          <a:bodyPr/>
          <a:lstStyle/>
          <a:p>
            <a:endParaRPr lang="en-US"/>
          </a:p>
        </p:txBody>
      </p:sp>
      <p:sp>
        <p:nvSpPr>
          <p:cNvPr id="34" name="Text 32"/>
          <p:cNvSpPr/>
          <p:nvPr/>
        </p:nvSpPr>
        <p:spPr>
          <a:xfrm>
            <a:off x="4754835" y="5066615"/>
            <a:ext cx="4149030" cy="243855"/>
          </a:xfrm>
          <a:prstGeom prst="rect">
            <a:avLst/>
          </a:prstGeom>
          <a:noFill/>
          <a:ln/>
        </p:spPr>
        <p:txBody>
          <a:bodyPr wrap="none" lIns="0" tIns="0" rIns="0" bIns="0" rtlCol="0" anchor="t"/>
          <a:lstStyle/>
          <a:p>
            <a:pPr marL="0" indent="0" algn="l">
              <a:lnSpc>
                <a:spcPct val="100000"/>
              </a:lnSpc>
              <a:buNone/>
            </a:pPr>
            <a:r>
              <a:rPr lang="en-US" sz="1600" b="1" dirty="0">
                <a:solidFill>
                  <a:srgbClr val="621360"/>
                </a:solidFill>
                <a:latin typeface="Carlito Bold" pitchFamily="34" charset="0"/>
                <a:ea typeface="Carlito Bold" pitchFamily="34" charset="-122"/>
                <a:cs typeface="Carlito Bold" pitchFamily="34" charset="-120"/>
              </a:rPr>
              <a:t>Iterations in this project</a:t>
            </a:r>
            <a:endParaRPr lang="en-US" sz="1600" dirty="0"/>
          </a:p>
        </p:txBody>
      </p:sp>
      <p:sp>
        <p:nvSpPr>
          <p:cNvPr id="35" name="Text 33"/>
          <p:cNvSpPr/>
          <p:nvPr/>
        </p:nvSpPr>
        <p:spPr>
          <a:xfrm>
            <a:off x="4754835" y="5380137"/>
            <a:ext cx="3691830" cy="685800"/>
          </a:xfrm>
          <a:prstGeom prst="rect">
            <a:avLst/>
          </a:prstGeom>
          <a:noFill/>
          <a:ln/>
        </p:spPr>
        <p:txBody>
          <a:bodyPr wrap="square" lIns="0" tIns="0" rIns="0" bIns="0" rtlCol="0" anchor="t">
            <a:normAutofit/>
          </a:bodyPr>
          <a:lstStyle/>
          <a:p>
            <a:pPr marL="0" indent="0" algn="l">
              <a:lnSpc>
                <a:spcPct val="100000"/>
              </a:lnSpc>
              <a:buNone/>
            </a:pPr>
            <a:r>
              <a:rPr lang="en-US" sz="1500" dirty="0">
                <a:solidFill>
                  <a:srgbClr val="1F1F1F"/>
                </a:solidFill>
                <a:latin typeface="Carlito" pitchFamily="34" charset="0"/>
                <a:ea typeface="Carlito" pitchFamily="34" charset="-122"/>
                <a:cs typeface="Carlito" pitchFamily="34" charset="-120"/>
              </a:rPr>
              <a:t>trial run → feature-label fix → full run → resume after disconnect → revision after review</a:t>
            </a:r>
            <a:endParaRPr lang="en-US" sz="1500" dirty="0"/>
          </a:p>
        </p:txBody>
      </p:sp>
      <p:pic>
        <p:nvPicPr>
          <p:cNvPr id="36" name="Image 0" descr="preencoded.png"/>
          <p:cNvPicPr>
            <a:picLocks noChangeAspect="1"/>
          </p:cNvPicPr>
          <p:nvPr/>
        </p:nvPicPr>
        <p:blipFill>
          <a:blip r:embed="rId3"/>
          <a:stretch>
            <a:fillRect/>
          </a:stretch>
        </p:blipFill>
        <p:spPr>
          <a:xfrm>
            <a:off x="471488" y="6225108"/>
            <a:ext cx="1298004" cy="461963"/>
          </a:xfrm>
          <a:prstGeom prst="rect">
            <a:avLst/>
          </a:prstGeom>
        </p:spPr>
      </p:pic>
      <p:sp>
        <p:nvSpPr>
          <p:cNvPr id="38" name="Connector 9">
            <a:extLst>
              <a:ext uri="{FF2B5EF4-FFF2-40B4-BE49-F238E27FC236}">
                <a16:creationId xmlns:a16="http://schemas.microsoft.com/office/drawing/2014/main" id="{21BB468D-60DA-B23E-74AF-7021B649F55C}"/>
              </a:ext>
            </a:extLst>
          </p:cNvPr>
          <p:cNvSpPr/>
          <p:nvPr/>
        </p:nvSpPr>
        <p:spPr>
          <a:xfrm>
            <a:off x="3093511" y="2113473"/>
            <a:ext cx="720720" cy="416160"/>
          </a:xfrm>
          <a:prstGeom prst="line">
            <a:avLst/>
          </a:prstGeom>
          <a:ln w="19050">
            <a:solidFill>
              <a:srgbClr val="5A5A5A"/>
            </a:solidFill>
            <a:round/>
            <a:tailEnd type="triangle" w="med" len="med"/>
          </a:ln>
        </p:spPr>
        <p:style>
          <a:lnRef idx="2">
            <a:schemeClr val="accent1"/>
          </a:lnRef>
          <a:fillRef idx="0">
            <a:schemeClr val="accent1"/>
          </a:fillRef>
          <a:effectRef idx="1">
            <a:schemeClr val="accent1"/>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0" name="Connector 11">
            <a:extLst>
              <a:ext uri="{FF2B5EF4-FFF2-40B4-BE49-F238E27FC236}">
                <a16:creationId xmlns:a16="http://schemas.microsoft.com/office/drawing/2014/main" id="{63DF893B-ABD9-D36E-E356-E28C54B058E4}"/>
              </a:ext>
            </a:extLst>
          </p:cNvPr>
          <p:cNvSpPr/>
          <p:nvPr/>
        </p:nvSpPr>
        <p:spPr>
          <a:xfrm flipH="1">
            <a:off x="3177405" y="5077554"/>
            <a:ext cx="720720" cy="416160"/>
          </a:xfrm>
          <a:prstGeom prst="line">
            <a:avLst/>
          </a:prstGeom>
          <a:ln w="19050">
            <a:solidFill>
              <a:srgbClr val="5A5A5A"/>
            </a:solidFill>
            <a:round/>
            <a:tailEnd type="triangle" w="med" len="med"/>
          </a:ln>
        </p:spPr>
        <p:style>
          <a:lnRef idx="2">
            <a:schemeClr val="accent1"/>
          </a:lnRef>
          <a:fillRef idx="0">
            <a:schemeClr val="accent1"/>
          </a:fillRef>
          <a:effectRef idx="1">
            <a:schemeClr val="accent1"/>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2" name="Connector 12">
            <a:extLst>
              <a:ext uri="{FF2B5EF4-FFF2-40B4-BE49-F238E27FC236}">
                <a16:creationId xmlns:a16="http://schemas.microsoft.com/office/drawing/2014/main" id="{71E20A1A-D84E-252B-1F53-7E7DA6405BDC}"/>
              </a:ext>
            </a:extLst>
          </p:cNvPr>
          <p:cNvSpPr/>
          <p:nvPr/>
        </p:nvSpPr>
        <p:spPr>
          <a:xfrm flipH="1" flipV="1">
            <a:off x="856440" y="5029200"/>
            <a:ext cx="720720" cy="416160"/>
          </a:xfrm>
          <a:prstGeom prst="line">
            <a:avLst/>
          </a:prstGeom>
          <a:ln w="19050">
            <a:solidFill>
              <a:srgbClr val="5A5A5A"/>
            </a:solidFill>
            <a:round/>
            <a:tailEnd type="triangle" w="med" len="med"/>
          </a:ln>
        </p:spPr>
        <p:style>
          <a:lnRef idx="2">
            <a:schemeClr val="accent1"/>
          </a:lnRef>
          <a:fillRef idx="0">
            <a:schemeClr val="accent1"/>
          </a:fillRef>
          <a:effectRef idx="1">
            <a:schemeClr val="accent1"/>
          </a:effectRef>
          <a:fontRef idx="minor"/>
        </p:style>
        <p:txBody>
          <a:bodyPr lIns="90000" tIns="45000" rIns="90000" bIns="45000" anchor="t" anchorCtr="1">
            <a:noAutofit/>
          </a:bodyPr>
          <a:lstStyle/>
          <a:p>
            <a:endParaRPr lang="en-US" sz="1800" b="0" u="none" strike="noStrike">
              <a:solidFill>
                <a:srgbClr val="000000"/>
              </a:solidFill>
              <a:effectLst/>
              <a:uFillTx/>
              <a:latin typeface="Arial"/>
            </a:endParaRPr>
          </a:p>
        </p:txBody>
      </p:sp>
      <p:sp>
        <p:nvSpPr>
          <p:cNvPr id="48" name="Connector 14">
            <a:extLst>
              <a:ext uri="{FF2B5EF4-FFF2-40B4-BE49-F238E27FC236}">
                <a16:creationId xmlns:a16="http://schemas.microsoft.com/office/drawing/2014/main" id="{2DECAD67-BEA7-4114-314F-F3A6CD134166}"/>
              </a:ext>
            </a:extLst>
          </p:cNvPr>
          <p:cNvSpPr/>
          <p:nvPr/>
        </p:nvSpPr>
        <p:spPr>
          <a:xfrm flipV="1">
            <a:off x="898545" y="2129991"/>
            <a:ext cx="720720" cy="416160"/>
          </a:xfrm>
          <a:prstGeom prst="line">
            <a:avLst/>
          </a:prstGeom>
          <a:ln w="19050">
            <a:solidFill>
              <a:srgbClr val="5A5A5A"/>
            </a:solidFill>
            <a:round/>
            <a:tailEnd type="triangle" w="med" len="med"/>
          </a:ln>
        </p:spPr>
        <p:style>
          <a:lnRef idx="2">
            <a:schemeClr val="accent1"/>
          </a:lnRef>
          <a:fillRef idx="0">
            <a:schemeClr val="accent1"/>
          </a:fillRef>
          <a:effectRef idx="1">
            <a:schemeClr val="accent1"/>
          </a:effectRef>
          <a:fontRef idx="minor"/>
        </p:style>
        <p:txBody>
          <a:bodyPr lIns="90000" tIns="45000" rIns="90000" bIns="45000" anchor="t" anchorCtr="1">
            <a:noAutofit/>
          </a:bodyPr>
          <a:lstStyle/>
          <a:p>
            <a:endParaRPr lang="en-US" sz="1800" b="0" u="none" strike="noStrike" dirty="0">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DATA SET USED</a:t>
            </a:r>
            <a:endParaRPr lang="en-US" sz="4400" dirty="0"/>
          </a:p>
        </p:txBody>
      </p:sp>
      <p:sp>
        <p:nvSpPr>
          <p:cNvPr id="5" name="Text 3"/>
          <p:cNvSpPr/>
          <p:nvPr/>
        </p:nvSpPr>
        <p:spPr>
          <a:xfrm>
            <a:off x="4491930" y="1593875"/>
            <a:ext cx="4320480" cy="342900"/>
          </a:xfrm>
          <a:prstGeom prst="rect">
            <a:avLst/>
          </a:prstGeom>
          <a:noFill/>
          <a:ln/>
        </p:spPr>
        <p:txBody>
          <a:bodyPr wrap="none" lIns="0" tIns="0" rIns="0" bIns="0" rtlCol="0" anchor="t"/>
          <a:lstStyle/>
          <a:p>
            <a:pPr marL="0" indent="0" algn="ctr">
              <a:lnSpc>
                <a:spcPct val="125000"/>
              </a:lnSpc>
              <a:buNone/>
            </a:pPr>
            <a:r>
              <a:rPr lang="en-US" sz="1800" b="1" dirty="0">
                <a:solidFill>
                  <a:srgbClr val="5A5A5A"/>
                </a:solidFill>
                <a:latin typeface="Carlito Bold" pitchFamily="34" charset="0"/>
                <a:ea typeface="Carlito Bold" pitchFamily="34" charset="-122"/>
                <a:cs typeface="Carlito Bold" pitchFamily="34" charset="-120"/>
              </a:rPr>
              <a:t>Class balance after cleaning</a:t>
            </a:r>
            <a:endParaRPr lang="en-US" sz="1800" dirty="0"/>
          </a:p>
        </p:txBody>
      </p:sp>
      <p:sp>
        <p:nvSpPr>
          <p:cNvPr id="6" name="Text 4"/>
          <p:cNvSpPr/>
          <p:nvPr/>
        </p:nvSpPr>
        <p:spPr>
          <a:xfrm>
            <a:off x="365745" y="1586210"/>
            <a:ext cx="4070375" cy="1670769"/>
          </a:xfrm>
          <a:prstGeom prst="rect">
            <a:avLst/>
          </a:prstGeom>
          <a:noFill/>
          <a:ln/>
        </p:spPr>
        <p:txBody>
          <a:bodyPr wrap="square" lIns="0" tIns="0" rIns="0" bIns="0" rtlCol="0" anchor="t">
            <a:noAutofit/>
          </a:bodyPr>
          <a:lstStyle/>
          <a:p>
            <a:pPr marL="229362" indent="-229362"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Source: </a:t>
            </a:r>
            <a:r>
              <a:rPr lang="en-US" sz="1500" dirty="0">
                <a:solidFill>
                  <a:srgbClr val="1F1F1F"/>
                </a:solidFill>
                <a:latin typeface="Carlito" pitchFamily="34" charset="0"/>
                <a:ea typeface="Carlito" pitchFamily="34" charset="-122"/>
                <a:cs typeface="Carlito" pitchFamily="34" charset="-120"/>
              </a:rPr>
              <a:t>BTS Reporting Carrier On-Time Performance, Jan–Dec 2025 (12 monthly CSVs, 3.17 GB, ~110 columns each).</a:t>
            </a:r>
            <a:endParaRPr lang="en-US" sz="1500" dirty="0"/>
          </a:p>
          <a:p>
            <a:pPr marL="229362" indent="-229362"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Size: </a:t>
            </a:r>
            <a:r>
              <a:rPr lang="en-US" sz="1500" dirty="0">
                <a:solidFill>
                  <a:srgbClr val="1F1F1F"/>
                </a:solidFill>
                <a:latin typeface="Carlito" pitchFamily="34" charset="0"/>
                <a:ea typeface="Carlito" pitchFamily="34" charset="-122"/>
                <a:cs typeface="Carlito" pitchFamily="34" charset="-120"/>
              </a:rPr>
              <a:t>7,001,619 flights; 6,879,483 after cleaning.</a:t>
            </a:r>
            <a:endParaRPr lang="en-US" sz="1500" dirty="0"/>
          </a:p>
          <a:p>
            <a:pPr marL="229362" indent="-229362"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Imbalanced: </a:t>
            </a:r>
            <a:r>
              <a:rPr lang="en-US" sz="1500" dirty="0">
                <a:solidFill>
                  <a:srgbClr val="1F1F1F"/>
                </a:solidFill>
                <a:latin typeface="Carlito" pitchFamily="34" charset="0"/>
                <a:ea typeface="Carlito" pitchFamily="34" charset="-122"/>
                <a:cs typeface="Carlito" pitchFamily="34" charset="-120"/>
              </a:rPr>
              <a:t>22.31% of flights are delayed, so always predicting 'on time' already scores 77.70% accuracy.</a:t>
            </a:r>
            <a:endParaRPr lang="en-US" sz="1500" dirty="0"/>
          </a:p>
        </p:txBody>
      </p:sp>
      <p:sp>
        <p:nvSpPr>
          <p:cNvPr id="7" name="Shape 5"/>
          <p:cNvSpPr/>
          <p:nvPr/>
        </p:nvSpPr>
        <p:spPr>
          <a:xfrm>
            <a:off x="365745" y="3977580"/>
            <a:ext cx="1920180" cy="822945"/>
          </a:xfrm>
          <a:prstGeom prst="roundRect">
            <a:avLst>
              <a:gd name="adj" fmla="val 9593"/>
            </a:avLst>
          </a:prstGeom>
          <a:solidFill>
            <a:srgbClr val="F4EFF4"/>
          </a:solidFill>
          <a:ln/>
        </p:spPr>
        <p:txBody>
          <a:bodyPr/>
          <a:lstStyle/>
          <a:p>
            <a:endParaRPr lang="en-US"/>
          </a:p>
        </p:txBody>
      </p:sp>
      <p:sp>
        <p:nvSpPr>
          <p:cNvPr id="8" name="Text 6"/>
          <p:cNvSpPr/>
          <p:nvPr/>
        </p:nvSpPr>
        <p:spPr>
          <a:xfrm>
            <a:off x="502890" y="4018508"/>
            <a:ext cx="2029941"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12</a:t>
            </a:r>
            <a:endParaRPr lang="en-US" sz="2000" dirty="0"/>
          </a:p>
        </p:txBody>
      </p:sp>
      <p:sp>
        <p:nvSpPr>
          <p:cNvPr id="9" name="Text 7"/>
          <p:cNvSpPr/>
          <p:nvPr/>
        </p:nvSpPr>
        <p:spPr>
          <a:xfrm>
            <a:off x="502890" y="4466555"/>
            <a:ext cx="2148780" cy="285750"/>
          </a:xfrm>
          <a:prstGeom prst="rect">
            <a:avLst/>
          </a:prstGeom>
          <a:noFill/>
          <a:ln/>
        </p:spPr>
        <p:txBody>
          <a:bodyPr wrap="none" lIns="0" tIns="0" rIns="0" bIns="0" rtlCol="0" anchor="t"/>
          <a:lstStyle/>
          <a:p>
            <a:pPr marL="0" indent="0" algn="l">
              <a:lnSpc>
                <a:spcPct val="125000"/>
              </a:lnSpc>
              <a:buNone/>
            </a:pPr>
            <a:r>
              <a:rPr lang="en-US" sz="1500" dirty="0">
                <a:solidFill>
                  <a:srgbClr val="5A5A5A"/>
                </a:solidFill>
                <a:latin typeface="Carlito" pitchFamily="34" charset="0"/>
                <a:ea typeface="Carlito" pitchFamily="34" charset="-122"/>
                <a:cs typeface="Carlito" pitchFamily="34" charset="-120"/>
              </a:rPr>
              <a:t>monthly files</a:t>
            </a:r>
            <a:endParaRPr lang="en-US" sz="1500" dirty="0"/>
          </a:p>
        </p:txBody>
      </p:sp>
      <p:sp>
        <p:nvSpPr>
          <p:cNvPr id="10" name="Shape 8"/>
          <p:cNvSpPr/>
          <p:nvPr/>
        </p:nvSpPr>
        <p:spPr>
          <a:xfrm>
            <a:off x="2423145" y="3977580"/>
            <a:ext cx="1920180" cy="822945"/>
          </a:xfrm>
          <a:prstGeom prst="roundRect">
            <a:avLst>
              <a:gd name="adj" fmla="val 9593"/>
            </a:avLst>
          </a:prstGeom>
          <a:solidFill>
            <a:srgbClr val="F4EFF4"/>
          </a:solidFill>
          <a:ln/>
        </p:spPr>
        <p:txBody>
          <a:bodyPr/>
          <a:lstStyle/>
          <a:p>
            <a:endParaRPr lang="en-US"/>
          </a:p>
        </p:txBody>
      </p:sp>
      <p:sp>
        <p:nvSpPr>
          <p:cNvPr id="11" name="Text 9"/>
          <p:cNvSpPr/>
          <p:nvPr/>
        </p:nvSpPr>
        <p:spPr>
          <a:xfrm>
            <a:off x="2560290" y="4018508"/>
            <a:ext cx="2029941"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3.17 GB</a:t>
            </a:r>
            <a:endParaRPr lang="en-US" sz="2000" dirty="0"/>
          </a:p>
        </p:txBody>
      </p:sp>
      <p:sp>
        <p:nvSpPr>
          <p:cNvPr id="12" name="Text 10"/>
          <p:cNvSpPr/>
          <p:nvPr/>
        </p:nvSpPr>
        <p:spPr>
          <a:xfrm>
            <a:off x="2560290" y="4466555"/>
            <a:ext cx="2148780" cy="285750"/>
          </a:xfrm>
          <a:prstGeom prst="rect">
            <a:avLst/>
          </a:prstGeom>
          <a:noFill/>
          <a:ln/>
        </p:spPr>
        <p:txBody>
          <a:bodyPr wrap="none" lIns="0" tIns="0" rIns="0" bIns="0" rtlCol="0" anchor="t"/>
          <a:lstStyle/>
          <a:p>
            <a:pPr marL="0" indent="0" algn="l">
              <a:lnSpc>
                <a:spcPct val="125000"/>
              </a:lnSpc>
              <a:buNone/>
            </a:pPr>
            <a:r>
              <a:rPr lang="en-US" sz="1500" dirty="0">
                <a:solidFill>
                  <a:srgbClr val="5A5A5A"/>
                </a:solidFill>
                <a:latin typeface="Carlito" pitchFamily="34" charset="0"/>
                <a:ea typeface="Carlito" pitchFamily="34" charset="-122"/>
                <a:cs typeface="Carlito" pitchFamily="34" charset="-120"/>
              </a:rPr>
              <a:t>raw CSV</a:t>
            </a:r>
            <a:endParaRPr lang="en-US" sz="1500" dirty="0"/>
          </a:p>
        </p:txBody>
      </p:sp>
      <p:sp>
        <p:nvSpPr>
          <p:cNvPr id="13" name="Shape 11"/>
          <p:cNvSpPr/>
          <p:nvPr/>
        </p:nvSpPr>
        <p:spPr>
          <a:xfrm>
            <a:off x="365745" y="4937745"/>
            <a:ext cx="1920180" cy="822945"/>
          </a:xfrm>
          <a:prstGeom prst="roundRect">
            <a:avLst>
              <a:gd name="adj" fmla="val 9593"/>
            </a:avLst>
          </a:prstGeom>
          <a:solidFill>
            <a:srgbClr val="F4EFF4"/>
          </a:solidFill>
          <a:ln/>
        </p:spPr>
        <p:txBody>
          <a:bodyPr/>
          <a:lstStyle/>
          <a:p>
            <a:endParaRPr lang="en-US"/>
          </a:p>
        </p:txBody>
      </p:sp>
      <p:sp>
        <p:nvSpPr>
          <p:cNvPr id="14" name="Text 12"/>
          <p:cNvSpPr/>
          <p:nvPr/>
        </p:nvSpPr>
        <p:spPr>
          <a:xfrm>
            <a:off x="502890" y="4978599"/>
            <a:ext cx="2029941"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17 / 110</a:t>
            </a:r>
            <a:endParaRPr lang="en-US" sz="2000" dirty="0"/>
          </a:p>
        </p:txBody>
      </p:sp>
      <p:sp>
        <p:nvSpPr>
          <p:cNvPr id="15" name="Text 13"/>
          <p:cNvSpPr/>
          <p:nvPr/>
        </p:nvSpPr>
        <p:spPr>
          <a:xfrm>
            <a:off x="502890" y="5426646"/>
            <a:ext cx="2148780" cy="285750"/>
          </a:xfrm>
          <a:prstGeom prst="rect">
            <a:avLst/>
          </a:prstGeom>
          <a:noFill/>
          <a:ln/>
        </p:spPr>
        <p:txBody>
          <a:bodyPr wrap="none" lIns="0" tIns="0" rIns="0" bIns="0" rtlCol="0" anchor="t"/>
          <a:lstStyle/>
          <a:p>
            <a:pPr marL="0" indent="0" algn="l">
              <a:lnSpc>
                <a:spcPct val="125000"/>
              </a:lnSpc>
              <a:buNone/>
            </a:pPr>
            <a:r>
              <a:rPr lang="en-US" sz="1500" dirty="0">
                <a:solidFill>
                  <a:srgbClr val="5A5A5A"/>
                </a:solidFill>
                <a:latin typeface="Carlito" pitchFamily="34" charset="0"/>
                <a:ea typeface="Carlito" pitchFamily="34" charset="-122"/>
                <a:cs typeface="Carlito" pitchFamily="34" charset="-120"/>
              </a:rPr>
              <a:t>columns kept</a:t>
            </a:r>
            <a:endParaRPr lang="en-US" sz="1500" dirty="0"/>
          </a:p>
        </p:txBody>
      </p:sp>
      <p:sp>
        <p:nvSpPr>
          <p:cNvPr id="16" name="Shape 14"/>
          <p:cNvSpPr/>
          <p:nvPr/>
        </p:nvSpPr>
        <p:spPr>
          <a:xfrm>
            <a:off x="2423145" y="4937745"/>
            <a:ext cx="1920180" cy="822945"/>
          </a:xfrm>
          <a:prstGeom prst="roundRect">
            <a:avLst>
              <a:gd name="adj" fmla="val 9593"/>
            </a:avLst>
          </a:prstGeom>
          <a:solidFill>
            <a:srgbClr val="F4EFF4"/>
          </a:solidFill>
          <a:ln/>
        </p:spPr>
        <p:txBody>
          <a:bodyPr/>
          <a:lstStyle/>
          <a:p>
            <a:endParaRPr lang="en-US"/>
          </a:p>
        </p:txBody>
      </p:sp>
      <p:sp>
        <p:nvSpPr>
          <p:cNvPr id="17" name="Text 15"/>
          <p:cNvSpPr/>
          <p:nvPr/>
        </p:nvSpPr>
        <p:spPr>
          <a:xfrm>
            <a:off x="2560290" y="4978599"/>
            <a:ext cx="2029941"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25.1x</a:t>
            </a:r>
            <a:endParaRPr lang="en-US" sz="2000" dirty="0"/>
          </a:p>
        </p:txBody>
      </p:sp>
      <p:sp>
        <p:nvSpPr>
          <p:cNvPr id="18" name="Text 16"/>
          <p:cNvSpPr/>
          <p:nvPr/>
        </p:nvSpPr>
        <p:spPr>
          <a:xfrm>
            <a:off x="2560290" y="5426646"/>
            <a:ext cx="2148780" cy="285750"/>
          </a:xfrm>
          <a:prstGeom prst="rect">
            <a:avLst/>
          </a:prstGeom>
          <a:noFill/>
          <a:ln/>
        </p:spPr>
        <p:txBody>
          <a:bodyPr wrap="none" lIns="0" tIns="0" rIns="0" bIns="0" rtlCol="0" anchor="t"/>
          <a:lstStyle/>
          <a:p>
            <a:pPr marL="0" indent="0" algn="l">
              <a:lnSpc>
                <a:spcPct val="125000"/>
              </a:lnSpc>
              <a:buNone/>
            </a:pPr>
            <a:r>
              <a:rPr lang="en-US" sz="1500" dirty="0">
                <a:solidFill>
                  <a:srgbClr val="5A5A5A"/>
                </a:solidFill>
                <a:latin typeface="Carlito" pitchFamily="34" charset="0"/>
                <a:ea typeface="Carlito" pitchFamily="34" charset="-122"/>
                <a:cs typeface="Carlito" pitchFamily="34" charset="-120"/>
              </a:rPr>
              <a:t>faster on Parquet</a:t>
            </a:r>
            <a:endParaRPr lang="en-US" sz="1500" dirty="0"/>
          </a:p>
        </p:txBody>
      </p:sp>
      <p:sp>
        <p:nvSpPr>
          <p:cNvPr id="20" name="Text 17"/>
          <p:cNvSpPr/>
          <p:nvPr/>
        </p:nvSpPr>
        <p:spPr>
          <a:xfrm>
            <a:off x="2103165" y="6481291"/>
            <a:ext cx="7040835" cy="247650"/>
          </a:xfrm>
          <a:prstGeom prst="rect">
            <a:avLst/>
          </a:prstGeom>
          <a:noFill/>
          <a:ln/>
        </p:spPr>
        <p:txBody>
          <a:bodyPr wrap="none" lIns="0" tIns="0" rIns="0" bIns="0" rtlCol="0" anchor="t"/>
          <a:lstStyle/>
          <a:p>
            <a:pPr marL="0" indent="0" algn="l">
              <a:lnSpc>
                <a:spcPct val="125000"/>
              </a:lnSpc>
              <a:buNone/>
            </a:pPr>
            <a:r>
              <a:rPr lang="en-US" sz="1300" dirty="0">
                <a:solidFill>
                  <a:srgbClr val="5A5A5A"/>
                </a:solidFill>
                <a:latin typeface="Carlito" pitchFamily="34" charset="0"/>
                <a:ea typeface="Carlito" pitchFamily="34" charset="-122"/>
                <a:cs typeface="Carlito" pitchFamily="34" charset="-120"/>
              </a:rPr>
              <a:t>Source: Bureau of Transportation Statistics (2026), Reporting Carrier On-Time Performance.</a:t>
            </a:r>
            <a:endParaRPr lang="en-US" sz="1300" dirty="0"/>
          </a:p>
        </p:txBody>
      </p:sp>
      <p:pic>
        <p:nvPicPr>
          <p:cNvPr id="21" name="Image 1" descr="preencoded.png"/>
          <p:cNvPicPr>
            <a:picLocks noChangeAspect="1"/>
          </p:cNvPicPr>
          <p:nvPr/>
        </p:nvPicPr>
        <p:blipFill>
          <a:blip r:embed="rId3"/>
          <a:stretch>
            <a:fillRect/>
          </a:stretch>
        </p:blipFill>
        <p:spPr>
          <a:xfrm>
            <a:off x="471488" y="6225108"/>
            <a:ext cx="1298004" cy="461963"/>
          </a:xfrm>
          <a:prstGeom prst="rect">
            <a:avLst/>
          </a:prstGeom>
        </p:spPr>
      </p:pic>
      <p:graphicFrame>
        <p:nvGraphicFramePr>
          <p:cNvPr id="23" name="Chart 15">
            <a:extLst>
              <a:ext uri="{FF2B5EF4-FFF2-40B4-BE49-F238E27FC236}">
                <a16:creationId xmlns:a16="http://schemas.microsoft.com/office/drawing/2014/main" id="{EF794ECE-C38D-9825-9C46-5251CBCD1A7E}"/>
              </a:ext>
            </a:extLst>
          </p:cNvPr>
          <p:cNvGraphicFramePr/>
          <p:nvPr>
            <p:extLst>
              <p:ext uri="{D42A27DB-BD31-4B8C-83A1-F6EECF244321}">
                <p14:modId xmlns:p14="http://schemas.microsoft.com/office/powerpoint/2010/main" val="1716078201"/>
              </p:ext>
            </p:extLst>
          </p:nvPr>
        </p:nvGraphicFramePr>
        <p:xfrm>
          <a:off x="4760010" y="2005897"/>
          <a:ext cx="3977280" cy="4297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SPARK INGESTION</a:t>
            </a:r>
            <a:endParaRPr lang="en-US" sz="4400" dirty="0"/>
          </a:p>
        </p:txBody>
      </p:sp>
      <p:pic>
        <p:nvPicPr>
          <p:cNvPr id="5" name="Image 0" descr="preencoded.png"/>
          <p:cNvPicPr>
            <a:picLocks noChangeAspect="1"/>
          </p:cNvPicPr>
          <p:nvPr/>
        </p:nvPicPr>
        <p:blipFill>
          <a:blip r:embed="rId3"/>
          <a:stretch>
            <a:fillRect/>
          </a:stretch>
        </p:blipFill>
        <p:spPr>
          <a:xfrm>
            <a:off x="487263" y="1462980"/>
            <a:ext cx="8032179" cy="4069035"/>
          </a:xfrm>
          <a:prstGeom prst="rect">
            <a:avLst/>
          </a:prstGeom>
        </p:spPr>
      </p:pic>
      <p:sp>
        <p:nvSpPr>
          <p:cNvPr id="6" name="Text 3"/>
          <p:cNvSpPr/>
          <p:nvPr/>
        </p:nvSpPr>
        <p:spPr>
          <a:xfrm>
            <a:off x="137145" y="5709865"/>
            <a:ext cx="8732490" cy="323776"/>
          </a:xfrm>
          <a:prstGeom prst="rect">
            <a:avLst/>
          </a:prstGeom>
          <a:noFill/>
          <a:ln/>
        </p:spPr>
        <p:txBody>
          <a:bodyPr wrap="none" lIns="0" tIns="0" rIns="0" bIns="0" rtlCol="0" anchor="t"/>
          <a:lstStyle/>
          <a:p>
            <a:pPr marL="0" indent="0" algn="ctr">
              <a:lnSpc>
                <a:spcPct val="125000"/>
              </a:lnSpc>
              <a:buNone/>
            </a:pPr>
            <a:r>
              <a:rPr lang="en-US" sz="1600" dirty="0">
                <a:solidFill>
                  <a:srgbClr val="5A5A5A"/>
                </a:solidFill>
                <a:latin typeface="Carlito" pitchFamily="34" charset="0"/>
                <a:ea typeface="Carlito" pitchFamily="34" charset="-122"/>
                <a:cs typeface="Carlito" pitchFamily="34" charset="-120"/>
              </a:rPr>
              <a:t>All 12 files found · 7,001,619 raw flights · same query: 25.1x faster on Parquet vs CSV</a:t>
            </a:r>
            <a:endParaRPr lang="en-US" sz="1600" dirty="0"/>
          </a:p>
        </p:txBody>
      </p:sp>
      <p:pic>
        <p:nvPicPr>
          <p:cNvPr id="7" name="Image 1" descr="preencoded.png"/>
          <p:cNvPicPr>
            <a:picLocks noChangeAspect="1"/>
          </p:cNvPicPr>
          <p:nvPr/>
        </p:nvPicPr>
        <p:blipFill>
          <a:blip r:embed="rId4"/>
          <a:stretch>
            <a:fillRect/>
          </a:stretch>
        </p:blipFill>
        <p:spPr>
          <a:xfrm>
            <a:off x="471488" y="6225108"/>
            <a:ext cx="1298004" cy="4619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EXPLORATORY ANALYSIS</a:t>
            </a:r>
            <a:endParaRPr lang="en-US" sz="4400" dirty="0"/>
          </a:p>
        </p:txBody>
      </p:sp>
      <p:pic>
        <p:nvPicPr>
          <p:cNvPr id="5" name="Image 0" descr="preencoded.png"/>
          <p:cNvPicPr>
            <a:picLocks noChangeAspect="1"/>
          </p:cNvPicPr>
          <p:nvPr/>
        </p:nvPicPr>
        <p:blipFill>
          <a:blip r:embed="rId3"/>
          <a:stretch>
            <a:fillRect/>
          </a:stretch>
        </p:blipFill>
        <p:spPr>
          <a:xfrm>
            <a:off x="365745" y="1821656"/>
            <a:ext cx="4069035" cy="2574503"/>
          </a:xfrm>
          <a:prstGeom prst="rect">
            <a:avLst/>
          </a:prstGeom>
        </p:spPr>
      </p:pic>
      <p:pic>
        <p:nvPicPr>
          <p:cNvPr id="6" name="Image 1" descr="preencoded.png"/>
          <p:cNvPicPr>
            <a:picLocks noChangeAspect="1"/>
          </p:cNvPicPr>
          <p:nvPr/>
        </p:nvPicPr>
        <p:blipFill>
          <a:blip r:embed="rId4"/>
          <a:stretch>
            <a:fillRect/>
          </a:stretch>
        </p:blipFill>
        <p:spPr>
          <a:xfrm>
            <a:off x="4526235" y="2027634"/>
            <a:ext cx="4114800" cy="2162398"/>
          </a:xfrm>
          <a:prstGeom prst="rect">
            <a:avLst/>
          </a:prstGeom>
        </p:spPr>
      </p:pic>
      <p:sp>
        <p:nvSpPr>
          <p:cNvPr id="7" name="Text 3"/>
          <p:cNvSpPr/>
          <p:nvPr/>
        </p:nvSpPr>
        <p:spPr>
          <a:xfrm>
            <a:off x="365745" y="4740846"/>
            <a:ext cx="8230865" cy="741387"/>
          </a:xfrm>
          <a:prstGeom prst="rect">
            <a:avLst/>
          </a:prstGeom>
          <a:noFill/>
          <a:ln/>
        </p:spPr>
        <p:txBody>
          <a:bodyPr wrap="square" lIns="0" tIns="0" rIns="0" bIns="0" rtlCol="0" anchor="t">
            <a:normAutofit/>
          </a:bodyPr>
          <a:lstStyle/>
          <a:p>
            <a:pPr marL="229362" indent="-229362"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Delays build through the day: </a:t>
            </a:r>
            <a:r>
              <a:rPr lang="en-US" sz="1500" dirty="0">
                <a:solidFill>
                  <a:srgbClr val="1F1F1F"/>
                </a:solidFill>
                <a:latin typeface="Carlito" pitchFamily="34" charset="0"/>
                <a:ea typeface="Carlito" pitchFamily="34" charset="-122"/>
                <a:cs typeface="Carlito" pitchFamily="34" charset="-120"/>
              </a:rPr>
              <a:t>about 9% of 5am departures arrive late, rising to about 33% at 7pm.</a:t>
            </a:r>
            <a:endParaRPr lang="en-US" sz="1500" dirty="0"/>
          </a:p>
          <a:p>
            <a:pPr marL="229362" indent="-229362"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Delays propagate along the aircraft: </a:t>
            </a:r>
            <a:r>
              <a:rPr lang="en-US" sz="1500" dirty="0">
                <a:solidFill>
                  <a:srgbClr val="1F1F1F"/>
                </a:solidFill>
                <a:latin typeface="Carlito" pitchFamily="34" charset="0"/>
                <a:ea typeface="Carlito" pitchFamily="34" charset="-122"/>
                <a:cs typeface="Carlito" pitchFamily="34" charset="-120"/>
              </a:rPr>
              <a:t>an aircraft's 1st leg is late ~15% of the time, its 7th ~34%; turnarounds under 40 minutes give a 38% delay rate.</a:t>
            </a:r>
            <a:endParaRPr lang="en-US" sz="1500" dirty="0"/>
          </a:p>
        </p:txBody>
      </p:sp>
      <p:pic>
        <p:nvPicPr>
          <p:cNvPr id="8" name="Image 2" descr="preencoded.png"/>
          <p:cNvPicPr>
            <a:picLocks noChangeAspect="1"/>
          </p:cNvPicPr>
          <p:nvPr/>
        </p:nvPicPr>
        <p:blipFill>
          <a:blip r:embed="rId5"/>
          <a:stretch>
            <a:fillRect/>
          </a:stretch>
        </p:blipFill>
        <p:spPr>
          <a:xfrm>
            <a:off x="471488" y="6225108"/>
            <a:ext cx="1298004" cy="4619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ARCHITECTURE DESIGN</a:t>
            </a:r>
            <a:endParaRPr lang="en-US" sz="4400" dirty="0"/>
          </a:p>
        </p:txBody>
      </p:sp>
      <p:pic>
        <p:nvPicPr>
          <p:cNvPr id="5" name="Image 0" descr="preencoded.png"/>
          <p:cNvPicPr>
            <a:picLocks noChangeAspect="1"/>
          </p:cNvPicPr>
          <p:nvPr/>
        </p:nvPicPr>
        <p:blipFill>
          <a:blip r:embed="rId3"/>
          <a:stretch>
            <a:fillRect/>
          </a:stretch>
        </p:blipFill>
        <p:spPr>
          <a:xfrm>
            <a:off x="365745" y="1829172"/>
            <a:ext cx="8275290" cy="3382640"/>
          </a:xfrm>
          <a:prstGeom prst="rect">
            <a:avLst/>
          </a:prstGeom>
        </p:spPr>
      </p:pic>
      <p:sp>
        <p:nvSpPr>
          <p:cNvPr id="6" name="Text 3"/>
          <p:cNvSpPr/>
          <p:nvPr/>
        </p:nvSpPr>
        <p:spPr>
          <a:xfrm>
            <a:off x="365745" y="5563865"/>
            <a:ext cx="8275290" cy="609600"/>
          </a:xfrm>
          <a:prstGeom prst="rect">
            <a:avLst/>
          </a:prstGeom>
          <a:noFill/>
          <a:ln/>
        </p:spPr>
        <p:txBody>
          <a:bodyPr wrap="square" lIns="0" tIns="0" rIns="0" bIns="0" rtlCol="0" anchor="t">
            <a:normAutofit/>
          </a:bodyPr>
          <a:lstStyle/>
          <a:p>
            <a:pPr marL="0" indent="0" algn="ctr">
              <a:lnSpc>
                <a:spcPct val="125000"/>
              </a:lnSpc>
              <a:buNone/>
            </a:pPr>
            <a:r>
              <a:rPr lang="en-US" sz="1600" dirty="0">
                <a:solidFill>
                  <a:srgbClr val="5A5A5A"/>
                </a:solidFill>
                <a:latin typeface="Carlito" pitchFamily="34" charset="0"/>
                <a:ea typeface="Carlito" pitchFamily="34" charset="-122"/>
                <a:cs typeface="Carlito" pitchFamily="34" charset="-120"/>
              </a:rPr>
              <a:t>Google Colab · PySpark 4.0.4 · Spark SQL / DataFrames for processing · Spark MLlib for modelling · Parquet checkpoint in Google Drive</a:t>
            </a:r>
            <a:endParaRPr lang="en-US" sz="1600" dirty="0"/>
          </a:p>
        </p:txBody>
      </p:sp>
      <p:pic>
        <p:nvPicPr>
          <p:cNvPr id="7" name="Image 1" descr="preencoded.png"/>
          <p:cNvPicPr>
            <a:picLocks noChangeAspect="1"/>
          </p:cNvPicPr>
          <p:nvPr/>
        </p:nvPicPr>
        <p:blipFill>
          <a:blip r:embed="rId4"/>
          <a:stretch>
            <a:fillRect/>
          </a:stretch>
        </p:blipFill>
        <p:spPr>
          <a:xfrm>
            <a:off x="471488" y="6225108"/>
            <a:ext cx="1298004" cy="4619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TECHNOLOGY USED</a:t>
            </a:r>
            <a:endParaRPr lang="en-US" sz="4400" dirty="0"/>
          </a:p>
        </p:txBody>
      </p:sp>
      <p:sp>
        <p:nvSpPr>
          <p:cNvPr id="5" name="Shape 3"/>
          <p:cNvSpPr/>
          <p:nvPr/>
        </p:nvSpPr>
        <p:spPr>
          <a:xfrm>
            <a:off x="502890" y="1874490"/>
            <a:ext cx="2468835" cy="1737345"/>
          </a:xfrm>
          <a:prstGeom prst="roundRect">
            <a:avLst>
              <a:gd name="adj" fmla="val 7202"/>
            </a:avLst>
          </a:prstGeom>
          <a:solidFill>
            <a:srgbClr val="FFFFFF"/>
          </a:solidFill>
          <a:ln w="9525">
            <a:solidFill>
              <a:srgbClr val="D1D1D1"/>
            </a:solidFill>
            <a:prstDash val="solid"/>
          </a:ln>
        </p:spPr>
        <p:txBody>
          <a:bodyPr/>
          <a:lstStyle/>
          <a:p>
            <a:endParaRPr lang="en-US"/>
          </a:p>
        </p:txBody>
      </p:sp>
      <p:sp>
        <p:nvSpPr>
          <p:cNvPr id="6" name="Text 4"/>
          <p:cNvSpPr/>
          <p:nvPr/>
        </p:nvSpPr>
        <p:spPr>
          <a:xfrm>
            <a:off x="731490" y="2046034"/>
            <a:ext cx="2413992" cy="457200"/>
          </a:xfrm>
          <a:prstGeom prst="rect">
            <a:avLst/>
          </a:prstGeom>
          <a:noFill/>
          <a:ln/>
        </p:spPr>
        <p:txBody>
          <a:bodyPr wrap="none" lIns="0" tIns="0" rIns="0" bIns="0" rtlCol="0" anchor="t"/>
          <a:lstStyle/>
          <a:p>
            <a:pPr marL="0" indent="0" algn="l">
              <a:lnSpc>
                <a:spcPct val="100000"/>
              </a:lnSpc>
              <a:buNone/>
            </a:pPr>
            <a:r>
              <a:rPr lang="en-US" sz="3000" dirty="0">
                <a:solidFill>
                  <a:srgbClr val="6997AF"/>
                </a:solidFill>
                <a:latin typeface="Carlito" pitchFamily="34" charset="0"/>
                <a:ea typeface="Carlito" pitchFamily="34" charset="-122"/>
                <a:cs typeface="Carlito" pitchFamily="34" charset="-120"/>
              </a:rPr>
              <a:t>01</a:t>
            </a:r>
            <a:endParaRPr lang="en-US" sz="3000" dirty="0"/>
          </a:p>
        </p:txBody>
      </p:sp>
      <p:sp>
        <p:nvSpPr>
          <p:cNvPr id="7" name="Text 5"/>
          <p:cNvSpPr/>
          <p:nvPr/>
        </p:nvSpPr>
        <p:spPr>
          <a:xfrm>
            <a:off x="731490" y="2729210"/>
            <a:ext cx="2468835" cy="361950"/>
          </a:xfrm>
          <a:prstGeom prst="rect">
            <a:avLst/>
          </a:prstGeom>
          <a:noFill/>
          <a:ln/>
        </p:spPr>
        <p:txBody>
          <a:bodyPr wrap="none" lIns="0" tIns="0" rIns="0" bIns="0" rtlCol="0" anchor="t"/>
          <a:lstStyle/>
          <a:p>
            <a:pPr marL="0" indent="0" algn="l">
              <a:lnSpc>
                <a:spcPct val="125000"/>
              </a:lnSpc>
              <a:buNone/>
            </a:pPr>
            <a:r>
              <a:rPr lang="en-US" sz="1900" b="1" dirty="0">
                <a:solidFill>
                  <a:srgbClr val="1F1F1F"/>
                </a:solidFill>
                <a:latin typeface="Carlito Bold" pitchFamily="34" charset="0"/>
                <a:ea typeface="Carlito Bold" pitchFamily="34" charset="-122"/>
                <a:cs typeface="Carlito Bold" pitchFamily="34" charset="-120"/>
              </a:rPr>
              <a:t>Apache Spark</a:t>
            </a:r>
            <a:endParaRPr lang="en-US" sz="1900" dirty="0"/>
          </a:p>
        </p:txBody>
      </p:sp>
      <p:sp>
        <p:nvSpPr>
          <p:cNvPr id="8" name="Text 6"/>
          <p:cNvSpPr/>
          <p:nvPr/>
        </p:nvSpPr>
        <p:spPr>
          <a:xfrm>
            <a:off x="731490" y="3140646"/>
            <a:ext cx="2468835"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PySpark 4.0.4</a:t>
            </a:r>
            <a:endParaRPr lang="en-US" sz="1600" dirty="0"/>
          </a:p>
        </p:txBody>
      </p:sp>
      <p:sp>
        <p:nvSpPr>
          <p:cNvPr id="9" name="Shape 7"/>
          <p:cNvSpPr/>
          <p:nvPr/>
        </p:nvSpPr>
        <p:spPr>
          <a:xfrm>
            <a:off x="3246090" y="1874490"/>
            <a:ext cx="2468835" cy="1737345"/>
          </a:xfrm>
          <a:prstGeom prst="roundRect">
            <a:avLst>
              <a:gd name="adj" fmla="val 7202"/>
            </a:avLst>
          </a:prstGeom>
          <a:solidFill>
            <a:srgbClr val="FFFFFF"/>
          </a:solidFill>
          <a:ln w="9525">
            <a:solidFill>
              <a:srgbClr val="D1D1D1"/>
            </a:solidFill>
            <a:prstDash val="solid"/>
          </a:ln>
        </p:spPr>
        <p:txBody>
          <a:bodyPr/>
          <a:lstStyle/>
          <a:p>
            <a:endParaRPr lang="en-US"/>
          </a:p>
        </p:txBody>
      </p:sp>
      <p:sp>
        <p:nvSpPr>
          <p:cNvPr id="10" name="Text 8"/>
          <p:cNvSpPr/>
          <p:nvPr/>
        </p:nvSpPr>
        <p:spPr>
          <a:xfrm>
            <a:off x="3474690" y="2046034"/>
            <a:ext cx="2413992" cy="457200"/>
          </a:xfrm>
          <a:prstGeom prst="rect">
            <a:avLst/>
          </a:prstGeom>
          <a:noFill/>
          <a:ln/>
        </p:spPr>
        <p:txBody>
          <a:bodyPr wrap="none" lIns="0" tIns="0" rIns="0" bIns="0" rtlCol="0" anchor="t"/>
          <a:lstStyle/>
          <a:p>
            <a:pPr marL="0" indent="0" algn="l">
              <a:lnSpc>
                <a:spcPct val="100000"/>
              </a:lnSpc>
              <a:buNone/>
            </a:pPr>
            <a:r>
              <a:rPr lang="en-US" sz="3000" dirty="0">
                <a:solidFill>
                  <a:srgbClr val="6997AF"/>
                </a:solidFill>
                <a:latin typeface="Carlito" pitchFamily="34" charset="0"/>
                <a:ea typeface="Carlito" pitchFamily="34" charset="-122"/>
                <a:cs typeface="Carlito" pitchFamily="34" charset="-120"/>
              </a:rPr>
              <a:t>02</a:t>
            </a:r>
            <a:endParaRPr lang="en-US" sz="3000" dirty="0"/>
          </a:p>
        </p:txBody>
      </p:sp>
      <p:sp>
        <p:nvSpPr>
          <p:cNvPr id="11" name="Text 9"/>
          <p:cNvSpPr/>
          <p:nvPr/>
        </p:nvSpPr>
        <p:spPr>
          <a:xfrm>
            <a:off x="3474690" y="2729210"/>
            <a:ext cx="2468835" cy="361950"/>
          </a:xfrm>
          <a:prstGeom prst="rect">
            <a:avLst/>
          </a:prstGeom>
          <a:noFill/>
          <a:ln/>
        </p:spPr>
        <p:txBody>
          <a:bodyPr wrap="none" lIns="0" tIns="0" rIns="0" bIns="0" rtlCol="0" anchor="t"/>
          <a:lstStyle/>
          <a:p>
            <a:pPr marL="0" indent="0" algn="l">
              <a:lnSpc>
                <a:spcPct val="125000"/>
              </a:lnSpc>
              <a:buNone/>
            </a:pPr>
            <a:r>
              <a:rPr lang="en-US" sz="1900" b="1" dirty="0">
                <a:solidFill>
                  <a:srgbClr val="1F1F1F"/>
                </a:solidFill>
                <a:latin typeface="Carlito Bold" pitchFamily="34" charset="0"/>
                <a:ea typeface="Carlito Bold" pitchFamily="34" charset="-122"/>
                <a:cs typeface="Carlito Bold" pitchFamily="34" charset="-120"/>
              </a:rPr>
              <a:t>Spark MLlib</a:t>
            </a:r>
            <a:endParaRPr lang="en-US" sz="1900" dirty="0"/>
          </a:p>
        </p:txBody>
      </p:sp>
      <p:sp>
        <p:nvSpPr>
          <p:cNvPr id="12" name="Text 10"/>
          <p:cNvSpPr/>
          <p:nvPr/>
        </p:nvSpPr>
        <p:spPr>
          <a:xfrm>
            <a:off x="3474690" y="3140646"/>
            <a:ext cx="2468835"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LR · RF · GBT</a:t>
            </a:r>
            <a:endParaRPr lang="en-US" sz="1600" dirty="0"/>
          </a:p>
        </p:txBody>
      </p:sp>
      <p:sp>
        <p:nvSpPr>
          <p:cNvPr id="13" name="Shape 11"/>
          <p:cNvSpPr/>
          <p:nvPr/>
        </p:nvSpPr>
        <p:spPr>
          <a:xfrm>
            <a:off x="5989290" y="1874490"/>
            <a:ext cx="2468835" cy="1737345"/>
          </a:xfrm>
          <a:prstGeom prst="roundRect">
            <a:avLst>
              <a:gd name="adj" fmla="val 7202"/>
            </a:avLst>
          </a:prstGeom>
          <a:solidFill>
            <a:srgbClr val="FFFFFF"/>
          </a:solidFill>
          <a:ln w="9525">
            <a:solidFill>
              <a:srgbClr val="D1D1D1"/>
            </a:solidFill>
            <a:prstDash val="solid"/>
          </a:ln>
        </p:spPr>
        <p:txBody>
          <a:bodyPr/>
          <a:lstStyle/>
          <a:p>
            <a:endParaRPr lang="en-US"/>
          </a:p>
        </p:txBody>
      </p:sp>
      <p:sp>
        <p:nvSpPr>
          <p:cNvPr id="14" name="Text 12"/>
          <p:cNvSpPr/>
          <p:nvPr/>
        </p:nvSpPr>
        <p:spPr>
          <a:xfrm>
            <a:off x="6217890" y="2046034"/>
            <a:ext cx="2413992" cy="457200"/>
          </a:xfrm>
          <a:prstGeom prst="rect">
            <a:avLst/>
          </a:prstGeom>
          <a:noFill/>
          <a:ln/>
        </p:spPr>
        <p:txBody>
          <a:bodyPr wrap="none" lIns="0" tIns="0" rIns="0" bIns="0" rtlCol="0" anchor="t"/>
          <a:lstStyle/>
          <a:p>
            <a:pPr marL="0" indent="0" algn="l">
              <a:lnSpc>
                <a:spcPct val="100000"/>
              </a:lnSpc>
              <a:buNone/>
            </a:pPr>
            <a:r>
              <a:rPr lang="en-US" sz="3000" dirty="0">
                <a:solidFill>
                  <a:srgbClr val="6997AF"/>
                </a:solidFill>
                <a:latin typeface="Carlito" pitchFamily="34" charset="0"/>
                <a:ea typeface="Carlito" pitchFamily="34" charset="-122"/>
                <a:cs typeface="Carlito" pitchFamily="34" charset="-120"/>
              </a:rPr>
              <a:t>03</a:t>
            </a:r>
            <a:endParaRPr lang="en-US" sz="3000" dirty="0"/>
          </a:p>
        </p:txBody>
      </p:sp>
      <p:sp>
        <p:nvSpPr>
          <p:cNvPr id="15" name="Text 13"/>
          <p:cNvSpPr/>
          <p:nvPr/>
        </p:nvSpPr>
        <p:spPr>
          <a:xfrm>
            <a:off x="6217890" y="2729210"/>
            <a:ext cx="2468835" cy="361950"/>
          </a:xfrm>
          <a:prstGeom prst="rect">
            <a:avLst/>
          </a:prstGeom>
          <a:noFill/>
          <a:ln/>
        </p:spPr>
        <p:txBody>
          <a:bodyPr wrap="none" lIns="0" tIns="0" rIns="0" bIns="0" rtlCol="0" anchor="t"/>
          <a:lstStyle/>
          <a:p>
            <a:pPr marL="0" indent="0" algn="l">
              <a:lnSpc>
                <a:spcPct val="125000"/>
              </a:lnSpc>
              <a:buNone/>
            </a:pPr>
            <a:r>
              <a:rPr lang="en-US" sz="1900" b="1" dirty="0">
                <a:solidFill>
                  <a:srgbClr val="1F1F1F"/>
                </a:solidFill>
                <a:latin typeface="Carlito Bold" pitchFamily="34" charset="0"/>
                <a:ea typeface="Carlito Bold" pitchFamily="34" charset="-122"/>
                <a:cs typeface="Carlito Bold" pitchFamily="34" charset="-120"/>
              </a:rPr>
              <a:t>Spark SQL</a:t>
            </a:r>
            <a:endParaRPr lang="en-US" sz="1900" dirty="0"/>
          </a:p>
        </p:txBody>
      </p:sp>
      <p:sp>
        <p:nvSpPr>
          <p:cNvPr id="16" name="Text 14"/>
          <p:cNvSpPr/>
          <p:nvPr/>
        </p:nvSpPr>
        <p:spPr>
          <a:xfrm>
            <a:off x="6217890" y="3140646"/>
            <a:ext cx="2468835"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 Parquet</a:t>
            </a:r>
            <a:endParaRPr lang="en-US" sz="1600" dirty="0"/>
          </a:p>
        </p:txBody>
      </p:sp>
      <p:sp>
        <p:nvSpPr>
          <p:cNvPr id="17" name="Shape 15"/>
          <p:cNvSpPr/>
          <p:nvPr/>
        </p:nvSpPr>
        <p:spPr>
          <a:xfrm>
            <a:off x="502890" y="3886200"/>
            <a:ext cx="2468835" cy="1737345"/>
          </a:xfrm>
          <a:prstGeom prst="roundRect">
            <a:avLst>
              <a:gd name="adj" fmla="val 7202"/>
            </a:avLst>
          </a:prstGeom>
          <a:solidFill>
            <a:srgbClr val="FFFFFF"/>
          </a:solidFill>
          <a:ln w="9525">
            <a:solidFill>
              <a:srgbClr val="D1D1D1"/>
            </a:solidFill>
            <a:prstDash val="solid"/>
          </a:ln>
        </p:spPr>
        <p:txBody>
          <a:bodyPr/>
          <a:lstStyle/>
          <a:p>
            <a:endParaRPr lang="en-US"/>
          </a:p>
        </p:txBody>
      </p:sp>
      <p:sp>
        <p:nvSpPr>
          <p:cNvPr id="18" name="Text 16"/>
          <p:cNvSpPr/>
          <p:nvPr/>
        </p:nvSpPr>
        <p:spPr>
          <a:xfrm>
            <a:off x="731490" y="4057670"/>
            <a:ext cx="2413992" cy="457200"/>
          </a:xfrm>
          <a:prstGeom prst="rect">
            <a:avLst/>
          </a:prstGeom>
          <a:noFill/>
          <a:ln/>
        </p:spPr>
        <p:txBody>
          <a:bodyPr wrap="none" lIns="0" tIns="0" rIns="0" bIns="0" rtlCol="0" anchor="t"/>
          <a:lstStyle/>
          <a:p>
            <a:pPr marL="0" indent="0" algn="l">
              <a:lnSpc>
                <a:spcPct val="100000"/>
              </a:lnSpc>
              <a:buNone/>
            </a:pPr>
            <a:r>
              <a:rPr lang="en-US" sz="3000" dirty="0">
                <a:solidFill>
                  <a:srgbClr val="6997AF"/>
                </a:solidFill>
                <a:latin typeface="Carlito" pitchFamily="34" charset="0"/>
                <a:ea typeface="Carlito" pitchFamily="34" charset="-122"/>
                <a:cs typeface="Carlito" pitchFamily="34" charset="-120"/>
              </a:rPr>
              <a:t>04</a:t>
            </a:r>
            <a:endParaRPr lang="en-US" sz="3000" dirty="0"/>
          </a:p>
        </p:txBody>
      </p:sp>
      <p:sp>
        <p:nvSpPr>
          <p:cNvPr id="19" name="Text 17"/>
          <p:cNvSpPr/>
          <p:nvPr/>
        </p:nvSpPr>
        <p:spPr>
          <a:xfrm>
            <a:off x="731490" y="4740846"/>
            <a:ext cx="2468835" cy="361950"/>
          </a:xfrm>
          <a:prstGeom prst="rect">
            <a:avLst/>
          </a:prstGeom>
          <a:noFill/>
          <a:ln/>
        </p:spPr>
        <p:txBody>
          <a:bodyPr wrap="none" lIns="0" tIns="0" rIns="0" bIns="0" rtlCol="0" anchor="t"/>
          <a:lstStyle/>
          <a:p>
            <a:pPr marL="0" indent="0" algn="l">
              <a:lnSpc>
                <a:spcPct val="125000"/>
              </a:lnSpc>
              <a:buNone/>
            </a:pPr>
            <a:r>
              <a:rPr lang="en-US" sz="1900" b="1" dirty="0">
                <a:solidFill>
                  <a:srgbClr val="1F1F1F"/>
                </a:solidFill>
                <a:latin typeface="Carlito Bold" pitchFamily="34" charset="0"/>
                <a:ea typeface="Carlito Bold" pitchFamily="34" charset="-122"/>
                <a:cs typeface="Carlito Bold" pitchFamily="34" charset="-120"/>
              </a:rPr>
              <a:t>Python</a:t>
            </a:r>
            <a:endParaRPr lang="en-US" sz="1900" dirty="0"/>
          </a:p>
        </p:txBody>
      </p:sp>
      <p:sp>
        <p:nvSpPr>
          <p:cNvPr id="20" name="Text 18"/>
          <p:cNvSpPr/>
          <p:nvPr/>
        </p:nvSpPr>
        <p:spPr>
          <a:xfrm>
            <a:off x="731490" y="5152355"/>
            <a:ext cx="2468835"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pandas · matplotlib</a:t>
            </a:r>
            <a:endParaRPr lang="en-US" sz="1600" dirty="0"/>
          </a:p>
        </p:txBody>
      </p:sp>
      <p:sp>
        <p:nvSpPr>
          <p:cNvPr id="21" name="Shape 19"/>
          <p:cNvSpPr/>
          <p:nvPr/>
        </p:nvSpPr>
        <p:spPr>
          <a:xfrm>
            <a:off x="3246090" y="3886200"/>
            <a:ext cx="2468835" cy="1737345"/>
          </a:xfrm>
          <a:prstGeom prst="roundRect">
            <a:avLst>
              <a:gd name="adj" fmla="val 7202"/>
            </a:avLst>
          </a:prstGeom>
          <a:solidFill>
            <a:srgbClr val="FFFFFF"/>
          </a:solidFill>
          <a:ln w="9525">
            <a:solidFill>
              <a:srgbClr val="D1D1D1"/>
            </a:solidFill>
            <a:prstDash val="solid"/>
          </a:ln>
        </p:spPr>
        <p:txBody>
          <a:bodyPr/>
          <a:lstStyle/>
          <a:p>
            <a:endParaRPr lang="en-US"/>
          </a:p>
        </p:txBody>
      </p:sp>
      <p:sp>
        <p:nvSpPr>
          <p:cNvPr id="22" name="Text 20"/>
          <p:cNvSpPr/>
          <p:nvPr/>
        </p:nvSpPr>
        <p:spPr>
          <a:xfrm>
            <a:off x="3474690" y="4057670"/>
            <a:ext cx="2413992" cy="457200"/>
          </a:xfrm>
          <a:prstGeom prst="rect">
            <a:avLst/>
          </a:prstGeom>
          <a:noFill/>
          <a:ln/>
        </p:spPr>
        <p:txBody>
          <a:bodyPr wrap="none" lIns="0" tIns="0" rIns="0" bIns="0" rtlCol="0" anchor="t"/>
          <a:lstStyle/>
          <a:p>
            <a:pPr marL="0" indent="0" algn="l">
              <a:lnSpc>
                <a:spcPct val="100000"/>
              </a:lnSpc>
              <a:buNone/>
            </a:pPr>
            <a:r>
              <a:rPr lang="en-US" sz="3000" dirty="0">
                <a:solidFill>
                  <a:srgbClr val="6997AF"/>
                </a:solidFill>
                <a:latin typeface="Carlito" pitchFamily="34" charset="0"/>
                <a:ea typeface="Carlito" pitchFamily="34" charset="-122"/>
                <a:cs typeface="Carlito" pitchFamily="34" charset="-120"/>
              </a:rPr>
              <a:t>05</a:t>
            </a:r>
            <a:endParaRPr lang="en-US" sz="3000" dirty="0"/>
          </a:p>
        </p:txBody>
      </p:sp>
      <p:sp>
        <p:nvSpPr>
          <p:cNvPr id="23" name="Text 21"/>
          <p:cNvSpPr/>
          <p:nvPr/>
        </p:nvSpPr>
        <p:spPr>
          <a:xfrm>
            <a:off x="3474690" y="4740846"/>
            <a:ext cx="2468835" cy="361950"/>
          </a:xfrm>
          <a:prstGeom prst="rect">
            <a:avLst/>
          </a:prstGeom>
          <a:noFill/>
          <a:ln/>
        </p:spPr>
        <p:txBody>
          <a:bodyPr wrap="none" lIns="0" tIns="0" rIns="0" bIns="0" rtlCol="0" anchor="t"/>
          <a:lstStyle/>
          <a:p>
            <a:pPr marL="0" indent="0" algn="l">
              <a:lnSpc>
                <a:spcPct val="125000"/>
              </a:lnSpc>
              <a:buNone/>
            </a:pPr>
            <a:r>
              <a:rPr lang="en-US" sz="1900" b="1" dirty="0">
                <a:solidFill>
                  <a:srgbClr val="1F1F1F"/>
                </a:solidFill>
                <a:latin typeface="Carlito Bold" pitchFamily="34" charset="0"/>
                <a:ea typeface="Carlito Bold" pitchFamily="34" charset="-122"/>
                <a:cs typeface="Carlito Bold" pitchFamily="34" charset="-120"/>
              </a:rPr>
              <a:t>Google Colab</a:t>
            </a:r>
            <a:endParaRPr lang="en-US" sz="1900" dirty="0"/>
          </a:p>
        </p:txBody>
      </p:sp>
      <p:sp>
        <p:nvSpPr>
          <p:cNvPr id="24" name="Text 22"/>
          <p:cNvSpPr/>
          <p:nvPr/>
        </p:nvSpPr>
        <p:spPr>
          <a:xfrm>
            <a:off x="3474690" y="5152355"/>
            <a:ext cx="2468835"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2 vCPU · ~12 GB</a:t>
            </a:r>
            <a:endParaRPr lang="en-US" sz="1600" dirty="0"/>
          </a:p>
        </p:txBody>
      </p:sp>
      <p:sp>
        <p:nvSpPr>
          <p:cNvPr id="25" name="Shape 23"/>
          <p:cNvSpPr/>
          <p:nvPr/>
        </p:nvSpPr>
        <p:spPr>
          <a:xfrm>
            <a:off x="5989290" y="3886200"/>
            <a:ext cx="2468835" cy="1737345"/>
          </a:xfrm>
          <a:prstGeom prst="roundRect">
            <a:avLst>
              <a:gd name="adj" fmla="val 7202"/>
            </a:avLst>
          </a:prstGeom>
          <a:solidFill>
            <a:srgbClr val="FFFFFF"/>
          </a:solidFill>
          <a:ln w="9525">
            <a:solidFill>
              <a:srgbClr val="D1D1D1"/>
            </a:solidFill>
            <a:prstDash val="solid"/>
          </a:ln>
        </p:spPr>
        <p:txBody>
          <a:bodyPr/>
          <a:lstStyle/>
          <a:p>
            <a:endParaRPr lang="en-US"/>
          </a:p>
        </p:txBody>
      </p:sp>
      <p:sp>
        <p:nvSpPr>
          <p:cNvPr id="26" name="Text 24"/>
          <p:cNvSpPr/>
          <p:nvPr/>
        </p:nvSpPr>
        <p:spPr>
          <a:xfrm>
            <a:off x="6217890" y="4057670"/>
            <a:ext cx="2413992" cy="457200"/>
          </a:xfrm>
          <a:prstGeom prst="rect">
            <a:avLst/>
          </a:prstGeom>
          <a:noFill/>
          <a:ln/>
        </p:spPr>
        <p:txBody>
          <a:bodyPr wrap="none" lIns="0" tIns="0" rIns="0" bIns="0" rtlCol="0" anchor="t"/>
          <a:lstStyle/>
          <a:p>
            <a:pPr marL="0" indent="0" algn="l">
              <a:lnSpc>
                <a:spcPct val="100000"/>
              </a:lnSpc>
              <a:buNone/>
            </a:pPr>
            <a:r>
              <a:rPr lang="en-US" sz="3000" dirty="0">
                <a:solidFill>
                  <a:srgbClr val="6997AF"/>
                </a:solidFill>
                <a:latin typeface="Carlito" pitchFamily="34" charset="0"/>
                <a:ea typeface="Carlito" pitchFamily="34" charset="-122"/>
                <a:cs typeface="Carlito" pitchFamily="34" charset="-120"/>
              </a:rPr>
              <a:t>06</a:t>
            </a:r>
            <a:endParaRPr lang="en-US" sz="3000" dirty="0"/>
          </a:p>
        </p:txBody>
      </p:sp>
      <p:sp>
        <p:nvSpPr>
          <p:cNvPr id="27" name="Text 25"/>
          <p:cNvSpPr/>
          <p:nvPr/>
        </p:nvSpPr>
        <p:spPr>
          <a:xfrm>
            <a:off x="6217890" y="4740846"/>
            <a:ext cx="2468835" cy="361950"/>
          </a:xfrm>
          <a:prstGeom prst="rect">
            <a:avLst/>
          </a:prstGeom>
          <a:noFill/>
          <a:ln/>
        </p:spPr>
        <p:txBody>
          <a:bodyPr wrap="none" lIns="0" tIns="0" rIns="0" bIns="0" rtlCol="0" anchor="t"/>
          <a:lstStyle/>
          <a:p>
            <a:pPr marL="0" indent="0" algn="l">
              <a:lnSpc>
                <a:spcPct val="125000"/>
              </a:lnSpc>
              <a:buNone/>
            </a:pPr>
            <a:r>
              <a:rPr lang="en-US" sz="1900" b="1" dirty="0">
                <a:solidFill>
                  <a:srgbClr val="1F1F1F"/>
                </a:solidFill>
                <a:latin typeface="Carlito Bold" pitchFamily="34" charset="0"/>
                <a:ea typeface="Carlito Bold" pitchFamily="34" charset="-122"/>
                <a:cs typeface="Carlito Bold" pitchFamily="34" charset="-120"/>
              </a:rPr>
              <a:t>Google Drive</a:t>
            </a:r>
            <a:endParaRPr lang="en-US" sz="1900" dirty="0"/>
          </a:p>
        </p:txBody>
      </p:sp>
      <p:sp>
        <p:nvSpPr>
          <p:cNvPr id="28" name="Text 26"/>
          <p:cNvSpPr/>
          <p:nvPr/>
        </p:nvSpPr>
        <p:spPr>
          <a:xfrm>
            <a:off x="6217890" y="5152355"/>
            <a:ext cx="2468835"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data + checkpoints</a:t>
            </a:r>
            <a:endParaRPr lang="en-US" sz="1600" dirty="0"/>
          </a:p>
        </p:txBody>
      </p:sp>
      <p:pic>
        <p:nvPicPr>
          <p:cNvPr id="29"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CLEANING AND LEAKAGE</a:t>
            </a:r>
            <a:endParaRPr lang="en-US" sz="4400" dirty="0"/>
          </a:p>
        </p:txBody>
      </p:sp>
      <p:sp>
        <p:nvSpPr>
          <p:cNvPr id="5" name="Text 3"/>
          <p:cNvSpPr/>
          <p:nvPr/>
        </p:nvSpPr>
        <p:spPr>
          <a:xfrm>
            <a:off x="194295" y="1593875"/>
            <a:ext cx="4457700" cy="342900"/>
          </a:xfrm>
          <a:prstGeom prst="rect">
            <a:avLst/>
          </a:prstGeom>
          <a:noFill/>
          <a:ln/>
        </p:spPr>
        <p:txBody>
          <a:bodyPr wrap="none" lIns="0" tIns="0" rIns="0" bIns="0" rtlCol="0" anchor="t"/>
          <a:lstStyle/>
          <a:p>
            <a:pPr marL="0" indent="0" algn="ctr">
              <a:lnSpc>
                <a:spcPct val="125000"/>
              </a:lnSpc>
              <a:buNone/>
            </a:pPr>
            <a:r>
              <a:rPr lang="en-US" sz="1800" b="1" dirty="0">
                <a:solidFill>
                  <a:srgbClr val="5A5A5A"/>
                </a:solidFill>
                <a:latin typeface="Carlito Bold" pitchFamily="34" charset="0"/>
                <a:ea typeface="Carlito Bold" pitchFamily="34" charset="-122"/>
                <a:cs typeface="Carlito Bold" pitchFamily="34" charset="-120"/>
              </a:rPr>
              <a:t>Cleaning funnel (rows remaining)</a:t>
            </a:r>
            <a:endParaRPr lang="en-US" sz="1800" dirty="0"/>
          </a:p>
        </p:txBody>
      </p:sp>
      <p:sp>
        <p:nvSpPr>
          <p:cNvPr id="7" name="Shape 4"/>
          <p:cNvSpPr/>
          <p:nvPr/>
        </p:nvSpPr>
        <p:spPr>
          <a:xfrm>
            <a:off x="4709145" y="1600200"/>
            <a:ext cx="3931890" cy="4297635"/>
          </a:xfrm>
          <a:prstGeom prst="roundRect">
            <a:avLst>
              <a:gd name="adj" fmla="val 9601"/>
            </a:avLst>
          </a:prstGeom>
          <a:solidFill>
            <a:srgbClr val="F4EFF4"/>
          </a:solidFill>
          <a:ln/>
        </p:spPr>
        <p:txBody>
          <a:bodyPr/>
          <a:lstStyle/>
          <a:p>
            <a:endParaRPr lang="en-US"/>
          </a:p>
        </p:txBody>
      </p:sp>
      <p:sp>
        <p:nvSpPr>
          <p:cNvPr id="8" name="Text 5"/>
          <p:cNvSpPr/>
          <p:nvPr/>
        </p:nvSpPr>
        <p:spPr>
          <a:xfrm>
            <a:off x="4937745" y="1723355"/>
            <a:ext cx="4206180" cy="304726"/>
          </a:xfrm>
          <a:prstGeom prst="rect">
            <a:avLst/>
          </a:prstGeom>
          <a:noFill/>
          <a:ln/>
        </p:spPr>
        <p:txBody>
          <a:bodyPr wrap="none" lIns="0" tIns="0" rIns="0" bIns="0" rtlCol="0" anchor="t"/>
          <a:lstStyle/>
          <a:p>
            <a:pPr marL="0" indent="0" algn="l">
              <a:lnSpc>
                <a:spcPct val="100000"/>
              </a:lnSpc>
              <a:buNone/>
            </a:pPr>
            <a:r>
              <a:rPr lang="en-US" sz="2000" b="1" dirty="0">
                <a:solidFill>
                  <a:srgbClr val="621360"/>
                </a:solidFill>
                <a:latin typeface="Carlito Bold" pitchFamily="34" charset="0"/>
                <a:ea typeface="Carlito Bold" pitchFamily="34" charset="-122"/>
                <a:cs typeface="Carlito Bold" pitchFamily="34" charset="-120"/>
              </a:rPr>
              <a:t>Leakage guard</a:t>
            </a:r>
            <a:endParaRPr lang="en-US" sz="2000" dirty="0"/>
          </a:p>
        </p:txBody>
      </p:sp>
      <p:sp>
        <p:nvSpPr>
          <p:cNvPr id="9" name="Text 6"/>
          <p:cNvSpPr/>
          <p:nvPr/>
        </p:nvSpPr>
        <p:spPr>
          <a:xfrm>
            <a:off x="4937745" y="2226246"/>
            <a:ext cx="3479155" cy="2884959"/>
          </a:xfrm>
          <a:prstGeom prst="rect">
            <a:avLst/>
          </a:prstGeom>
          <a:noFill/>
          <a:ln/>
        </p:spPr>
        <p:txBody>
          <a:bodyPr wrap="square" lIns="0" tIns="0" rIns="0" bIns="0" rtlCol="0" anchor="t">
            <a:normAutofit/>
          </a:bodyPr>
          <a:lstStyle/>
          <a:p>
            <a:pPr marL="227838" indent="-227838"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Allow-list at ingestion: post-flight columns are never loaded</a:t>
            </a:r>
            <a:endParaRPr lang="en-US" sz="1500" dirty="0"/>
          </a:p>
          <a:p>
            <a:pPr marL="227838" indent="-227838"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Also excluded: DEP_DELAY, DEP_TIME, TAXI_OUT, DEP_DEL15</a:t>
            </a:r>
            <a:endParaRPr lang="en-US" sz="1500" dirty="0"/>
          </a:p>
          <a:p>
            <a:pPr marL="227838" indent="-227838"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ARR_DELAY only builds the label, then it is dropped</a:t>
            </a:r>
            <a:endParaRPr lang="en-US" sz="1500" dirty="0"/>
          </a:p>
          <a:p>
            <a:pPr marL="227838" indent="-227838"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Schedule counts use the full schedule, before cancelled flights are removed</a:t>
            </a:r>
            <a:endParaRPr lang="en-US" sz="1500" dirty="0"/>
          </a:p>
          <a:p>
            <a:pPr marL="227838" indent="-227838"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An assertion stops the run if a forbidden column reaches the features</a:t>
            </a:r>
            <a:endParaRPr lang="en-US" sz="1500" dirty="0"/>
          </a:p>
          <a:p>
            <a:pPr marL="227838" indent="-227838"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Remaining risks: same-day aircraft swaps, in-sample target encoding</a:t>
            </a:r>
            <a:endParaRPr lang="en-US" sz="1500" dirty="0"/>
          </a:p>
        </p:txBody>
      </p:sp>
      <p:pic>
        <p:nvPicPr>
          <p:cNvPr id="10" name="Image 1" descr="preencoded.png"/>
          <p:cNvPicPr>
            <a:picLocks noChangeAspect="1"/>
          </p:cNvPicPr>
          <p:nvPr/>
        </p:nvPicPr>
        <p:blipFill>
          <a:blip r:embed="rId3"/>
          <a:stretch>
            <a:fillRect/>
          </a:stretch>
        </p:blipFill>
        <p:spPr>
          <a:xfrm>
            <a:off x="471488" y="6225108"/>
            <a:ext cx="1298004" cy="461963"/>
          </a:xfrm>
          <a:prstGeom prst="rect">
            <a:avLst/>
          </a:prstGeom>
        </p:spPr>
      </p:pic>
      <p:graphicFrame>
        <p:nvGraphicFramePr>
          <p:cNvPr id="12" name="Chart 2">
            <a:extLst>
              <a:ext uri="{FF2B5EF4-FFF2-40B4-BE49-F238E27FC236}">
                <a16:creationId xmlns:a16="http://schemas.microsoft.com/office/drawing/2014/main" id="{FCF09DC3-7A83-B63E-09E9-5EBEA2C60B6C}"/>
              </a:ext>
            </a:extLst>
          </p:cNvPr>
          <p:cNvGraphicFramePr/>
          <p:nvPr>
            <p:extLst>
              <p:ext uri="{D42A27DB-BD31-4B8C-83A1-F6EECF244321}">
                <p14:modId xmlns:p14="http://schemas.microsoft.com/office/powerpoint/2010/main" val="2667540419"/>
              </p:ext>
            </p:extLst>
          </p:nvPr>
        </p:nvGraphicFramePr>
        <p:xfrm>
          <a:off x="370570" y="2028081"/>
          <a:ext cx="4114440" cy="4297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FEATURE ENGINEERING</a:t>
            </a:r>
            <a:endParaRPr lang="en-US" sz="4400" dirty="0"/>
          </a:p>
        </p:txBody>
      </p:sp>
      <p:sp>
        <p:nvSpPr>
          <p:cNvPr id="5" name="Text 3"/>
          <p:cNvSpPr/>
          <p:nvPr/>
        </p:nvSpPr>
        <p:spPr>
          <a:xfrm>
            <a:off x="365745" y="1311846"/>
            <a:ext cx="8778255" cy="323776"/>
          </a:xfrm>
          <a:prstGeom prst="rect">
            <a:avLst/>
          </a:prstGeom>
          <a:noFill/>
          <a:ln/>
        </p:spPr>
        <p:txBody>
          <a:bodyPr wrap="none" lIns="0" tIns="0" rIns="0" bIns="0" rtlCol="0" anchor="t"/>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39 features, built from the published schedule</a:t>
            </a:r>
            <a:endParaRPr lang="en-US" sz="1700" dirty="0"/>
          </a:p>
        </p:txBody>
      </p:sp>
      <p:sp>
        <p:nvSpPr>
          <p:cNvPr id="6" name="Shape 4"/>
          <p:cNvSpPr/>
          <p:nvPr/>
        </p:nvSpPr>
        <p:spPr>
          <a:xfrm>
            <a:off x="365745" y="1600199"/>
            <a:ext cx="4023345" cy="1504205"/>
          </a:xfrm>
          <a:prstGeom prst="roundRect">
            <a:avLst>
              <a:gd name="adj" fmla="val 9600"/>
            </a:avLst>
          </a:prstGeom>
          <a:solidFill>
            <a:srgbClr val="F4EFF4"/>
          </a:solidFill>
          <a:ln/>
        </p:spPr>
        <p:txBody>
          <a:bodyPr/>
          <a:lstStyle/>
          <a:p>
            <a:endParaRPr lang="en-US"/>
          </a:p>
        </p:txBody>
      </p:sp>
      <p:sp>
        <p:nvSpPr>
          <p:cNvPr id="7" name="Shape 5"/>
          <p:cNvSpPr/>
          <p:nvPr/>
        </p:nvSpPr>
        <p:spPr>
          <a:xfrm>
            <a:off x="548580" y="1783035"/>
            <a:ext cx="164529" cy="1005780"/>
          </a:xfrm>
          <a:prstGeom prst="roundRect">
            <a:avLst>
              <a:gd name="adj" fmla="val 14450"/>
            </a:avLst>
          </a:prstGeom>
          <a:solidFill>
            <a:srgbClr val="00A0FF"/>
          </a:solidFill>
          <a:ln/>
        </p:spPr>
        <p:txBody>
          <a:bodyPr/>
          <a:lstStyle/>
          <a:p>
            <a:endParaRPr lang="en-US"/>
          </a:p>
        </p:txBody>
      </p:sp>
      <p:sp>
        <p:nvSpPr>
          <p:cNvPr id="8" name="Text 6"/>
          <p:cNvSpPr/>
          <p:nvPr/>
        </p:nvSpPr>
        <p:spPr>
          <a:xfrm>
            <a:off x="868635" y="1723355"/>
            <a:ext cx="38404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Calendar and time</a:t>
            </a:r>
            <a:endParaRPr lang="en-US" sz="1800" dirty="0"/>
          </a:p>
        </p:txBody>
      </p:sp>
      <p:sp>
        <p:nvSpPr>
          <p:cNvPr id="9" name="Text 7"/>
          <p:cNvSpPr/>
          <p:nvPr/>
        </p:nvSpPr>
        <p:spPr>
          <a:xfrm>
            <a:off x="868635" y="2116559"/>
            <a:ext cx="3326085" cy="9144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Month, day, weekday, departure/arrival hour (with sin/cos), days to the nearest federal holiday</a:t>
            </a:r>
            <a:endParaRPr lang="en-US" sz="1600" dirty="0"/>
          </a:p>
        </p:txBody>
      </p:sp>
      <p:sp>
        <p:nvSpPr>
          <p:cNvPr id="10" name="Shape 8"/>
          <p:cNvSpPr/>
          <p:nvPr/>
        </p:nvSpPr>
        <p:spPr>
          <a:xfrm>
            <a:off x="4572000" y="1600199"/>
            <a:ext cx="4023345" cy="1504205"/>
          </a:xfrm>
          <a:prstGeom prst="roundRect">
            <a:avLst>
              <a:gd name="adj" fmla="val 9600"/>
            </a:avLst>
          </a:prstGeom>
          <a:solidFill>
            <a:srgbClr val="F4EFF4"/>
          </a:solidFill>
          <a:ln/>
        </p:spPr>
        <p:txBody>
          <a:bodyPr/>
          <a:lstStyle/>
          <a:p>
            <a:endParaRPr lang="en-US"/>
          </a:p>
        </p:txBody>
      </p:sp>
      <p:sp>
        <p:nvSpPr>
          <p:cNvPr id="11" name="Shape 9"/>
          <p:cNvSpPr/>
          <p:nvPr/>
        </p:nvSpPr>
        <p:spPr>
          <a:xfrm>
            <a:off x="4754835" y="1783035"/>
            <a:ext cx="164529" cy="1005780"/>
          </a:xfrm>
          <a:prstGeom prst="roundRect">
            <a:avLst>
              <a:gd name="adj" fmla="val 14450"/>
            </a:avLst>
          </a:prstGeom>
          <a:solidFill>
            <a:srgbClr val="00A0FF"/>
          </a:solidFill>
          <a:ln/>
        </p:spPr>
        <p:txBody>
          <a:bodyPr/>
          <a:lstStyle/>
          <a:p>
            <a:endParaRPr lang="en-US"/>
          </a:p>
        </p:txBody>
      </p:sp>
      <p:sp>
        <p:nvSpPr>
          <p:cNvPr id="12" name="Text 10"/>
          <p:cNvSpPr/>
          <p:nvPr/>
        </p:nvSpPr>
        <p:spPr>
          <a:xfrm>
            <a:off x="5074890" y="1723355"/>
            <a:ext cx="38404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Flight and airline</a:t>
            </a:r>
            <a:endParaRPr lang="en-US" sz="1800" dirty="0"/>
          </a:p>
        </p:txBody>
      </p:sp>
      <p:sp>
        <p:nvSpPr>
          <p:cNvPr id="13" name="Text 11"/>
          <p:cNvSpPr/>
          <p:nvPr/>
        </p:nvSpPr>
        <p:spPr>
          <a:xfrm>
            <a:off x="5074890" y="2116559"/>
            <a:ext cx="3383235"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Scheduled duration, distance, airline (one-hot)</a:t>
            </a:r>
            <a:endParaRPr lang="en-US" sz="1600" dirty="0"/>
          </a:p>
        </p:txBody>
      </p:sp>
      <p:sp>
        <p:nvSpPr>
          <p:cNvPr id="14" name="Shape 12"/>
          <p:cNvSpPr/>
          <p:nvPr/>
        </p:nvSpPr>
        <p:spPr>
          <a:xfrm>
            <a:off x="365745" y="3240362"/>
            <a:ext cx="4023345" cy="1438793"/>
          </a:xfrm>
          <a:prstGeom prst="roundRect">
            <a:avLst>
              <a:gd name="adj" fmla="val 9600"/>
            </a:avLst>
          </a:prstGeom>
          <a:solidFill>
            <a:srgbClr val="F4EFF4"/>
          </a:solidFill>
          <a:ln/>
        </p:spPr>
        <p:txBody>
          <a:bodyPr/>
          <a:lstStyle/>
          <a:p>
            <a:endParaRPr lang="en-US"/>
          </a:p>
        </p:txBody>
      </p:sp>
      <p:sp>
        <p:nvSpPr>
          <p:cNvPr id="15" name="Shape 13"/>
          <p:cNvSpPr/>
          <p:nvPr/>
        </p:nvSpPr>
        <p:spPr>
          <a:xfrm>
            <a:off x="548580" y="3337545"/>
            <a:ext cx="164529" cy="1005780"/>
          </a:xfrm>
          <a:prstGeom prst="roundRect">
            <a:avLst>
              <a:gd name="adj" fmla="val 14450"/>
            </a:avLst>
          </a:prstGeom>
          <a:solidFill>
            <a:srgbClr val="00A0FF"/>
          </a:solidFill>
          <a:ln/>
        </p:spPr>
        <p:txBody>
          <a:bodyPr/>
          <a:lstStyle/>
          <a:p>
            <a:endParaRPr lang="en-US"/>
          </a:p>
        </p:txBody>
      </p:sp>
      <p:sp>
        <p:nvSpPr>
          <p:cNvPr id="16" name="Text 14"/>
          <p:cNvSpPr/>
          <p:nvPr/>
        </p:nvSpPr>
        <p:spPr>
          <a:xfrm>
            <a:off x="868635" y="3277865"/>
            <a:ext cx="38404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Airport congestion</a:t>
            </a:r>
            <a:endParaRPr lang="en-US" sz="1800" dirty="0"/>
          </a:p>
        </p:txBody>
      </p:sp>
      <p:sp>
        <p:nvSpPr>
          <p:cNvPr id="17" name="Text 15"/>
          <p:cNvSpPr/>
          <p:nvPr/>
        </p:nvSpPr>
        <p:spPr>
          <a:xfrm>
            <a:off x="868635" y="3670995"/>
            <a:ext cx="3326085" cy="9144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Scheduled departures/arrivals at the airport that hour; daily airport and carrier volume</a:t>
            </a:r>
            <a:endParaRPr lang="en-US" sz="1600" dirty="0"/>
          </a:p>
        </p:txBody>
      </p:sp>
      <p:sp>
        <p:nvSpPr>
          <p:cNvPr id="18" name="Shape 16"/>
          <p:cNvSpPr/>
          <p:nvPr/>
        </p:nvSpPr>
        <p:spPr>
          <a:xfrm>
            <a:off x="4572000" y="3240362"/>
            <a:ext cx="4023345" cy="1438793"/>
          </a:xfrm>
          <a:prstGeom prst="roundRect">
            <a:avLst>
              <a:gd name="adj" fmla="val 9600"/>
            </a:avLst>
          </a:prstGeom>
          <a:solidFill>
            <a:srgbClr val="F4EFF4"/>
          </a:solidFill>
          <a:ln/>
        </p:spPr>
        <p:txBody>
          <a:bodyPr/>
          <a:lstStyle/>
          <a:p>
            <a:endParaRPr lang="en-US"/>
          </a:p>
        </p:txBody>
      </p:sp>
      <p:sp>
        <p:nvSpPr>
          <p:cNvPr id="19" name="Shape 17"/>
          <p:cNvSpPr/>
          <p:nvPr/>
        </p:nvSpPr>
        <p:spPr>
          <a:xfrm>
            <a:off x="4754835" y="3337545"/>
            <a:ext cx="164529" cy="1005780"/>
          </a:xfrm>
          <a:prstGeom prst="roundRect">
            <a:avLst>
              <a:gd name="adj" fmla="val 14450"/>
            </a:avLst>
          </a:prstGeom>
          <a:solidFill>
            <a:srgbClr val="621360"/>
          </a:solidFill>
          <a:ln/>
        </p:spPr>
        <p:txBody>
          <a:bodyPr/>
          <a:lstStyle/>
          <a:p>
            <a:endParaRPr lang="en-US"/>
          </a:p>
        </p:txBody>
      </p:sp>
      <p:sp>
        <p:nvSpPr>
          <p:cNvPr id="20" name="Text 18"/>
          <p:cNvSpPr/>
          <p:nvPr/>
        </p:nvSpPr>
        <p:spPr>
          <a:xfrm>
            <a:off x="5074890" y="3277865"/>
            <a:ext cx="38404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Aircraft rotation</a:t>
            </a:r>
            <a:endParaRPr lang="en-US" sz="1800" dirty="0"/>
          </a:p>
        </p:txBody>
      </p:sp>
      <p:sp>
        <p:nvSpPr>
          <p:cNvPr id="21" name="Text 19"/>
          <p:cNvSpPr/>
          <p:nvPr/>
        </p:nvSpPr>
        <p:spPr>
          <a:xfrm>
            <a:off x="5074890" y="3670995"/>
            <a:ext cx="3326085" cy="9144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Leg of the day for the tail number; scheduled turnaround since its last flight (window function)</a:t>
            </a:r>
            <a:endParaRPr lang="en-US" sz="1600" dirty="0"/>
          </a:p>
        </p:txBody>
      </p:sp>
      <p:sp>
        <p:nvSpPr>
          <p:cNvPr id="22" name="Shape 20"/>
          <p:cNvSpPr/>
          <p:nvPr/>
        </p:nvSpPr>
        <p:spPr>
          <a:xfrm>
            <a:off x="365745" y="4846290"/>
            <a:ext cx="8275290" cy="1135060"/>
          </a:xfrm>
          <a:prstGeom prst="roundRect">
            <a:avLst>
              <a:gd name="adj" fmla="val 9607"/>
            </a:avLst>
          </a:prstGeom>
          <a:solidFill>
            <a:srgbClr val="3C023C"/>
          </a:solidFill>
          <a:ln/>
        </p:spPr>
        <p:txBody>
          <a:bodyPr/>
          <a:lstStyle/>
          <a:p>
            <a:endParaRPr lang="en-US"/>
          </a:p>
        </p:txBody>
      </p:sp>
      <p:sp>
        <p:nvSpPr>
          <p:cNvPr id="23" name="Text 21"/>
          <p:cNvSpPr/>
          <p:nvPr/>
        </p:nvSpPr>
        <p:spPr>
          <a:xfrm>
            <a:off x="640035" y="5038055"/>
            <a:ext cx="7669485" cy="847948"/>
          </a:xfrm>
          <a:prstGeom prst="rect">
            <a:avLst/>
          </a:prstGeom>
          <a:noFill/>
          <a:ln/>
        </p:spPr>
        <p:txBody>
          <a:bodyPr wrap="square" lIns="0" tIns="0" rIns="0" bIns="0" rtlCol="0" anchor="t"/>
          <a:lstStyle/>
          <a:p>
            <a:pPr marL="0" indent="0" algn="l">
              <a:lnSpc>
                <a:spcPct val="100000"/>
              </a:lnSpc>
              <a:spcAft>
                <a:spcPts val="550"/>
              </a:spcAft>
              <a:buNone/>
            </a:pPr>
            <a:r>
              <a:rPr lang="en-US" sz="1600" b="1" dirty="0">
                <a:solidFill>
                  <a:srgbClr val="FFFFFF"/>
                </a:solidFill>
                <a:latin typeface="Carlito Bold" pitchFamily="34" charset="0"/>
                <a:ea typeface="Carlito Bold" pitchFamily="34" charset="-122"/>
                <a:cs typeface="Carlito Bold" pitchFamily="34" charset="-120"/>
              </a:rPr>
              <a:t>High-cardinality categories → smoothed target encoding. </a:t>
            </a:r>
            <a:endParaRPr lang="en-US" sz="1600" dirty="0"/>
          </a:p>
          <a:p>
            <a:pPr marL="0" indent="0" algn="l">
              <a:lnSpc>
                <a:spcPct val="100000"/>
              </a:lnSpc>
              <a:buNone/>
            </a:pPr>
            <a:r>
              <a:rPr lang="en-US" sz="1600" dirty="0">
                <a:solidFill>
                  <a:srgbClr val="FFFFFF"/>
                </a:solidFill>
                <a:latin typeface="Carlito" pitchFamily="34" charset="0"/>
                <a:ea typeface="Carlito" pitchFamily="34" charset="-122"/>
                <a:cs typeface="Carlito" pitchFamily="34" charset="-120"/>
              </a:rPr>
              <a:t>Origin, destination, route, origin×hour and carrier×origin become their historical delay rate, fitted on the training split only.</a:t>
            </a:r>
            <a:endParaRPr lang="en-US" sz="1600" dirty="0"/>
          </a:p>
        </p:txBody>
      </p:sp>
      <p:pic>
        <p:nvPicPr>
          <p:cNvPr id="24"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TARGET ENCODING</a:t>
            </a:r>
            <a:endParaRPr lang="en-US" sz="4400" dirty="0"/>
          </a:p>
        </p:txBody>
      </p:sp>
      <p:pic>
        <p:nvPicPr>
          <p:cNvPr id="5" name="Image 0" descr="preencoded.png"/>
          <p:cNvPicPr>
            <a:picLocks noChangeAspect="1"/>
          </p:cNvPicPr>
          <p:nvPr/>
        </p:nvPicPr>
        <p:blipFill>
          <a:blip r:embed="rId3"/>
          <a:stretch>
            <a:fillRect/>
          </a:stretch>
        </p:blipFill>
        <p:spPr>
          <a:xfrm>
            <a:off x="365745" y="1658615"/>
            <a:ext cx="8275290" cy="3677915"/>
          </a:xfrm>
          <a:prstGeom prst="rect">
            <a:avLst/>
          </a:prstGeom>
        </p:spPr>
      </p:pic>
      <p:sp>
        <p:nvSpPr>
          <p:cNvPr id="6" name="Text 3"/>
          <p:cNvSpPr/>
          <p:nvPr/>
        </p:nvSpPr>
        <p:spPr>
          <a:xfrm>
            <a:off x="137145" y="5627861"/>
            <a:ext cx="8732490" cy="323776"/>
          </a:xfrm>
          <a:prstGeom prst="rect">
            <a:avLst/>
          </a:prstGeom>
          <a:noFill/>
          <a:ln/>
        </p:spPr>
        <p:txBody>
          <a:bodyPr wrap="none" lIns="0" tIns="0" rIns="0" bIns="0" rtlCol="0" anchor="t"/>
          <a:lstStyle/>
          <a:p>
            <a:pPr marL="0" indent="0" algn="ctr">
              <a:lnSpc>
                <a:spcPct val="125000"/>
              </a:lnSpc>
              <a:buNone/>
            </a:pPr>
            <a:r>
              <a:rPr lang="en-US" sz="1600" dirty="0">
                <a:solidFill>
                  <a:srgbClr val="5A5A5A"/>
                </a:solidFill>
                <a:latin typeface="Carlito" pitchFamily="34" charset="0"/>
                <a:ea typeface="Carlito" pitchFamily="34" charset="-122"/>
                <a:cs typeface="Carlito" pitchFamily="34" charset="-120"/>
              </a:rPr>
              <a:t>Training-only fit · 6,886 routes · 4,499 airport-hours · stops on leakage</a:t>
            </a:r>
            <a:endParaRPr lang="en-US" sz="1600" dirty="0"/>
          </a:p>
        </p:txBody>
      </p:sp>
      <p:pic>
        <p:nvPicPr>
          <p:cNvPr id="7" name="Image 1" descr="preencoded.png"/>
          <p:cNvPicPr>
            <a:picLocks noChangeAspect="1"/>
          </p:cNvPicPr>
          <p:nvPr/>
        </p:nvPicPr>
        <p:blipFill>
          <a:blip r:embed="rId4"/>
          <a:stretch>
            <a:fillRect/>
          </a:stretch>
        </p:blipFill>
        <p:spPr>
          <a:xfrm>
            <a:off x="471488" y="6225108"/>
            <a:ext cx="1298004" cy="4619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MODEL TRAINING PIPELINE</a:t>
            </a:r>
            <a:endParaRPr lang="en-US" sz="4400" dirty="0"/>
          </a:p>
        </p:txBody>
      </p:sp>
      <p:sp>
        <p:nvSpPr>
          <p:cNvPr id="5" name="Shape 3"/>
          <p:cNvSpPr/>
          <p:nvPr/>
        </p:nvSpPr>
        <p:spPr>
          <a:xfrm>
            <a:off x="457200" y="1783035"/>
            <a:ext cx="1828800" cy="914400"/>
          </a:xfrm>
          <a:prstGeom prst="roundRect">
            <a:avLst>
              <a:gd name="adj" fmla="val 14400"/>
            </a:avLst>
          </a:prstGeom>
          <a:solidFill>
            <a:srgbClr val="00A0FF"/>
          </a:solidFill>
          <a:ln/>
        </p:spPr>
        <p:txBody>
          <a:bodyPr/>
          <a:lstStyle/>
          <a:p>
            <a:endParaRPr lang="en-US"/>
          </a:p>
        </p:txBody>
      </p:sp>
      <p:sp>
        <p:nvSpPr>
          <p:cNvPr id="6" name="Text 4"/>
          <p:cNvSpPr/>
          <p:nvPr/>
        </p:nvSpPr>
        <p:spPr>
          <a:xfrm>
            <a:off x="530349" y="1935435"/>
            <a:ext cx="1682502" cy="609600"/>
          </a:xfrm>
          <a:prstGeom prst="rect">
            <a:avLst/>
          </a:prstGeom>
          <a:noFill/>
          <a:ln/>
        </p:spPr>
        <p:txBody>
          <a:bodyPr wrap="square" lIns="0" tIns="0" rIns="0" bIns="0" rtlCol="0" anchor="t">
            <a:normAutofit/>
          </a:bodyPr>
          <a:lstStyle/>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Split 70/10/20</a:t>
            </a:r>
            <a:endParaRPr lang="en-US" sz="1600" dirty="0"/>
          </a:p>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train · valid · test</a:t>
            </a:r>
            <a:endParaRPr lang="en-US" sz="1600" dirty="0"/>
          </a:p>
        </p:txBody>
      </p:sp>
      <p:sp>
        <p:nvSpPr>
          <p:cNvPr id="7" name="Shape 5"/>
          <p:cNvSpPr/>
          <p:nvPr/>
        </p:nvSpPr>
        <p:spPr>
          <a:xfrm>
            <a:off x="2560290" y="1783035"/>
            <a:ext cx="1828800" cy="914400"/>
          </a:xfrm>
          <a:prstGeom prst="roundRect">
            <a:avLst>
              <a:gd name="adj" fmla="val 14400"/>
            </a:avLst>
          </a:prstGeom>
          <a:solidFill>
            <a:srgbClr val="00A0FF"/>
          </a:solidFill>
          <a:ln/>
        </p:spPr>
        <p:txBody>
          <a:bodyPr/>
          <a:lstStyle/>
          <a:p>
            <a:endParaRPr lang="en-US"/>
          </a:p>
        </p:txBody>
      </p:sp>
      <p:sp>
        <p:nvSpPr>
          <p:cNvPr id="8" name="Text 6"/>
          <p:cNvSpPr/>
          <p:nvPr/>
        </p:nvSpPr>
        <p:spPr>
          <a:xfrm>
            <a:off x="2633439" y="1935435"/>
            <a:ext cx="1682502" cy="609600"/>
          </a:xfrm>
          <a:prstGeom prst="rect">
            <a:avLst/>
          </a:prstGeom>
          <a:noFill/>
          <a:ln/>
        </p:spPr>
        <p:txBody>
          <a:bodyPr wrap="square" lIns="0" tIns="0" rIns="0" bIns="0" rtlCol="0" anchor="t">
            <a:normAutofit/>
          </a:bodyPr>
          <a:lstStyle/>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Target-encode</a:t>
            </a:r>
            <a:endParaRPr lang="en-US" sz="1600" dirty="0"/>
          </a:p>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(train only)</a:t>
            </a:r>
            <a:endParaRPr lang="en-US" sz="1600" dirty="0"/>
          </a:p>
        </p:txBody>
      </p:sp>
      <p:sp>
        <p:nvSpPr>
          <p:cNvPr id="9" name="Shape 7"/>
          <p:cNvSpPr/>
          <p:nvPr/>
        </p:nvSpPr>
        <p:spPr>
          <a:xfrm>
            <a:off x="4663380" y="1783035"/>
            <a:ext cx="1828800" cy="914400"/>
          </a:xfrm>
          <a:prstGeom prst="roundRect">
            <a:avLst>
              <a:gd name="adj" fmla="val 14400"/>
            </a:avLst>
          </a:prstGeom>
          <a:solidFill>
            <a:srgbClr val="00A0FF"/>
          </a:solidFill>
          <a:ln/>
        </p:spPr>
        <p:txBody>
          <a:bodyPr/>
          <a:lstStyle/>
          <a:p>
            <a:endParaRPr lang="en-US"/>
          </a:p>
        </p:txBody>
      </p:sp>
      <p:sp>
        <p:nvSpPr>
          <p:cNvPr id="10" name="Text 8"/>
          <p:cNvSpPr/>
          <p:nvPr/>
        </p:nvSpPr>
        <p:spPr>
          <a:xfrm>
            <a:off x="4736529" y="1935435"/>
            <a:ext cx="1682502" cy="609600"/>
          </a:xfrm>
          <a:prstGeom prst="rect">
            <a:avLst/>
          </a:prstGeom>
          <a:noFill/>
          <a:ln/>
        </p:spPr>
        <p:txBody>
          <a:bodyPr wrap="square" lIns="0" tIns="0" rIns="0" bIns="0" rtlCol="0" anchor="t">
            <a:normAutofit/>
          </a:bodyPr>
          <a:lstStyle/>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Assemble +</a:t>
            </a:r>
            <a:endParaRPr lang="en-US" sz="1600" dirty="0"/>
          </a:p>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standardise</a:t>
            </a:r>
            <a:endParaRPr lang="en-US" sz="1600" dirty="0"/>
          </a:p>
        </p:txBody>
      </p:sp>
      <p:sp>
        <p:nvSpPr>
          <p:cNvPr id="11" name="Shape 9"/>
          <p:cNvSpPr/>
          <p:nvPr/>
        </p:nvSpPr>
        <p:spPr>
          <a:xfrm>
            <a:off x="6766545" y="1783035"/>
            <a:ext cx="1828800" cy="914400"/>
          </a:xfrm>
          <a:prstGeom prst="roundRect">
            <a:avLst>
              <a:gd name="adj" fmla="val 14400"/>
            </a:avLst>
          </a:prstGeom>
          <a:solidFill>
            <a:srgbClr val="00A0FF"/>
          </a:solidFill>
          <a:ln/>
        </p:spPr>
        <p:txBody>
          <a:bodyPr/>
          <a:lstStyle/>
          <a:p>
            <a:endParaRPr lang="en-US"/>
          </a:p>
        </p:txBody>
      </p:sp>
      <p:sp>
        <p:nvSpPr>
          <p:cNvPr id="12" name="Text 10"/>
          <p:cNvSpPr/>
          <p:nvPr/>
        </p:nvSpPr>
        <p:spPr>
          <a:xfrm>
            <a:off x="6839694" y="1935435"/>
            <a:ext cx="1682502" cy="609600"/>
          </a:xfrm>
          <a:prstGeom prst="rect">
            <a:avLst/>
          </a:prstGeom>
          <a:noFill/>
          <a:ln/>
        </p:spPr>
        <p:txBody>
          <a:bodyPr wrap="square" lIns="0" tIns="0" rIns="0" bIns="0" rtlCol="0" anchor="t">
            <a:normAutofit/>
          </a:bodyPr>
          <a:lstStyle/>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Class weights</a:t>
            </a:r>
            <a:endParaRPr lang="en-US" sz="1600" dirty="0"/>
          </a:p>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N / (2·N_class)</a:t>
            </a:r>
            <a:endParaRPr lang="en-US" sz="1600" dirty="0"/>
          </a:p>
        </p:txBody>
      </p:sp>
      <p:sp>
        <p:nvSpPr>
          <p:cNvPr id="13" name="Shape 11"/>
          <p:cNvSpPr/>
          <p:nvPr/>
        </p:nvSpPr>
        <p:spPr>
          <a:xfrm>
            <a:off x="6766545" y="3429000"/>
            <a:ext cx="1828800" cy="914400"/>
          </a:xfrm>
          <a:prstGeom prst="roundRect">
            <a:avLst>
              <a:gd name="adj" fmla="val 14400"/>
            </a:avLst>
          </a:prstGeom>
          <a:solidFill>
            <a:srgbClr val="621360"/>
          </a:solidFill>
          <a:ln/>
        </p:spPr>
        <p:txBody>
          <a:bodyPr/>
          <a:lstStyle/>
          <a:p>
            <a:endParaRPr lang="en-US"/>
          </a:p>
        </p:txBody>
      </p:sp>
      <p:sp>
        <p:nvSpPr>
          <p:cNvPr id="14" name="Text 12"/>
          <p:cNvSpPr/>
          <p:nvPr/>
        </p:nvSpPr>
        <p:spPr>
          <a:xfrm>
            <a:off x="6839694" y="3648060"/>
            <a:ext cx="1682502" cy="48771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FFFFFF"/>
                </a:solidFill>
                <a:latin typeface="Carlito Bold" pitchFamily="34" charset="0"/>
                <a:ea typeface="Carlito Bold" pitchFamily="34" charset="-122"/>
                <a:cs typeface="Carlito Bold" pitchFamily="34" charset="-120"/>
              </a:rPr>
              <a:t>3-fold CV</a:t>
            </a:r>
            <a:endParaRPr lang="en-US" sz="1600" dirty="0"/>
          </a:p>
          <a:p>
            <a:pPr marL="0" indent="0" algn="ctr">
              <a:lnSpc>
                <a:spcPct val="100000"/>
              </a:lnSpc>
              <a:buNone/>
            </a:pPr>
            <a:r>
              <a:rPr lang="en-US" sz="1600" b="1" dirty="0">
                <a:solidFill>
                  <a:srgbClr val="FFFFFF"/>
                </a:solidFill>
                <a:latin typeface="Carlito Bold" pitchFamily="34" charset="0"/>
                <a:ea typeface="Carlito Bold" pitchFamily="34" charset="-122"/>
                <a:cs typeface="Carlito Bold" pitchFamily="34" charset="-120"/>
              </a:rPr>
              <a:t>(PR-AUC)</a:t>
            </a:r>
            <a:endParaRPr lang="en-US" sz="1600" dirty="0"/>
          </a:p>
        </p:txBody>
      </p:sp>
      <p:sp>
        <p:nvSpPr>
          <p:cNvPr id="15" name="Shape 13"/>
          <p:cNvSpPr/>
          <p:nvPr/>
        </p:nvSpPr>
        <p:spPr>
          <a:xfrm>
            <a:off x="4663380" y="3429000"/>
            <a:ext cx="1828800" cy="914400"/>
          </a:xfrm>
          <a:prstGeom prst="roundRect">
            <a:avLst>
              <a:gd name="adj" fmla="val 14400"/>
            </a:avLst>
          </a:prstGeom>
          <a:solidFill>
            <a:srgbClr val="621360"/>
          </a:solidFill>
          <a:ln/>
        </p:spPr>
        <p:txBody>
          <a:bodyPr/>
          <a:lstStyle/>
          <a:p>
            <a:endParaRPr lang="en-US"/>
          </a:p>
        </p:txBody>
      </p:sp>
      <p:sp>
        <p:nvSpPr>
          <p:cNvPr id="16" name="Text 14"/>
          <p:cNvSpPr/>
          <p:nvPr/>
        </p:nvSpPr>
        <p:spPr>
          <a:xfrm>
            <a:off x="4736529" y="3648060"/>
            <a:ext cx="1682502" cy="487710"/>
          </a:xfrm>
          <a:prstGeom prst="rect">
            <a:avLst/>
          </a:prstGeom>
          <a:noFill/>
          <a:ln/>
        </p:spPr>
        <p:txBody>
          <a:bodyPr wrap="square" lIns="0" tIns="0" rIns="0" bIns="0" rtlCol="0" anchor="t">
            <a:normAutofit/>
          </a:bodyPr>
          <a:lstStyle/>
          <a:p>
            <a:pPr marL="0" indent="0" algn="ctr">
              <a:lnSpc>
                <a:spcPct val="100000"/>
              </a:lnSpc>
              <a:buNone/>
            </a:pPr>
            <a:r>
              <a:rPr lang="en-US" sz="1600" b="1" dirty="0">
                <a:solidFill>
                  <a:srgbClr val="FFFFFF"/>
                </a:solidFill>
                <a:latin typeface="Carlito Bold" pitchFamily="34" charset="0"/>
                <a:ea typeface="Carlito Bold" pitchFamily="34" charset="-122"/>
                <a:cs typeface="Carlito Bold" pitchFamily="34" charset="-120"/>
              </a:rPr>
              <a:t>Train LR · RF · GBT</a:t>
            </a:r>
            <a:endParaRPr lang="en-US" sz="1600" dirty="0"/>
          </a:p>
          <a:p>
            <a:pPr marL="0" indent="0" algn="ctr">
              <a:lnSpc>
                <a:spcPct val="100000"/>
              </a:lnSpc>
              <a:buNone/>
            </a:pPr>
            <a:r>
              <a:rPr lang="en-US" sz="1600" b="1" dirty="0">
                <a:solidFill>
                  <a:srgbClr val="FFFFFF"/>
                </a:solidFill>
                <a:latin typeface="Carlito Bold" pitchFamily="34" charset="0"/>
                <a:ea typeface="Carlito Bold" pitchFamily="34" charset="-122"/>
                <a:cs typeface="Carlito Bold" pitchFamily="34" charset="-120"/>
              </a:rPr>
              <a:t>(Spark MLlib)</a:t>
            </a:r>
            <a:endParaRPr lang="en-US" sz="1600" dirty="0"/>
          </a:p>
        </p:txBody>
      </p:sp>
      <p:sp>
        <p:nvSpPr>
          <p:cNvPr id="17" name="Shape 15"/>
          <p:cNvSpPr/>
          <p:nvPr/>
        </p:nvSpPr>
        <p:spPr>
          <a:xfrm>
            <a:off x="2560290" y="3429000"/>
            <a:ext cx="1828800" cy="914400"/>
          </a:xfrm>
          <a:prstGeom prst="roundRect">
            <a:avLst>
              <a:gd name="adj" fmla="val 14400"/>
            </a:avLst>
          </a:prstGeom>
          <a:solidFill>
            <a:srgbClr val="621360"/>
          </a:solidFill>
          <a:ln/>
        </p:spPr>
        <p:txBody>
          <a:bodyPr/>
          <a:lstStyle/>
          <a:p>
            <a:endParaRPr lang="en-US"/>
          </a:p>
        </p:txBody>
      </p:sp>
      <p:sp>
        <p:nvSpPr>
          <p:cNvPr id="18" name="Text 16"/>
          <p:cNvSpPr/>
          <p:nvPr/>
        </p:nvSpPr>
        <p:spPr>
          <a:xfrm>
            <a:off x="2633439" y="3581400"/>
            <a:ext cx="1682502" cy="609600"/>
          </a:xfrm>
          <a:prstGeom prst="rect">
            <a:avLst/>
          </a:prstGeom>
          <a:noFill/>
          <a:ln/>
        </p:spPr>
        <p:txBody>
          <a:bodyPr wrap="square" lIns="0" tIns="0" rIns="0" bIns="0" rtlCol="0" anchor="t">
            <a:normAutofit/>
          </a:bodyPr>
          <a:lstStyle/>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Tune threshold</a:t>
            </a:r>
            <a:endParaRPr lang="en-US" sz="1600" dirty="0"/>
          </a:p>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on validation</a:t>
            </a:r>
            <a:endParaRPr lang="en-US" sz="1600" dirty="0"/>
          </a:p>
        </p:txBody>
      </p:sp>
      <p:sp>
        <p:nvSpPr>
          <p:cNvPr id="19" name="Shape 17"/>
          <p:cNvSpPr/>
          <p:nvPr/>
        </p:nvSpPr>
        <p:spPr>
          <a:xfrm>
            <a:off x="457200" y="3429000"/>
            <a:ext cx="1828800" cy="914400"/>
          </a:xfrm>
          <a:prstGeom prst="roundRect">
            <a:avLst>
              <a:gd name="adj" fmla="val 14400"/>
            </a:avLst>
          </a:prstGeom>
          <a:solidFill>
            <a:srgbClr val="3C023C"/>
          </a:solidFill>
          <a:ln/>
        </p:spPr>
        <p:txBody>
          <a:bodyPr/>
          <a:lstStyle/>
          <a:p>
            <a:endParaRPr lang="en-US"/>
          </a:p>
        </p:txBody>
      </p:sp>
      <p:sp>
        <p:nvSpPr>
          <p:cNvPr id="20" name="Text 18"/>
          <p:cNvSpPr/>
          <p:nvPr/>
        </p:nvSpPr>
        <p:spPr>
          <a:xfrm>
            <a:off x="530349" y="3581400"/>
            <a:ext cx="1682502" cy="609600"/>
          </a:xfrm>
          <a:prstGeom prst="rect">
            <a:avLst/>
          </a:prstGeom>
          <a:noFill/>
          <a:ln/>
        </p:spPr>
        <p:txBody>
          <a:bodyPr wrap="square" lIns="0" tIns="0" rIns="0" bIns="0" rtlCol="0" anchor="t">
            <a:normAutofit/>
          </a:bodyPr>
          <a:lstStyle/>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Evaluate on test</a:t>
            </a:r>
            <a:endParaRPr lang="en-US" sz="1600" dirty="0"/>
          </a:p>
          <a:p>
            <a:pPr marL="0" indent="0" algn="ctr">
              <a:lnSpc>
                <a:spcPct val="125000"/>
              </a:lnSpc>
              <a:buNone/>
            </a:pPr>
            <a:r>
              <a:rPr lang="en-US" sz="1600" b="1" dirty="0">
                <a:solidFill>
                  <a:srgbClr val="FFFFFF"/>
                </a:solidFill>
                <a:latin typeface="Carlito Bold" pitchFamily="34" charset="0"/>
                <a:ea typeface="Carlito Bold" pitchFamily="34" charset="-122"/>
                <a:cs typeface="Carlito Bold" pitchFamily="34" charset="-120"/>
              </a:rPr>
              <a:t>+ temporal test</a:t>
            </a:r>
            <a:endParaRPr lang="en-US" sz="1600" dirty="0"/>
          </a:p>
        </p:txBody>
      </p:sp>
      <p:sp>
        <p:nvSpPr>
          <p:cNvPr id="21" name="Shape 19"/>
          <p:cNvSpPr/>
          <p:nvPr/>
        </p:nvSpPr>
        <p:spPr>
          <a:xfrm>
            <a:off x="2286000" y="2230710"/>
            <a:ext cx="198090" cy="19050"/>
          </a:xfrm>
          <a:prstGeom prst="rect">
            <a:avLst/>
          </a:prstGeom>
          <a:solidFill>
            <a:srgbClr val="5A5A5A"/>
          </a:solidFill>
          <a:ln/>
        </p:spPr>
        <p:txBody>
          <a:bodyPr/>
          <a:lstStyle/>
          <a:p>
            <a:endParaRPr lang="en-US"/>
          </a:p>
        </p:txBody>
      </p:sp>
      <p:sp>
        <p:nvSpPr>
          <p:cNvPr id="22" name="Shape 20"/>
          <p:cNvSpPr/>
          <p:nvPr/>
        </p:nvSpPr>
        <p:spPr>
          <a:xfrm>
            <a:off x="2484090" y="2202135"/>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23" name="Shape 21"/>
          <p:cNvSpPr/>
          <p:nvPr/>
        </p:nvSpPr>
        <p:spPr>
          <a:xfrm>
            <a:off x="4389090" y="2230710"/>
            <a:ext cx="198090" cy="19050"/>
          </a:xfrm>
          <a:prstGeom prst="rect">
            <a:avLst/>
          </a:prstGeom>
          <a:solidFill>
            <a:srgbClr val="5A5A5A"/>
          </a:solidFill>
          <a:ln/>
        </p:spPr>
        <p:txBody>
          <a:bodyPr/>
          <a:lstStyle/>
          <a:p>
            <a:endParaRPr lang="en-US"/>
          </a:p>
        </p:txBody>
      </p:sp>
      <p:sp>
        <p:nvSpPr>
          <p:cNvPr id="24" name="Shape 22"/>
          <p:cNvSpPr/>
          <p:nvPr/>
        </p:nvSpPr>
        <p:spPr>
          <a:xfrm>
            <a:off x="4587180" y="2202135"/>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25" name="Shape 23"/>
          <p:cNvSpPr/>
          <p:nvPr/>
        </p:nvSpPr>
        <p:spPr>
          <a:xfrm>
            <a:off x="6492180" y="2230710"/>
            <a:ext cx="198090" cy="19050"/>
          </a:xfrm>
          <a:prstGeom prst="rect">
            <a:avLst/>
          </a:prstGeom>
          <a:solidFill>
            <a:srgbClr val="5A5A5A"/>
          </a:solidFill>
          <a:ln/>
        </p:spPr>
        <p:txBody>
          <a:bodyPr/>
          <a:lstStyle/>
          <a:p>
            <a:endParaRPr lang="en-US"/>
          </a:p>
        </p:txBody>
      </p:sp>
      <p:sp>
        <p:nvSpPr>
          <p:cNvPr id="26" name="Shape 24"/>
          <p:cNvSpPr/>
          <p:nvPr/>
        </p:nvSpPr>
        <p:spPr>
          <a:xfrm>
            <a:off x="6690345" y="2202135"/>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27" name="Shape 25"/>
          <p:cNvSpPr/>
          <p:nvPr/>
        </p:nvSpPr>
        <p:spPr>
          <a:xfrm>
            <a:off x="7671420" y="2697435"/>
            <a:ext cx="19050" cy="655290"/>
          </a:xfrm>
          <a:prstGeom prst="rect">
            <a:avLst/>
          </a:prstGeom>
          <a:solidFill>
            <a:srgbClr val="5A5A5A"/>
          </a:solidFill>
          <a:ln/>
        </p:spPr>
        <p:txBody>
          <a:bodyPr/>
          <a:lstStyle/>
          <a:p>
            <a:endParaRPr lang="en-US"/>
          </a:p>
        </p:txBody>
      </p:sp>
      <p:sp>
        <p:nvSpPr>
          <p:cNvPr id="28" name="Shape 26"/>
          <p:cNvSpPr/>
          <p:nvPr/>
        </p:nvSpPr>
        <p:spPr>
          <a:xfrm rot="5400000">
            <a:off x="7642845" y="3352800"/>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29" name="Shape 27"/>
          <p:cNvSpPr/>
          <p:nvPr/>
        </p:nvSpPr>
        <p:spPr>
          <a:xfrm>
            <a:off x="6568380" y="3876675"/>
            <a:ext cx="198090" cy="19050"/>
          </a:xfrm>
          <a:prstGeom prst="rect">
            <a:avLst/>
          </a:prstGeom>
          <a:solidFill>
            <a:srgbClr val="5A5A5A"/>
          </a:solidFill>
          <a:ln/>
        </p:spPr>
        <p:txBody>
          <a:bodyPr/>
          <a:lstStyle/>
          <a:p>
            <a:endParaRPr lang="en-US"/>
          </a:p>
        </p:txBody>
      </p:sp>
      <p:sp>
        <p:nvSpPr>
          <p:cNvPr id="30" name="Shape 28"/>
          <p:cNvSpPr/>
          <p:nvPr/>
        </p:nvSpPr>
        <p:spPr>
          <a:xfrm rot="10800000">
            <a:off x="6492180" y="3848100"/>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31" name="Shape 29"/>
          <p:cNvSpPr/>
          <p:nvPr/>
        </p:nvSpPr>
        <p:spPr>
          <a:xfrm>
            <a:off x="4465290" y="3876675"/>
            <a:ext cx="198090" cy="19050"/>
          </a:xfrm>
          <a:prstGeom prst="rect">
            <a:avLst/>
          </a:prstGeom>
          <a:solidFill>
            <a:srgbClr val="5A5A5A"/>
          </a:solidFill>
          <a:ln/>
        </p:spPr>
        <p:txBody>
          <a:bodyPr/>
          <a:lstStyle/>
          <a:p>
            <a:endParaRPr lang="en-US"/>
          </a:p>
        </p:txBody>
      </p:sp>
      <p:sp>
        <p:nvSpPr>
          <p:cNvPr id="32" name="Shape 30"/>
          <p:cNvSpPr/>
          <p:nvPr/>
        </p:nvSpPr>
        <p:spPr>
          <a:xfrm rot="10800000">
            <a:off x="4389090" y="3848100"/>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33" name="Shape 31"/>
          <p:cNvSpPr/>
          <p:nvPr/>
        </p:nvSpPr>
        <p:spPr>
          <a:xfrm>
            <a:off x="2362200" y="3876675"/>
            <a:ext cx="198090" cy="19050"/>
          </a:xfrm>
          <a:prstGeom prst="rect">
            <a:avLst/>
          </a:prstGeom>
          <a:solidFill>
            <a:srgbClr val="5A5A5A"/>
          </a:solidFill>
          <a:ln/>
        </p:spPr>
        <p:txBody>
          <a:bodyPr/>
          <a:lstStyle/>
          <a:p>
            <a:endParaRPr lang="en-US"/>
          </a:p>
        </p:txBody>
      </p:sp>
      <p:sp>
        <p:nvSpPr>
          <p:cNvPr id="34" name="Shape 32"/>
          <p:cNvSpPr/>
          <p:nvPr/>
        </p:nvSpPr>
        <p:spPr>
          <a:xfrm rot="10800000">
            <a:off x="2286000" y="3848100"/>
            <a:ext cx="76200" cy="76200"/>
          </a:xfrm>
          <a:custGeom>
            <a:avLst/>
            <a:gdLst/>
            <a:ahLst/>
            <a:cxnLst/>
            <a:rect l="l" t="t" r="r" b="b"/>
            <a:pathLst>
              <a:path w="76200" h="76200">
                <a:moveTo>
                  <a:pt x="76200" y="38100"/>
                </a:moveTo>
                <a:lnTo>
                  <a:pt x="0" y="0"/>
                </a:lnTo>
                <a:lnTo>
                  <a:pt x="0" y="76200"/>
                </a:lnTo>
                <a:close/>
              </a:path>
            </a:pathLst>
          </a:custGeom>
          <a:solidFill>
            <a:srgbClr val="5A5A5A"/>
          </a:solidFill>
          <a:ln/>
        </p:spPr>
        <p:txBody>
          <a:bodyPr/>
          <a:lstStyle/>
          <a:p>
            <a:endParaRPr lang="en-US"/>
          </a:p>
        </p:txBody>
      </p:sp>
      <p:sp>
        <p:nvSpPr>
          <p:cNvPr id="35" name="Text 33"/>
          <p:cNvSpPr/>
          <p:nvPr/>
        </p:nvSpPr>
        <p:spPr>
          <a:xfrm>
            <a:off x="365745" y="4740846"/>
            <a:ext cx="8234065" cy="797421"/>
          </a:xfrm>
          <a:prstGeom prst="rect">
            <a:avLst/>
          </a:prstGeom>
          <a:noFill/>
          <a:ln/>
        </p:spPr>
        <p:txBody>
          <a:bodyPr wrap="square" lIns="0" tIns="0" rIns="0" bIns="0" rtlCol="0" anchor="t">
            <a:normAutofit/>
          </a:bodyPr>
          <a:lstStyle/>
          <a:p>
            <a:pPr marL="227838" indent="-227838" algn="l">
              <a:lnSpc>
                <a:spcPct val="100000"/>
              </a:lnSpc>
              <a:buSzPct val="100000"/>
              <a:buChar char="•"/>
            </a:pPr>
            <a:r>
              <a:rPr lang="en-US" sz="1300" b="1" dirty="0">
                <a:solidFill>
                  <a:srgbClr val="1F1F1F"/>
                </a:solidFill>
                <a:latin typeface="Carlito Bold" pitchFamily="34" charset="0"/>
                <a:ea typeface="Carlito Bold" pitchFamily="34" charset="-122"/>
                <a:cs typeface="Carlito Bold" pitchFamily="34" charset="-120"/>
              </a:rPr>
              <a:t>Logistic Regression: </a:t>
            </a:r>
            <a:r>
              <a:rPr lang="en-US" sz="1300" dirty="0">
                <a:solidFill>
                  <a:srgbClr val="1F1F1F"/>
                </a:solidFill>
                <a:latin typeface="Carlito" pitchFamily="34" charset="0"/>
                <a:ea typeface="Carlito" pitchFamily="34" charset="-122"/>
                <a:cs typeface="Carlito" pitchFamily="34" charset="-120"/>
              </a:rPr>
              <a:t>interpretable linear baseline.</a:t>
            </a:r>
            <a:endParaRPr lang="en-US" sz="1300" dirty="0"/>
          </a:p>
          <a:p>
            <a:pPr marL="227838" indent="-227838" algn="l">
              <a:lnSpc>
                <a:spcPct val="100000"/>
              </a:lnSpc>
              <a:buSzPct val="100000"/>
              <a:buChar char="•"/>
            </a:pPr>
            <a:r>
              <a:rPr lang="en-US" sz="1300" b="1" dirty="0">
                <a:solidFill>
                  <a:srgbClr val="1F1F1F"/>
                </a:solidFill>
                <a:latin typeface="Carlito Bold" pitchFamily="34" charset="0"/>
                <a:ea typeface="Carlito Bold" pitchFamily="34" charset="-122"/>
                <a:cs typeface="Carlito Bold" pitchFamily="34" charset="-120"/>
              </a:rPr>
              <a:t>Random Forest: </a:t>
            </a:r>
            <a:r>
              <a:rPr lang="en-US" sz="1300" dirty="0">
                <a:solidFill>
                  <a:srgbClr val="1F1F1F"/>
                </a:solidFill>
                <a:latin typeface="Carlito" pitchFamily="34" charset="0"/>
                <a:ea typeface="Carlito" pitchFamily="34" charset="-122"/>
                <a:cs typeface="Carlito" pitchFamily="34" charset="-120"/>
              </a:rPr>
              <a:t>many independent trees, easy to parallelise.</a:t>
            </a:r>
            <a:endParaRPr lang="en-US" sz="1300" dirty="0"/>
          </a:p>
          <a:p>
            <a:pPr marL="227838" indent="-227838" algn="l">
              <a:lnSpc>
                <a:spcPct val="100000"/>
              </a:lnSpc>
              <a:buSzPct val="100000"/>
              <a:buChar char="•"/>
            </a:pPr>
            <a:r>
              <a:rPr lang="en-US" sz="1300" b="1" dirty="0">
                <a:solidFill>
                  <a:srgbClr val="1F1F1F"/>
                </a:solidFill>
                <a:latin typeface="Carlito Bold" pitchFamily="34" charset="0"/>
                <a:ea typeface="Carlito Bold" pitchFamily="34" charset="-122"/>
                <a:cs typeface="Carlito Bold" pitchFamily="34" charset="-120"/>
              </a:rPr>
              <a:t>Gradient-Boosted Trees: </a:t>
            </a:r>
            <a:r>
              <a:rPr lang="en-US" sz="1300" dirty="0">
                <a:solidFill>
                  <a:srgbClr val="1F1F1F"/>
                </a:solidFill>
                <a:latin typeface="Carlito" pitchFamily="34" charset="0"/>
                <a:ea typeface="Carlito" pitchFamily="34" charset="-122"/>
                <a:cs typeface="Carlito" pitchFamily="34" charset="-120"/>
              </a:rPr>
              <a:t>trees added in sequence, each fixing the last; sequential rounds make it hardest to scale.</a:t>
            </a:r>
            <a:endParaRPr lang="en-US" sz="1300" dirty="0"/>
          </a:p>
        </p:txBody>
      </p:sp>
      <p:pic>
        <p:nvPicPr>
          <p:cNvPr id="36"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TUNING WITH CV</a:t>
            </a:r>
            <a:endParaRPr lang="en-US" sz="4400" dirty="0"/>
          </a:p>
        </p:txBody>
      </p:sp>
      <p:pic>
        <p:nvPicPr>
          <p:cNvPr id="5" name="Image 0" descr="preencoded.png"/>
          <p:cNvPicPr>
            <a:picLocks noChangeAspect="1"/>
          </p:cNvPicPr>
          <p:nvPr/>
        </p:nvPicPr>
        <p:blipFill>
          <a:blip r:embed="rId3"/>
          <a:stretch>
            <a:fillRect/>
          </a:stretch>
        </p:blipFill>
        <p:spPr>
          <a:xfrm>
            <a:off x="631180" y="1462980"/>
            <a:ext cx="7744271" cy="4069035"/>
          </a:xfrm>
          <a:prstGeom prst="rect">
            <a:avLst/>
          </a:prstGeom>
        </p:spPr>
      </p:pic>
      <p:sp>
        <p:nvSpPr>
          <p:cNvPr id="6" name="Text 3"/>
          <p:cNvSpPr/>
          <p:nvPr/>
        </p:nvSpPr>
        <p:spPr>
          <a:xfrm>
            <a:off x="137145" y="5627861"/>
            <a:ext cx="8732490" cy="323776"/>
          </a:xfrm>
          <a:prstGeom prst="rect">
            <a:avLst/>
          </a:prstGeom>
          <a:noFill/>
          <a:ln/>
        </p:spPr>
        <p:txBody>
          <a:bodyPr wrap="none" lIns="0" tIns="0" rIns="0" bIns="0" rtlCol="0" anchor="t"/>
          <a:lstStyle/>
          <a:p>
            <a:pPr marL="0" indent="0" algn="ctr">
              <a:lnSpc>
                <a:spcPct val="125000"/>
              </a:lnSpc>
              <a:buNone/>
            </a:pPr>
            <a:r>
              <a:rPr lang="en-US" sz="1600" dirty="0">
                <a:solidFill>
                  <a:srgbClr val="5A5A5A"/>
                </a:solidFill>
                <a:latin typeface="Carlito" pitchFamily="34" charset="0"/>
                <a:ea typeface="Carlito" pitchFamily="34" charset="-122"/>
                <a:cs typeface="Carlito" pitchFamily="34" charset="-120"/>
              </a:rPr>
              <a:t>3-fold CrossValidator on PR-AUC · best CV PR-AUC: LR 0.369, RF 0.444, GBT 0.469</a:t>
            </a:r>
            <a:endParaRPr lang="en-US" sz="1600" dirty="0"/>
          </a:p>
        </p:txBody>
      </p:sp>
      <p:pic>
        <p:nvPicPr>
          <p:cNvPr id="7" name="Image 1" descr="preencoded.png"/>
          <p:cNvPicPr>
            <a:picLocks noChangeAspect="1"/>
          </p:cNvPicPr>
          <p:nvPr/>
        </p:nvPicPr>
        <p:blipFill>
          <a:blip r:embed="rId4"/>
          <a:stretch>
            <a:fillRect/>
          </a:stretch>
        </p:blipFill>
        <p:spPr>
          <a:xfrm>
            <a:off x="471488" y="6225108"/>
            <a:ext cx="1298004" cy="46196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RESULTS ON THE TEST SET</a:t>
            </a:r>
            <a:endParaRPr lang="en-US" sz="4400" dirty="0"/>
          </a:p>
        </p:txBody>
      </p:sp>
      <p:sp>
        <p:nvSpPr>
          <p:cNvPr id="5" name="Text 3"/>
          <p:cNvSpPr/>
          <p:nvPr/>
        </p:nvSpPr>
        <p:spPr>
          <a:xfrm>
            <a:off x="194295" y="1593875"/>
            <a:ext cx="5006280" cy="342900"/>
          </a:xfrm>
          <a:prstGeom prst="rect">
            <a:avLst/>
          </a:prstGeom>
          <a:noFill/>
          <a:ln/>
        </p:spPr>
        <p:txBody>
          <a:bodyPr wrap="none" lIns="0" tIns="0" rIns="0" bIns="0" rtlCol="0" anchor="t"/>
          <a:lstStyle/>
          <a:p>
            <a:pPr marL="0" indent="0" algn="ctr">
              <a:lnSpc>
                <a:spcPct val="125000"/>
              </a:lnSpc>
              <a:buNone/>
            </a:pPr>
            <a:r>
              <a:rPr lang="en-US" sz="1800" b="1" dirty="0">
                <a:solidFill>
                  <a:srgbClr val="5A5A5A"/>
                </a:solidFill>
                <a:latin typeface="Carlito Bold" pitchFamily="34" charset="0"/>
                <a:ea typeface="Carlito Bold" pitchFamily="34" charset="-122"/>
                <a:cs typeface="Carlito Bold" pitchFamily="34" charset="-120"/>
              </a:rPr>
              <a:t>Test-set metrics (delayed = positive class)</a:t>
            </a:r>
            <a:endParaRPr lang="en-US" sz="1800" dirty="0"/>
          </a:p>
        </p:txBody>
      </p:sp>
      <p:graphicFrame>
        <p:nvGraphicFramePr>
          <p:cNvPr id="17" name="Table 0"/>
          <p:cNvGraphicFramePr>
            <a:graphicFrameLocks noGrp="1"/>
          </p:cNvGraphicFramePr>
          <p:nvPr>
            <p:extLst>
              <p:ext uri="{D42A27DB-BD31-4B8C-83A1-F6EECF244321}">
                <p14:modId xmlns:p14="http://schemas.microsoft.com/office/powerpoint/2010/main" val="3022618482"/>
              </p:ext>
            </p:extLst>
          </p:nvPr>
        </p:nvGraphicFramePr>
        <p:xfrm>
          <a:off x="5198677" y="1691580"/>
          <a:ext cx="3523842" cy="2743200"/>
        </p:xfrm>
        <a:graphic>
          <a:graphicData uri="http://schemas.openxmlformats.org/drawingml/2006/table">
            <a:tbl>
              <a:tblPr/>
              <a:tblGrid>
                <a:gridCol w="945878">
                  <a:extLst>
                    <a:ext uri="{9D8B030D-6E8A-4147-A177-3AD203B41FA5}">
                      <a16:colId xmlns:a16="http://schemas.microsoft.com/office/drawing/2014/main" val="20000"/>
                    </a:ext>
                  </a:extLst>
                </a:gridCol>
                <a:gridCol w="785812">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57213">
                  <a:extLst>
                    <a:ext uri="{9D8B030D-6E8A-4147-A177-3AD203B41FA5}">
                      <a16:colId xmlns:a16="http://schemas.microsoft.com/office/drawing/2014/main" val="20003"/>
                    </a:ext>
                  </a:extLst>
                </a:gridCol>
                <a:gridCol w="663439">
                  <a:extLst>
                    <a:ext uri="{9D8B030D-6E8A-4147-A177-3AD203B41FA5}">
                      <a16:colId xmlns:a16="http://schemas.microsoft.com/office/drawing/2014/main" val="20004"/>
                    </a:ext>
                  </a:extLst>
                </a:gridCol>
              </a:tblGrid>
              <a:tr h="548640">
                <a:tc>
                  <a:txBody>
                    <a:bodyPr/>
                    <a:lstStyle/>
                    <a:p>
                      <a:pPr marL="0" indent="0">
                        <a:buNone/>
                      </a:pPr>
                      <a:endParaRPr lang="en-US" sz="18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Acc.</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F1</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AUC</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Train</a:t>
                      </a:r>
                      <a:endParaRPr lang="en-US" sz="1500" dirty="0">
                        <a:latin typeface="Carlito" charset="0"/>
                        <a:ea typeface="Carlito" charset="0"/>
                        <a:cs typeface="Carlito" charset="0"/>
                      </a:endParaRPr>
                    </a:p>
                  </a:txBody>
                  <a:tcPr marL="45720" marR="457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extLst>
                  <a:ext uri="{0D108BD9-81ED-4DB2-BD59-A6C34878D82A}">
                    <a16:rowId xmlns:a16="http://schemas.microsoft.com/office/drawing/2014/main" val="10000"/>
                  </a:ext>
                </a:extLst>
              </a:tr>
              <a:tr h="548640">
                <a:tc>
                  <a:txBody>
                    <a:bodyPr/>
                    <a:lstStyle/>
                    <a:p>
                      <a:pPr marL="0" indent="0" algn="l">
                        <a:buNone/>
                      </a:pPr>
                      <a:r>
                        <a:rPr lang="en-US" sz="1500" b="1" dirty="0">
                          <a:solidFill>
                            <a:srgbClr val="00A0FF"/>
                          </a:solidFill>
                          <a:latin typeface="Carlito" pitchFamily="34" charset="0"/>
                          <a:ea typeface="Carlito" pitchFamily="34" charset="-122"/>
                          <a:cs typeface="Carlito" pitchFamily="34" charset="-120"/>
                        </a:rPr>
                        <a:t>Logistic Regression</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0.624</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0.431</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0.676</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47 s</a:t>
                      </a:r>
                      <a:endParaRPr lang="en-US" sz="1500" dirty="0">
                        <a:latin typeface="Carlito" charset="0"/>
                        <a:ea typeface="Carlito" charset="0"/>
                        <a:cs typeface="Carlito" charset="0"/>
                      </a:endParaRPr>
                    </a:p>
                  </a:txBody>
                  <a:tcPr marL="45720" marR="457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500" b="1" dirty="0">
                          <a:solidFill>
                            <a:srgbClr val="621360"/>
                          </a:solidFill>
                          <a:latin typeface="Carlito" pitchFamily="34" charset="0"/>
                          <a:ea typeface="Carlito" pitchFamily="34" charset="-122"/>
                          <a:cs typeface="Carlito" pitchFamily="34" charset="-120"/>
                        </a:rPr>
                        <a:t>Random Forest</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0.669</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0.460</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0.715</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2115 s</a:t>
                      </a:r>
                      <a:endParaRPr lang="en-US" sz="1500" dirty="0">
                        <a:latin typeface="Carlito" charset="0"/>
                        <a:ea typeface="Carlito" charset="0"/>
                        <a:cs typeface="Carlito" charset="0"/>
                      </a:endParaRPr>
                    </a:p>
                  </a:txBody>
                  <a:tcPr marL="45720" marR="457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extLst>
                  <a:ext uri="{0D108BD9-81ED-4DB2-BD59-A6C34878D82A}">
                    <a16:rowId xmlns:a16="http://schemas.microsoft.com/office/drawing/2014/main" val="10002"/>
                  </a:ext>
                </a:extLst>
              </a:tr>
              <a:tr h="548640">
                <a:tc>
                  <a:txBody>
                    <a:bodyPr/>
                    <a:lstStyle/>
                    <a:p>
                      <a:pPr marL="0" indent="0" algn="l">
                        <a:buNone/>
                      </a:pPr>
                      <a:r>
                        <a:rPr lang="en-US" sz="1500" b="1" dirty="0">
                          <a:solidFill>
                            <a:srgbClr val="1BAF7A"/>
                          </a:solidFill>
                          <a:latin typeface="Carlito" pitchFamily="34" charset="0"/>
                          <a:ea typeface="Carlito" pitchFamily="34" charset="-122"/>
                          <a:cs typeface="Carlito" pitchFamily="34" charset="-120"/>
                        </a:rPr>
                        <a:t>GBT</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0.710</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0.479</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0.735</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465 s</a:t>
                      </a:r>
                      <a:endParaRPr lang="en-US" sz="1500" dirty="0">
                        <a:latin typeface="Carlito" charset="0"/>
                        <a:ea typeface="Carlito" charset="0"/>
                        <a:cs typeface="Carlito" charset="0"/>
                      </a:endParaRPr>
                    </a:p>
                  </a:txBody>
                  <a:tcPr marL="45720" marR="457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500" b="1" dirty="0">
                          <a:solidFill>
                            <a:srgbClr val="1F1F1F"/>
                          </a:solidFill>
                          <a:latin typeface="Carlito" pitchFamily="34" charset="0"/>
                          <a:ea typeface="Carlito" pitchFamily="34" charset="-122"/>
                          <a:cs typeface="Carlito" pitchFamily="34" charset="-120"/>
                        </a:rPr>
                        <a:t>Always 'on time'</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77.70%</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0.000</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0.500</a:t>
                      </a:r>
                      <a:endParaRPr lang="en-US" sz="1500" dirty="0">
                        <a:latin typeface="Carlito" charset="0"/>
                        <a:ea typeface="Carlito" charset="0"/>
                        <a:cs typeface="Carlito" charset="0"/>
                      </a:endParaRPr>
                    </a:p>
                  </a:txBody>
                  <a:tcPr marL="45720" marR="330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a:t>
                      </a:r>
                      <a:endParaRPr lang="en-US" sz="1500" dirty="0">
                        <a:latin typeface="Carlito" charset="0"/>
                        <a:ea typeface="Carlito" charset="0"/>
                        <a:cs typeface="Carlito" charset="0"/>
                      </a:endParaRPr>
                    </a:p>
                  </a:txBody>
                  <a:tcPr marL="45720" marR="45720"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extLst>
                  <a:ext uri="{0D108BD9-81ED-4DB2-BD59-A6C34878D82A}">
                    <a16:rowId xmlns:a16="http://schemas.microsoft.com/office/drawing/2014/main" val="10004"/>
                  </a:ext>
                </a:extLst>
              </a:tr>
            </a:tbl>
          </a:graphicData>
        </a:graphic>
      </p:graphicFrame>
      <p:sp>
        <p:nvSpPr>
          <p:cNvPr id="8" name="Text 4"/>
          <p:cNvSpPr/>
          <p:nvPr/>
        </p:nvSpPr>
        <p:spPr>
          <a:xfrm>
            <a:off x="5212035" y="4635475"/>
            <a:ext cx="3390900" cy="1300163"/>
          </a:xfrm>
          <a:prstGeom prst="rect">
            <a:avLst/>
          </a:prstGeom>
          <a:noFill/>
          <a:ln/>
        </p:spPr>
        <p:txBody>
          <a:bodyPr wrap="square" lIns="0" tIns="0" rIns="0" bIns="0" rtlCol="0" anchor="t">
            <a:noAutofit/>
          </a:bodyPr>
          <a:lstStyle/>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Best (random split): </a:t>
            </a:r>
            <a:r>
              <a:rPr lang="en-US" sz="1500" dirty="0">
                <a:solidFill>
                  <a:srgbClr val="1F1F1F"/>
                </a:solidFill>
                <a:latin typeface="Carlito" pitchFamily="34" charset="0"/>
                <a:ea typeface="Carlito" pitchFamily="34" charset="-122"/>
                <a:cs typeface="Carlito" pitchFamily="34" charset="-120"/>
              </a:rPr>
              <a:t>Gradient-Boosted Trees, F1 0.479, ROC-AUC 0.735</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In plain terms: </a:t>
            </a:r>
            <a:r>
              <a:rPr lang="en-US" sz="1500" dirty="0">
                <a:solidFill>
                  <a:srgbClr val="1F1F1F"/>
                </a:solidFill>
                <a:latin typeface="Carlito" pitchFamily="34" charset="0"/>
                <a:ea typeface="Carlito" pitchFamily="34" charset="-122"/>
                <a:cs typeface="Carlito" pitchFamily="34" charset="-120"/>
              </a:rPr>
              <a:t>GBT catches ~60% of delays, but ~6 in 10 of its alerts are false alarms</a:t>
            </a:r>
            <a:endParaRPr lang="en-US" sz="1500" dirty="0"/>
          </a:p>
          <a:p>
            <a:pPr marL="228600" indent="-228600" algn="l">
              <a:lnSpc>
                <a:spcPct val="100000"/>
              </a:lnSpc>
              <a:buSzPct val="100000"/>
              <a:buChar char="•"/>
            </a:pPr>
            <a:r>
              <a:rPr lang="en-US" sz="1500" b="1" dirty="0">
                <a:solidFill>
                  <a:srgbClr val="1F1F1F"/>
                </a:solidFill>
                <a:latin typeface="Carlito Bold" pitchFamily="34" charset="0"/>
                <a:ea typeface="Carlito Bold" pitchFamily="34" charset="-122"/>
                <a:cs typeface="Carlito Bold" pitchFamily="34" charset="-120"/>
              </a:rPr>
              <a:t>Accuracy trap: </a:t>
            </a:r>
            <a:r>
              <a:rPr lang="en-US" sz="1500" dirty="0">
                <a:solidFill>
                  <a:srgbClr val="1F1F1F"/>
                </a:solidFill>
                <a:latin typeface="Carlito" pitchFamily="34" charset="0"/>
                <a:ea typeface="Carlito" pitchFamily="34" charset="-122"/>
                <a:cs typeface="Carlito" pitchFamily="34" charset="-120"/>
              </a:rPr>
              <a:t>doing nothing scores higher accuracy than every model</a:t>
            </a:r>
            <a:endParaRPr lang="en-US" sz="1500" dirty="0"/>
          </a:p>
        </p:txBody>
      </p:sp>
      <p:pic>
        <p:nvPicPr>
          <p:cNvPr id="9" name="Image 1" descr="preencoded.png"/>
          <p:cNvPicPr>
            <a:picLocks noChangeAspect="1"/>
          </p:cNvPicPr>
          <p:nvPr/>
        </p:nvPicPr>
        <p:blipFill>
          <a:blip r:embed="rId3"/>
          <a:stretch>
            <a:fillRect/>
          </a:stretch>
        </p:blipFill>
        <p:spPr>
          <a:xfrm>
            <a:off x="471488" y="6225108"/>
            <a:ext cx="1298004" cy="461963"/>
          </a:xfrm>
          <a:prstGeom prst="rect">
            <a:avLst/>
          </a:prstGeom>
        </p:spPr>
      </p:pic>
      <p:graphicFrame>
        <p:nvGraphicFramePr>
          <p:cNvPr id="10" name="Chart 2">
            <a:extLst>
              <a:ext uri="{FF2B5EF4-FFF2-40B4-BE49-F238E27FC236}">
                <a16:creationId xmlns:a16="http://schemas.microsoft.com/office/drawing/2014/main" id="{0AB96C4B-ECDA-4161-4C7C-8147E3A6DEC3}"/>
              </a:ext>
            </a:extLst>
          </p:cNvPr>
          <p:cNvGraphicFramePr/>
          <p:nvPr>
            <p:extLst>
              <p:ext uri="{D42A27DB-BD31-4B8C-83A1-F6EECF244321}">
                <p14:modId xmlns:p14="http://schemas.microsoft.com/office/powerpoint/2010/main" val="532270681"/>
              </p:ext>
            </p:extLst>
          </p:nvPr>
        </p:nvGraphicFramePr>
        <p:xfrm>
          <a:off x="454298" y="1936775"/>
          <a:ext cx="4646153" cy="42973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WHAT DRIVES DELAYS</a:t>
            </a:r>
            <a:endParaRPr lang="en-US" sz="4400" dirty="0"/>
          </a:p>
        </p:txBody>
      </p:sp>
      <p:sp>
        <p:nvSpPr>
          <p:cNvPr id="5" name="Text 3"/>
          <p:cNvSpPr/>
          <p:nvPr/>
        </p:nvSpPr>
        <p:spPr>
          <a:xfrm>
            <a:off x="4663380" y="1586210"/>
            <a:ext cx="3977580" cy="609600"/>
          </a:xfrm>
          <a:prstGeom prst="rect">
            <a:avLst/>
          </a:prstGeom>
          <a:noFill/>
          <a:ln/>
        </p:spPr>
        <p:txBody>
          <a:bodyPr wrap="square" lIns="0" tIns="0" rIns="0" bIns="0" rtlCol="0" anchor="t">
            <a:normAutofit/>
          </a:bodyPr>
          <a:lstStyle/>
          <a:p>
            <a:pPr marL="0" indent="0" algn="l">
              <a:lnSpc>
                <a:spcPct val="125000"/>
              </a:lnSpc>
              <a:buNone/>
            </a:pPr>
            <a:r>
              <a:rPr lang="en-US" sz="1600" b="1" dirty="0">
                <a:solidFill>
                  <a:srgbClr val="1F1F1F"/>
                </a:solidFill>
                <a:latin typeface="Carlito Bold" pitchFamily="34" charset="0"/>
                <a:ea typeface="Carlito Bold" pitchFamily="34" charset="-122"/>
                <a:cs typeface="Carlito Bold" pitchFamily="34" charset="-120"/>
              </a:rPr>
              <a:t>Random split vs Oct–Dec test</a:t>
            </a:r>
            <a:endParaRPr lang="en-US" sz="1600" dirty="0"/>
          </a:p>
        </p:txBody>
      </p:sp>
      <p:pic>
        <p:nvPicPr>
          <p:cNvPr id="6" name="Image 0" descr="preencoded.png"/>
          <p:cNvPicPr>
            <a:picLocks noChangeAspect="1"/>
          </p:cNvPicPr>
          <p:nvPr/>
        </p:nvPicPr>
        <p:blipFill>
          <a:blip r:embed="rId3"/>
          <a:stretch>
            <a:fillRect/>
          </a:stretch>
        </p:blipFill>
        <p:spPr>
          <a:xfrm>
            <a:off x="365745" y="1959173"/>
            <a:ext cx="4114800" cy="2116410"/>
          </a:xfrm>
          <a:prstGeom prst="rect">
            <a:avLst/>
          </a:prstGeom>
        </p:spPr>
      </p:pic>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663380" y="1920180"/>
          <a:ext cx="3977582" cy="2194320"/>
        </p:xfrm>
        <a:graphic>
          <a:graphicData uri="http://schemas.openxmlformats.org/drawingml/2006/table">
            <a:tbl>
              <a:tblPr/>
              <a:tblGrid>
                <a:gridCol w="685661">
                  <a:extLst>
                    <a:ext uri="{9D8B030D-6E8A-4147-A177-3AD203B41FA5}">
                      <a16:colId xmlns:a16="http://schemas.microsoft.com/office/drawing/2014/main" val="20000"/>
                    </a:ext>
                  </a:extLst>
                </a:gridCol>
                <a:gridCol w="822943">
                  <a:extLst>
                    <a:ext uri="{9D8B030D-6E8A-4147-A177-3AD203B41FA5}">
                      <a16:colId xmlns:a16="http://schemas.microsoft.com/office/drawing/2014/main" val="20001"/>
                    </a:ext>
                  </a:extLst>
                </a:gridCol>
                <a:gridCol w="822943">
                  <a:extLst>
                    <a:ext uri="{9D8B030D-6E8A-4147-A177-3AD203B41FA5}">
                      <a16:colId xmlns:a16="http://schemas.microsoft.com/office/drawing/2014/main" val="20002"/>
                    </a:ext>
                  </a:extLst>
                </a:gridCol>
                <a:gridCol w="822943">
                  <a:extLst>
                    <a:ext uri="{9D8B030D-6E8A-4147-A177-3AD203B41FA5}">
                      <a16:colId xmlns:a16="http://schemas.microsoft.com/office/drawing/2014/main" val="20003"/>
                    </a:ext>
                  </a:extLst>
                </a:gridCol>
                <a:gridCol w="823092">
                  <a:extLst>
                    <a:ext uri="{9D8B030D-6E8A-4147-A177-3AD203B41FA5}">
                      <a16:colId xmlns:a16="http://schemas.microsoft.com/office/drawing/2014/main" val="20004"/>
                    </a:ext>
                  </a:extLst>
                </a:gridCol>
              </a:tblGrid>
              <a:tr h="548580">
                <a:tc>
                  <a:txBody>
                    <a:bodyPr/>
                    <a:lstStyle/>
                    <a:p>
                      <a:pPr marL="0" indent="0">
                        <a:buNone/>
                      </a:pPr>
                      <a:endParaRPr lang="en-US" sz="18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400" b="1" dirty="0">
                          <a:solidFill>
                            <a:srgbClr val="FFFFFF"/>
                          </a:solidFill>
                          <a:latin typeface="Carlito" pitchFamily="34" charset="0"/>
                          <a:ea typeface="Carlito" pitchFamily="34" charset="-122"/>
                          <a:cs typeface="Carlito" pitchFamily="34" charset="-120"/>
                        </a:rPr>
                        <a:t>ROC-AUC</a:t>
                      </a:r>
                      <a:endParaRPr lang="en-US" sz="1400" dirty="0">
                        <a:latin typeface="Carlito" charset="0"/>
                        <a:ea typeface="Carlito" charset="0"/>
                        <a:cs typeface="Carlito" charset="0"/>
                      </a:endParaRPr>
                    </a:p>
                    <a:p>
                      <a:pPr marL="0" indent="0" algn="ctr">
                        <a:buNone/>
                      </a:pPr>
                      <a:r>
                        <a:rPr lang="en-US" sz="1400" b="1" dirty="0">
                          <a:solidFill>
                            <a:srgbClr val="FFFFFF"/>
                          </a:solidFill>
                          <a:latin typeface="Carlito" pitchFamily="34" charset="0"/>
                          <a:ea typeface="Carlito" pitchFamily="34" charset="-122"/>
                          <a:cs typeface="Carlito" pitchFamily="34" charset="-120"/>
                        </a:rPr>
                        <a:t>random</a:t>
                      </a:r>
                      <a:endParaRPr lang="en-US" sz="14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400" b="1" dirty="0">
                          <a:solidFill>
                            <a:srgbClr val="FFFFFF"/>
                          </a:solidFill>
                          <a:latin typeface="Carlito" pitchFamily="34" charset="0"/>
                          <a:ea typeface="Carlito" pitchFamily="34" charset="-122"/>
                          <a:cs typeface="Carlito" pitchFamily="34" charset="-120"/>
                        </a:rPr>
                        <a:t>ROC-AUC</a:t>
                      </a:r>
                      <a:endParaRPr lang="en-US" sz="1400" dirty="0">
                        <a:latin typeface="Carlito" charset="0"/>
                        <a:ea typeface="Carlito" charset="0"/>
                        <a:cs typeface="Carlito" charset="0"/>
                      </a:endParaRPr>
                    </a:p>
                    <a:p>
                      <a:pPr marL="0" indent="0" algn="ctr">
                        <a:buNone/>
                      </a:pPr>
                      <a:r>
                        <a:rPr lang="en-US" sz="1400" b="1" dirty="0">
                          <a:solidFill>
                            <a:srgbClr val="FFFFFF"/>
                          </a:solidFill>
                          <a:latin typeface="Carlito" pitchFamily="34" charset="0"/>
                          <a:ea typeface="Carlito" pitchFamily="34" charset="-122"/>
                          <a:cs typeface="Carlito" pitchFamily="34" charset="-120"/>
                        </a:rPr>
                        <a:t>Oct–Dec</a:t>
                      </a:r>
                      <a:endParaRPr lang="en-US" sz="14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400" b="1" dirty="0">
                          <a:solidFill>
                            <a:srgbClr val="FFFFFF"/>
                          </a:solidFill>
                          <a:latin typeface="Carlito" pitchFamily="34" charset="0"/>
                          <a:ea typeface="Carlito" pitchFamily="34" charset="-122"/>
                          <a:cs typeface="Carlito" pitchFamily="34" charset="-120"/>
                        </a:rPr>
                        <a:t>F1</a:t>
                      </a:r>
                      <a:endParaRPr lang="en-US" sz="1400" dirty="0">
                        <a:latin typeface="Carlito" charset="0"/>
                        <a:ea typeface="Carlito" charset="0"/>
                        <a:cs typeface="Carlito" charset="0"/>
                      </a:endParaRPr>
                    </a:p>
                    <a:p>
                      <a:pPr marL="0" indent="0" algn="ctr">
                        <a:buNone/>
                      </a:pPr>
                      <a:r>
                        <a:rPr lang="en-US" sz="1400" b="1" dirty="0">
                          <a:solidFill>
                            <a:srgbClr val="FFFFFF"/>
                          </a:solidFill>
                          <a:latin typeface="Carlito" pitchFamily="34" charset="0"/>
                          <a:ea typeface="Carlito" pitchFamily="34" charset="-122"/>
                          <a:cs typeface="Carlito" pitchFamily="34" charset="-120"/>
                        </a:rPr>
                        <a:t>random</a:t>
                      </a:r>
                      <a:endParaRPr lang="en-US" sz="14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tc>
                  <a:txBody>
                    <a:bodyPr/>
                    <a:lstStyle/>
                    <a:p>
                      <a:pPr marL="0" indent="0" algn="ctr">
                        <a:buNone/>
                      </a:pPr>
                      <a:r>
                        <a:rPr lang="en-US" sz="1400" b="1" dirty="0">
                          <a:solidFill>
                            <a:srgbClr val="FFFFFF"/>
                          </a:solidFill>
                          <a:latin typeface="Carlito" pitchFamily="34" charset="0"/>
                          <a:ea typeface="Carlito" pitchFamily="34" charset="-122"/>
                          <a:cs typeface="Carlito" pitchFamily="34" charset="-120"/>
                        </a:rPr>
                        <a:t>F1</a:t>
                      </a:r>
                      <a:endParaRPr lang="en-US" sz="1400" dirty="0">
                        <a:latin typeface="Carlito" charset="0"/>
                        <a:ea typeface="Carlito" charset="0"/>
                        <a:cs typeface="Carlito" charset="0"/>
                      </a:endParaRPr>
                    </a:p>
                    <a:p>
                      <a:pPr marL="0" indent="0" algn="ctr">
                        <a:buNone/>
                      </a:pPr>
                      <a:r>
                        <a:rPr lang="en-US" sz="1400" b="1" dirty="0">
                          <a:solidFill>
                            <a:srgbClr val="FFFFFF"/>
                          </a:solidFill>
                          <a:latin typeface="Carlito" pitchFamily="34" charset="0"/>
                          <a:ea typeface="Carlito" pitchFamily="34" charset="-122"/>
                          <a:cs typeface="Carlito" pitchFamily="34" charset="-120"/>
                        </a:rPr>
                        <a:t>Oct–Dec</a:t>
                      </a:r>
                      <a:endParaRPr lang="en-US" sz="1400" dirty="0">
                        <a:latin typeface="Carlito" charset="0"/>
                        <a:ea typeface="Carlito" charset="0"/>
                        <a:cs typeface="Carlito" charset="0"/>
                      </a:endParaRPr>
                    </a:p>
                  </a:txBody>
                  <a:tcPr marL="36576" marR="365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621360"/>
                    </a:solidFill>
                  </a:tcPr>
                </a:tc>
                <a:extLst>
                  <a:ext uri="{0D108BD9-81ED-4DB2-BD59-A6C34878D82A}">
                    <a16:rowId xmlns:a16="http://schemas.microsoft.com/office/drawing/2014/main" val="10000"/>
                  </a:ext>
                </a:extLst>
              </a:tr>
              <a:tr h="548580">
                <a:tc>
                  <a:txBody>
                    <a:bodyPr/>
                    <a:lstStyle/>
                    <a:p>
                      <a:pPr marL="0" indent="0" algn="l">
                        <a:buNone/>
                      </a:pPr>
                      <a:r>
                        <a:rPr lang="en-US" sz="1500" b="1" dirty="0">
                          <a:solidFill>
                            <a:srgbClr val="00A0FF"/>
                          </a:solidFill>
                          <a:latin typeface="Carlito" pitchFamily="34" charset="0"/>
                          <a:ea typeface="Carlito" pitchFamily="34" charset="-122"/>
                          <a:cs typeface="Carlito" pitchFamily="34" charset="-120"/>
                        </a:rPr>
                        <a:t>LR</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0.676</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0.603</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0.431</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0.130</a:t>
                      </a:r>
                      <a:endParaRPr lang="en-US" sz="1500" dirty="0">
                        <a:latin typeface="Carlito" charset="0"/>
                        <a:ea typeface="Carlito" charset="0"/>
                        <a:cs typeface="Carlito" charset="0"/>
                      </a:endParaRPr>
                    </a:p>
                  </a:txBody>
                  <a:tcPr marL="36576" marR="365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580">
                <a:tc>
                  <a:txBody>
                    <a:bodyPr/>
                    <a:lstStyle/>
                    <a:p>
                      <a:pPr marL="0" indent="0" algn="l">
                        <a:buNone/>
                      </a:pPr>
                      <a:r>
                        <a:rPr lang="en-US" sz="1500" b="1" dirty="0">
                          <a:solidFill>
                            <a:srgbClr val="621360"/>
                          </a:solidFill>
                          <a:latin typeface="Carlito" pitchFamily="34" charset="0"/>
                          <a:ea typeface="Carlito" pitchFamily="34" charset="-122"/>
                          <a:cs typeface="Carlito" pitchFamily="34" charset="-120"/>
                        </a:rPr>
                        <a:t>RF</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0.715</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0.672</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0.460</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4EFF4"/>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0.402</a:t>
                      </a:r>
                      <a:endParaRPr lang="en-US" sz="1500" dirty="0">
                        <a:latin typeface="Carlito" charset="0"/>
                        <a:ea typeface="Carlito" charset="0"/>
                        <a:cs typeface="Carlito" charset="0"/>
                      </a:endParaRPr>
                    </a:p>
                  </a:txBody>
                  <a:tcPr marL="36576" marR="365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8E4A8C"/>
                    </a:solidFill>
                  </a:tcPr>
                </a:tc>
                <a:extLst>
                  <a:ext uri="{0D108BD9-81ED-4DB2-BD59-A6C34878D82A}">
                    <a16:rowId xmlns:a16="http://schemas.microsoft.com/office/drawing/2014/main" val="10002"/>
                  </a:ext>
                </a:extLst>
              </a:tr>
              <a:tr h="548580">
                <a:tc>
                  <a:txBody>
                    <a:bodyPr/>
                    <a:lstStyle/>
                    <a:p>
                      <a:pPr marL="0" indent="0" algn="l">
                        <a:buNone/>
                      </a:pPr>
                      <a:r>
                        <a:rPr lang="en-US" sz="1500" b="1" dirty="0">
                          <a:solidFill>
                            <a:srgbClr val="1BAF7A"/>
                          </a:solidFill>
                          <a:latin typeface="Carlito" pitchFamily="34" charset="0"/>
                          <a:ea typeface="Carlito" pitchFamily="34" charset="-122"/>
                          <a:cs typeface="Carlito" pitchFamily="34" charset="-120"/>
                        </a:rPr>
                        <a:t>GBT</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0.735</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8E4A8C"/>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0.679</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8E4A8C"/>
                    </a:solidFill>
                  </a:tcPr>
                </a:tc>
                <a:tc>
                  <a:txBody>
                    <a:bodyPr/>
                    <a:lstStyle/>
                    <a:p>
                      <a:pPr marL="0" indent="0" algn="ctr">
                        <a:buNone/>
                      </a:pPr>
                      <a:r>
                        <a:rPr lang="en-US" sz="1500" b="1" dirty="0">
                          <a:solidFill>
                            <a:srgbClr val="FFFFFF"/>
                          </a:solidFill>
                          <a:latin typeface="Carlito" pitchFamily="34" charset="0"/>
                          <a:ea typeface="Carlito" pitchFamily="34" charset="-122"/>
                          <a:cs typeface="Carlito" pitchFamily="34" charset="-120"/>
                        </a:rPr>
                        <a:t>0.479</a:t>
                      </a:r>
                      <a:endParaRPr lang="en-US" sz="1500" dirty="0">
                        <a:latin typeface="Carlito" charset="0"/>
                        <a:ea typeface="Carlito" charset="0"/>
                        <a:cs typeface="Carlito" charset="0"/>
                      </a:endParaRPr>
                    </a:p>
                  </a:txBody>
                  <a:tcPr marL="36576" marR="238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8E4A8C"/>
                    </a:solidFill>
                  </a:tcPr>
                </a:tc>
                <a:tc>
                  <a:txBody>
                    <a:bodyPr/>
                    <a:lstStyle/>
                    <a:p>
                      <a:pPr marL="0" indent="0" algn="ctr">
                        <a:buNone/>
                      </a:pPr>
                      <a:r>
                        <a:rPr lang="en-US" sz="1500" dirty="0">
                          <a:solidFill>
                            <a:srgbClr val="1F1F1F"/>
                          </a:solidFill>
                          <a:latin typeface="Carlito" pitchFamily="34" charset="0"/>
                          <a:ea typeface="Carlito" pitchFamily="34" charset="-122"/>
                          <a:cs typeface="Carlito" pitchFamily="34" charset="-120"/>
                        </a:rPr>
                        <a:t>0.377</a:t>
                      </a:r>
                      <a:endParaRPr lang="en-US" sz="1500" dirty="0">
                        <a:latin typeface="Carlito" charset="0"/>
                        <a:ea typeface="Carlito" charset="0"/>
                        <a:cs typeface="Carlito" charset="0"/>
                      </a:endParaRPr>
                    </a:p>
                  </a:txBody>
                  <a:tcPr marL="36576" marR="36576" anchor="ctr">
                    <a:lnL w="12700" cap="flat" cmpd="sng" algn="ctr">
                      <a:solidFill>
                        <a:srgbClr val="B2D2E5"/>
                      </a:solidFill>
                      <a:prstDash val="solid"/>
                      <a:round/>
                      <a:headEnd type="none" w="med" len="med"/>
                      <a:tailEnd type="none" w="med" len="med"/>
                    </a:lnL>
                    <a:lnR w="12700" cap="flat" cmpd="sng" algn="ctr">
                      <a:solidFill>
                        <a:srgbClr val="B2D2E5"/>
                      </a:solidFill>
                      <a:prstDash val="solid"/>
                      <a:round/>
                      <a:headEnd type="none" w="med" len="med"/>
                      <a:tailEnd type="none" w="med" len="med"/>
                    </a:lnR>
                    <a:lnT w="12700" cap="flat" cmpd="sng" algn="ctr">
                      <a:solidFill>
                        <a:srgbClr val="B2D2E5"/>
                      </a:solidFill>
                      <a:prstDash val="solid"/>
                      <a:round/>
                      <a:headEnd type="none" w="med" len="med"/>
                      <a:tailEnd type="none" w="med" len="med"/>
                    </a:lnT>
                    <a:lnB w="12700" cap="flat" cmpd="sng" algn="ctr">
                      <a:solidFill>
                        <a:srgbClr val="B2D2E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Text 4"/>
          <p:cNvSpPr/>
          <p:nvPr/>
        </p:nvSpPr>
        <p:spPr>
          <a:xfrm>
            <a:off x="365745" y="4603700"/>
            <a:ext cx="8237190" cy="934492"/>
          </a:xfrm>
          <a:prstGeom prst="rect">
            <a:avLst/>
          </a:prstGeom>
          <a:noFill/>
          <a:ln/>
        </p:spPr>
        <p:txBody>
          <a:bodyPr wrap="square" lIns="0" tIns="0" rIns="0" bIns="0" rtlCol="0" anchor="t">
            <a:normAutofit/>
          </a:bodyPr>
          <a:lstStyle/>
          <a:p>
            <a:pPr marL="228600" indent="-228600"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Strongest GBT features: airport-hour delay history and scheduled turnaround.</a:t>
            </a:r>
          </a:p>
          <a:p>
            <a:pPr marL="228600" indent="-228600"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Trained on Jan–Sep, tested on Oct–Dec: RF has the higher F1 (0.402); GBT a slightly higher ROC-AUC (0.679).</a:t>
            </a:r>
          </a:p>
          <a:p>
            <a:pPr marL="228600" indent="-228600" algn="l">
              <a:lnSpc>
                <a:spcPct val="100000"/>
              </a:lnSpc>
              <a:buSzPct val="100000"/>
              <a:buChar char="•"/>
            </a:pPr>
            <a:r>
              <a:rPr lang="en-US" sz="1500" dirty="0">
                <a:solidFill>
                  <a:srgbClr val="1F1F1F"/>
                </a:solidFill>
                <a:latin typeface="Carlito" pitchFamily="34" charset="0"/>
                <a:ea typeface="Carlito" pitchFamily="34" charset="-122"/>
                <a:cs typeface="Carlito" pitchFamily="34" charset="-120"/>
              </a:rPr>
              <a:t>Thresholds used some Oct–Dec validation flights, so this is a preliminary temporal comparison.</a:t>
            </a:r>
          </a:p>
          <a:p>
            <a:pPr algn="l">
              <a:lnSpc>
                <a:spcPct val="100000"/>
              </a:lnSpc>
              <a:buSzPct val="100000"/>
            </a:pPr>
            <a:endParaRPr lang="en-US" sz="1200" dirty="0"/>
          </a:p>
        </p:txBody>
      </p:sp>
      <p:pic>
        <p:nvPicPr>
          <p:cNvPr id="9" name="Image 1" descr="preencoded.png"/>
          <p:cNvPicPr>
            <a:picLocks noChangeAspect="1"/>
          </p:cNvPicPr>
          <p:nvPr/>
        </p:nvPicPr>
        <p:blipFill>
          <a:blip r:embed="rId4"/>
          <a:stretch>
            <a:fillRect/>
          </a:stretch>
        </p:blipFill>
        <p:spPr>
          <a:xfrm>
            <a:off x="471488" y="6225108"/>
            <a:ext cx="1298004" cy="4619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CHALLENGES</a:t>
            </a:r>
            <a:endParaRPr lang="en-US" sz="4400" dirty="0"/>
          </a:p>
        </p:txBody>
      </p:sp>
      <p:sp>
        <p:nvSpPr>
          <p:cNvPr id="5" name="Shape 3"/>
          <p:cNvSpPr/>
          <p:nvPr/>
        </p:nvSpPr>
        <p:spPr>
          <a:xfrm>
            <a:off x="365745" y="1554435"/>
            <a:ext cx="457200" cy="685800"/>
          </a:xfrm>
          <a:prstGeom prst="roundRect">
            <a:avLst>
              <a:gd name="adj" fmla="val 14400"/>
            </a:avLst>
          </a:prstGeom>
          <a:solidFill>
            <a:srgbClr val="621360"/>
          </a:solidFill>
          <a:ln/>
        </p:spPr>
        <p:txBody>
          <a:bodyPr/>
          <a:lstStyle/>
          <a:p>
            <a:endParaRPr lang="en-US"/>
          </a:p>
        </p:txBody>
      </p:sp>
      <p:sp>
        <p:nvSpPr>
          <p:cNvPr id="6" name="Text 4"/>
          <p:cNvSpPr/>
          <p:nvPr/>
        </p:nvSpPr>
        <p:spPr>
          <a:xfrm>
            <a:off x="210294" y="1725885"/>
            <a:ext cx="768102" cy="34290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1</a:t>
            </a:r>
            <a:endParaRPr lang="en-US" sz="1800" dirty="0"/>
          </a:p>
        </p:txBody>
      </p:sp>
      <p:sp>
        <p:nvSpPr>
          <p:cNvPr id="7" name="Text 5"/>
          <p:cNvSpPr/>
          <p:nvPr/>
        </p:nvSpPr>
        <p:spPr>
          <a:xfrm>
            <a:off x="1005780" y="1494755"/>
            <a:ext cx="8046690" cy="323776"/>
          </a:xfrm>
          <a:prstGeom prst="rect">
            <a:avLst/>
          </a:prstGeom>
          <a:noFill/>
          <a:ln/>
        </p:spPr>
        <p:txBody>
          <a:bodyPr wrap="none" lIns="0" tIns="0" rIns="0" bIns="0" rtlCol="0" anchor="t"/>
          <a:lstStyle/>
          <a:p>
            <a:pPr marL="0" indent="0" algn="l">
              <a:lnSpc>
                <a:spcPct val="125000"/>
              </a:lnSpc>
              <a:buNone/>
            </a:pPr>
            <a:r>
              <a:rPr lang="en-US" sz="1700" b="1" dirty="0">
                <a:solidFill>
                  <a:srgbClr val="1F1F1F"/>
                </a:solidFill>
                <a:latin typeface="Carlito Bold" pitchFamily="34" charset="0"/>
                <a:ea typeface="Carlito Bold" pitchFamily="34" charset="-122"/>
                <a:cs typeface="Carlito Bold" pitchFamily="34" charset="-120"/>
              </a:rPr>
              <a:t>First full run stopped after 3+ hours</a:t>
            </a:r>
            <a:endParaRPr lang="en-US" sz="1700" dirty="0"/>
          </a:p>
        </p:txBody>
      </p:sp>
      <p:sp>
        <p:nvSpPr>
          <p:cNvPr id="8" name="Text 6"/>
          <p:cNvSpPr/>
          <p:nvPr/>
        </p:nvSpPr>
        <p:spPr>
          <a:xfrm>
            <a:off x="1005780" y="1772507"/>
            <a:ext cx="7589490"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Most likely a Colab session limit; added Parquet checkpoints, saved results after every model, and a resume option</a:t>
            </a:r>
            <a:endParaRPr lang="en-US" sz="1600" dirty="0"/>
          </a:p>
        </p:txBody>
      </p:sp>
      <p:sp>
        <p:nvSpPr>
          <p:cNvPr id="9" name="Shape 7"/>
          <p:cNvSpPr/>
          <p:nvPr/>
        </p:nvSpPr>
        <p:spPr>
          <a:xfrm>
            <a:off x="365745" y="2468835"/>
            <a:ext cx="457200" cy="685800"/>
          </a:xfrm>
          <a:prstGeom prst="roundRect">
            <a:avLst>
              <a:gd name="adj" fmla="val 14400"/>
            </a:avLst>
          </a:prstGeom>
          <a:solidFill>
            <a:srgbClr val="621360"/>
          </a:solidFill>
          <a:ln/>
        </p:spPr>
        <p:txBody>
          <a:bodyPr/>
          <a:lstStyle/>
          <a:p>
            <a:endParaRPr lang="en-US"/>
          </a:p>
        </p:txBody>
      </p:sp>
      <p:sp>
        <p:nvSpPr>
          <p:cNvPr id="10" name="Text 8"/>
          <p:cNvSpPr/>
          <p:nvPr/>
        </p:nvSpPr>
        <p:spPr>
          <a:xfrm>
            <a:off x="210294" y="2640285"/>
            <a:ext cx="768102" cy="34290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2</a:t>
            </a:r>
            <a:endParaRPr lang="en-US" sz="1800" dirty="0"/>
          </a:p>
        </p:txBody>
      </p:sp>
      <p:sp>
        <p:nvSpPr>
          <p:cNvPr id="11" name="Text 9"/>
          <p:cNvSpPr/>
          <p:nvPr/>
        </p:nvSpPr>
        <p:spPr>
          <a:xfrm>
            <a:off x="982191" y="2479626"/>
            <a:ext cx="8046690" cy="323776"/>
          </a:xfrm>
          <a:prstGeom prst="rect">
            <a:avLst/>
          </a:prstGeom>
          <a:noFill/>
          <a:ln/>
        </p:spPr>
        <p:txBody>
          <a:bodyPr wrap="none" lIns="0" tIns="0" rIns="0" bIns="0" rtlCol="0" anchor="t"/>
          <a:lstStyle/>
          <a:p>
            <a:pPr marL="0" indent="0" algn="l">
              <a:lnSpc>
                <a:spcPct val="125000"/>
              </a:lnSpc>
              <a:buNone/>
            </a:pPr>
            <a:r>
              <a:rPr lang="en-US" sz="1700" b="1" dirty="0">
                <a:solidFill>
                  <a:srgbClr val="1F1F1F"/>
                </a:solidFill>
                <a:latin typeface="Carlito Bold" pitchFamily="34" charset="0"/>
                <a:ea typeface="Carlito Bold" pitchFamily="34" charset="-122"/>
                <a:cs typeface="Carlito Bold" pitchFamily="34" charset="-120"/>
              </a:rPr>
              <a:t>Feature labels shifted between Spark versions</a:t>
            </a:r>
            <a:endParaRPr lang="en-US" sz="1700" dirty="0"/>
          </a:p>
        </p:txBody>
      </p:sp>
      <p:sp>
        <p:nvSpPr>
          <p:cNvPr id="12" name="Text 10"/>
          <p:cNvSpPr/>
          <p:nvPr/>
        </p:nvSpPr>
        <p:spPr>
          <a:xfrm>
            <a:off x="1005780" y="2756595"/>
            <a:ext cx="7532340" cy="609600"/>
          </a:xfrm>
          <a:prstGeom prst="rect">
            <a:avLst/>
          </a:prstGeom>
          <a:noFill/>
          <a:ln/>
        </p:spPr>
        <p:txBody>
          <a:bodyPr wrap="square" lIns="0" tIns="0" rIns="0" bIns="0" rtlCol="0" anchor="t">
            <a:normAutofit/>
          </a:bodyPr>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My code assumed Spark 3.5's metadata order; Colab's Spark 4.0 orders it differently. Spotted when a chart made no sense; fixed by sorting on vector index plus an assertion</a:t>
            </a:r>
            <a:endParaRPr lang="en-US" sz="1600" dirty="0"/>
          </a:p>
        </p:txBody>
      </p:sp>
      <p:sp>
        <p:nvSpPr>
          <p:cNvPr id="13" name="Shape 11"/>
          <p:cNvSpPr/>
          <p:nvPr/>
        </p:nvSpPr>
        <p:spPr>
          <a:xfrm>
            <a:off x="365745" y="3383235"/>
            <a:ext cx="457200" cy="685800"/>
          </a:xfrm>
          <a:prstGeom prst="roundRect">
            <a:avLst>
              <a:gd name="adj" fmla="val 14400"/>
            </a:avLst>
          </a:prstGeom>
          <a:solidFill>
            <a:srgbClr val="621360"/>
          </a:solidFill>
          <a:ln/>
        </p:spPr>
        <p:txBody>
          <a:bodyPr/>
          <a:lstStyle/>
          <a:p>
            <a:endParaRPr lang="en-US"/>
          </a:p>
        </p:txBody>
      </p:sp>
      <p:sp>
        <p:nvSpPr>
          <p:cNvPr id="14" name="Text 12"/>
          <p:cNvSpPr/>
          <p:nvPr/>
        </p:nvSpPr>
        <p:spPr>
          <a:xfrm>
            <a:off x="210294" y="3554685"/>
            <a:ext cx="768102" cy="34290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3</a:t>
            </a:r>
            <a:endParaRPr lang="en-US" sz="1800" dirty="0"/>
          </a:p>
        </p:txBody>
      </p:sp>
      <p:sp>
        <p:nvSpPr>
          <p:cNvPr id="15" name="Text 13"/>
          <p:cNvSpPr/>
          <p:nvPr/>
        </p:nvSpPr>
        <p:spPr>
          <a:xfrm>
            <a:off x="1005780" y="3409317"/>
            <a:ext cx="8046690" cy="323776"/>
          </a:xfrm>
          <a:prstGeom prst="rect">
            <a:avLst/>
          </a:prstGeom>
          <a:noFill/>
          <a:ln/>
        </p:spPr>
        <p:txBody>
          <a:bodyPr wrap="none" lIns="0" tIns="0" rIns="0" bIns="0" rtlCol="0" anchor="t"/>
          <a:lstStyle/>
          <a:p>
            <a:pPr marL="0" indent="0" algn="l">
              <a:lnSpc>
                <a:spcPct val="125000"/>
              </a:lnSpc>
              <a:buNone/>
            </a:pPr>
            <a:r>
              <a:rPr lang="en-US" sz="1700" b="1" dirty="0">
                <a:solidFill>
                  <a:srgbClr val="1F1F1F"/>
                </a:solidFill>
                <a:latin typeface="Carlito Bold" pitchFamily="34" charset="0"/>
                <a:ea typeface="Carlito Bold" pitchFamily="34" charset="-122"/>
                <a:cs typeface="Carlito Bold" pitchFamily="34" charset="-120"/>
              </a:rPr>
              <a:t>Target leakage</a:t>
            </a:r>
            <a:endParaRPr lang="en-US" sz="1700" dirty="0"/>
          </a:p>
        </p:txBody>
      </p:sp>
      <p:sp>
        <p:nvSpPr>
          <p:cNvPr id="16" name="Text 14"/>
          <p:cNvSpPr/>
          <p:nvPr/>
        </p:nvSpPr>
        <p:spPr>
          <a:xfrm>
            <a:off x="1005780" y="3670995"/>
            <a:ext cx="8046690"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Allow-list ingestion and schedule counts computed before cancellations are removed</a:t>
            </a:r>
            <a:endParaRPr lang="en-US" sz="1600" dirty="0"/>
          </a:p>
        </p:txBody>
      </p:sp>
      <p:sp>
        <p:nvSpPr>
          <p:cNvPr id="17" name="Shape 15"/>
          <p:cNvSpPr/>
          <p:nvPr/>
        </p:nvSpPr>
        <p:spPr>
          <a:xfrm>
            <a:off x="365745" y="4297635"/>
            <a:ext cx="457200" cy="685800"/>
          </a:xfrm>
          <a:prstGeom prst="roundRect">
            <a:avLst>
              <a:gd name="adj" fmla="val 14400"/>
            </a:avLst>
          </a:prstGeom>
          <a:solidFill>
            <a:srgbClr val="621360"/>
          </a:solidFill>
          <a:ln/>
        </p:spPr>
        <p:txBody>
          <a:bodyPr/>
          <a:lstStyle/>
          <a:p>
            <a:endParaRPr lang="en-US"/>
          </a:p>
        </p:txBody>
      </p:sp>
      <p:sp>
        <p:nvSpPr>
          <p:cNvPr id="18" name="Text 16"/>
          <p:cNvSpPr/>
          <p:nvPr/>
        </p:nvSpPr>
        <p:spPr>
          <a:xfrm>
            <a:off x="210294" y="4469085"/>
            <a:ext cx="768102" cy="34290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4</a:t>
            </a:r>
            <a:endParaRPr lang="en-US" sz="1800" dirty="0"/>
          </a:p>
        </p:txBody>
      </p:sp>
      <p:sp>
        <p:nvSpPr>
          <p:cNvPr id="19" name="Text 17"/>
          <p:cNvSpPr/>
          <p:nvPr/>
        </p:nvSpPr>
        <p:spPr>
          <a:xfrm>
            <a:off x="1005780" y="4237955"/>
            <a:ext cx="8046690" cy="323776"/>
          </a:xfrm>
          <a:prstGeom prst="rect">
            <a:avLst/>
          </a:prstGeom>
          <a:noFill/>
          <a:ln/>
        </p:spPr>
        <p:txBody>
          <a:bodyPr wrap="none" lIns="0" tIns="0" rIns="0" bIns="0" rtlCol="0" anchor="t"/>
          <a:lstStyle/>
          <a:p>
            <a:pPr marL="0" indent="0" algn="l">
              <a:lnSpc>
                <a:spcPct val="125000"/>
              </a:lnSpc>
              <a:buNone/>
            </a:pPr>
            <a:r>
              <a:rPr lang="en-US" sz="1700" b="1" dirty="0">
                <a:solidFill>
                  <a:srgbClr val="1F1F1F"/>
                </a:solidFill>
                <a:latin typeface="Carlito Bold" pitchFamily="34" charset="0"/>
                <a:ea typeface="Carlito Bold" pitchFamily="34" charset="-122"/>
                <a:cs typeface="Carlito Bold" pitchFamily="34" charset="-120"/>
              </a:rPr>
              <a:t>Class imbalance (22% delayed)</a:t>
            </a:r>
            <a:endParaRPr lang="en-US" sz="1700" dirty="0"/>
          </a:p>
        </p:txBody>
      </p:sp>
      <p:sp>
        <p:nvSpPr>
          <p:cNvPr id="20" name="Text 18"/>
          <p:cNvSpPr/>
          <p:nvPr/>
        </p:nvSpPr>
        <p:spPr>
          <a:xfrm>
            <a:off x="1005780" y="4585395"/>
            <a:ext cx="8046690"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Class weights plus a validation-tuned threshold instead of chasing accuracy</a:t>
            </a:r>
            <a:endParaRPr lang="en-US" sz="1600" dirty="0"/>
          </a:p>
        </p:txBody>
      </p:sp>
      <p:sp>
        <p:nvSpPr>
          <p:cNvPr id="21" name="Shape 19"/>
          <p:cNvSpPr/>
          <p:nvPr/>
        </p:nvSpPr>
        <p:spPr>
          <a:xfrm>
            <a:off x="365745" y="5212035"/>
            <a:ext cx="457200" cy="685800"/>
          </a:xfrm>
          <a:prstGeom prst="roundRect">
            <a:avLst>
              <a:gd name="adj" fmla="val 14400"/>
            </a:avLst>
          </a:prstGeom>
          <a:solidFill>
            <a:srgbClr val="621360"/>
          </a:solidFill>
          <a:ln/>
        </p:spPr>
        <p:txBody>
          <a:bodyPr/>
          <a:lstStyle/>
          <a:p>
            <a:endParaRPr lang="en-US"/>
          </a:p>
        </p:txBody>
      </p:sp>
      <p:sp>
        <p:nvSpPr>
          <p:cNvPr id="22" name="Text 20"/>
          <p:cNvSpPr/>
          <p:nvPr/>
        </p:nvSpPr>
        <p:spPr>
          <a:xfrm>
            <a:off x="210294" y="5383485"/>
            <a:ext cx="768102" cy="342900"/>
          </a:xfrm>
          <a:prstGeom prst="rect">
            <a:avLst/>
          </a:prstGeom>
          <a:noFill/>
          <a:ln/>
        </p:spPr>
        <p:txBody>
          <a:bodyPr wrap="none" lIns="0" tIns="0" rIns="0" bIns="0" rtlCol="0" anchor="t"/>
          <a:lstStyle/>
          <a:p>
            <a:pPr marL="0" indent="0" algn="ctr">
              <a:lnSpc>
                <a:spcPct val="125000"/>
              </a:lnSpc>
              <a:buNone/>
            </a:pPr>
            <a:r>
              <a:rPr lang="en-US" sz="1800" b="1" dirty="0">
                <a:solidFill>
                  <a:srgbClr val="FFFFFF"/>
                </a:solidFill>
                <a:latin typeface="Carlito Bold" pitchFamily="34" charset="0"/>
                <a:ea typeface="Carlito Bold" pitchFamily="34" charset="-122"/>
                <a:cs typeface="Carlito Bold" pitchFamily="34" charset="-120"/>
              </a:rPr>
              <a:t>5</a:t>
            </a:r>
            <a:endParaRPr lang="en-US" sz="1800" dirty="0"/>
          </a:p>
        </p:txBody>
      </p:sp>
      <p:sp>
        <p:nvSpPr>
          <p:cNvPr id="23" name="Text 21"/>
          <p:cNvSpPr/>
          <p:nvPr/>
        </p:nvSpPr>
        <p:spPr>
          <a:xfrm>
            <a:off x="1005780" y="5152355"/>
            <a:ext cx="8046690" cy="323776"/>
          </a:xfrm>
          <a:prstGeom prst="rect">
            <a:avLst/>
          </a:prstGeom>
          <a:noFill/>
          <a:ln/>
        </p:spPr>
        <p:txBody>
          <a:bodyPr wrap="none" lIns="0" tIns="0" rIns="0" bIns="0" rtlCol="0" anchor="t"/>
          <a:lstStyle/>
          <a:p>
            <a:pPr marL="0" indent="0" algn="l">
              <a:lnSpc>
                <a:spcPct val="125000"/>
              </a:lnSpc>
              <a:buNone/>
            </a:pPr>
            <a:r>
              <a:rPr lang="en-US" sz="1700" b="1" dirty="0">
                <a:solidFill>
                  <a:srgbClr val="1F1F1F"/>
                </a:solidFill>
                <a:latin typeface="Carlito Bold" pitchFamily="34" charset="0"/>
                <a:ea typeface="Carlito Bold" pitchFamily="34" charset="-122"/>
                <a:cs typeface="Carlito Bold" pitchFamily="34" charset="-120"/>
              </a:rPr>
              <a:t>3 GB of CSV on a 12 GB machine</a:t>
            </a:r>
            <a:endParaRPr lang="en-US" sz="1700" dirty="0"/>
          </a:p>
        </p:txBody>
      </p:sp>
      <p:sp>
        <p:nvSpPr>
          <p:cNvPr id="24" name="Text 22"/>
          <p:cNvSpPr/>
          <p:nvPr/>
        </p:nvSpPr>
        <p:spPr>
          <a:xfrm>
            <a:off x="1005780" y="5499795"/>
            <a:ext cx="8046690" cy="304800"/>
          </a:xfrm>
          <a:prstGeom prst="rect">
            <a:avLst/>
          </a:prstGeom>
          <a:noFill/>
          <a:ln/>
        </p:spPr>
        <p:txBody>
          <a:bodyPr wrap="none" lIns="0" tIns="0" rIns="0" bIns="0" rtlCol="0" anchor="t"/>
          <a:lstStyle/>
          <a:p>
            <a:pPr marL="0" indent="0" algn="l">
              <a:lnSpc>
                <a:spcPct val="125000"/>
              </a:lnSpc>
              <a:buNone/>
            </a:pPr>
            <a:r>
              <a:rPr lang="en-US" sz="1600" dirty="0">
                <a:solidFill>
                  <a:srgbClr val="5A5A5A"/>
                </a:solidFill>
                <a:latin typeface="Carlito" pitchFamily="34" charset="0"/>
                <a:ea typeface="Carlito" pitchFamily="34" charset="-122"/>
                <a:cs typeface="Carlito" pitchFamily="34" charset="-120"/>
              </a:rPr>
              <a:t>Only 17 columns loaded, then columnar Parquet: same query 25× faster</a:t>
            </a:r>
            <a:endParaRPr lang="en-US" sz="1600" dirty="0"/>
          </a:p>
        </p:txBody>
      </p:sp>
      <p:pic>
        <p:nvPicPr>
          <p:cNvPr id="25"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FUTURE SCOPE</a:t>
            </a:r>
            <a:endParaRPr lang="en-US" sz="4400" dirty="0"/>
          </a:p>
        </p:txBody>
      </p:sp>
      <p:sp>
        <p:nvSpPr>
          <p:cNvPr id="5" name="Shape 3"/>
          <p:cNvSpPr/>
          <p:nvPr/>
        </p:nvSpPr>
        <p:spPr>
          <a:xfrm>
            <a:off x="365745" y="1600200"/>
            <a:ext cx="4023345" cy="1234380"/>
          </a:xfrm>
          <a:prstGeom prst="roundRect">
            <a:avLst>
              <a:gd name="adj" fmla="val 9605"/>
            </a:avLst>
          </a:prstGeom>
          <a:solidFill>
            <a:srgbClr val="F4EFF4"/>
          </a:solidFill>
          <a:ln/>
        </p:spPr>
        <p:txBody>
          <a:bodyPr/>
          <a:lstStyle/>
          <a:p>
            <a:endParaRPr lang="en-US"/>
          </a:p>
        </p:txBody>
      </p:sp>
      <p:sp>
        <p:nvSpPr>
          <p:cNvPr id="6" name="Text 4"/>
          <p:cNvSpPr/>
          <p:nvPr/>
        </p:nvSpPr>
        <p:spPr>
          <a:xfrm>
            <a:off x="594345" y="1723355"/>
            <a:ext cx="4023345" cy="342900"/>
          </a:xfrm>
          <a:prstGeom prst="rect">
            <a:avLst/>
          </a:prstGeom>
          <a:noFill/>
          <a:ln/>
        </p:spPr>
        <p:txBody>
          <a:bodyPr wrap="none" lIns="0" tIns="0" rIns="0" bIns="0" rtlCol="0" anchor="t"/>
          <a:lstStyle/>
          <a:p>
            <a:pPr marL="0" indent="0" algn="l">
              <a:lnSpc>
                <a:spcPct val="125000"/>
              </a:lnSpc>
              <a:buNone/>
            </a:pPr>
            <a:r>
              <a:rPr lang="en-US" sz="1800" b="1" dirty="0">
                <a:solidFill>
                  <a:srgbClr val="621360"/>
                </a:solidFill>
                <a:latin typeface="Carlito Bold" pitchFamily="34" charset="0"/>
                <a:ea typeface="Carlito Bold" pitchFamily="34" charset="-122"/>
                <a:cs typeface="Carlito Bold" pitchFamily="34" charset="-120"/>
              </a:rPr>
              <a:t>Weather</a:t>
            </a:r>
            <a:endParaRPr lang="en-US" sz="1800" dirty="0"/>
          </a:p>
        </p:txBody>
      </p:sp>
      <p:sp>
        <p:nvSpPr>
          <p:cNvPr id="7" name="Text 5"/>
          <p:cNvSpPr/>
          <p:nvPr/>
        </p:nvSpPr>
        <p:spPr>
          <a:xfrm>
            <a:off x="594345" y="2116559"/>
            <a:ext cx="350899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Add hourly NOAA forecasts; prior work found weather improves accuracy</a:t>
            </a:r>
            <a:endParaRPr lang="en-US" sz="1700" dirty="0"/>
          </a:p>
        </p:txBody>
      </p:sp>
      <p:sp>
        <p:nvSpPr>
          <p:cNvPr id="8" name="Shape 6"/>
          <p:cNvSpPr/>
          <p:nvPr/>
        </p:nvSpPr>
        <p:spPr>
          <a:xfrm>
            <a:off x="4572000" y="1600200"/>
            <a:ext cx="4023345" cy="1234380"/>
          </a:xfrm>
          <a:prstGeom prst="roundRect">
            <a:avLst>
              <a:gd name="adj" fmla="val 9605"/>
            </a:avLst>
          </a:prstGeom>
          <a:solidFill>
            <a:srgbClr val="F4EFF4"/>
          </a:solidFill>
          <a:ln/>
        </p:spPr>
        <p:txBody>
          <a:bodyPr/>
          <a:lstStyle/>
          <a:p>
            <a:endParaRPr lang="en-US"/>
          </a:p>
        </p:txBody>
      </p:sp>
      <p:sp>
        <p:nvSpPr>
          <p:cNvPr id="9" name="Text 7"/>
          <p:cNvSpPr/>
          <p:nvPr/>
        </p:nvSpPr>
        <p:spPr>
          <a:xfrm>
            <a:off x="4800600" y="1723355"/>
            <a:ext cx="4023345" cy="342900"/>
          </a:xfrm>
          <a:prstGeom prst="rect">
            <a:avLst/>
          </a:prstGeom>
          <a:noFill/>
          <a:ln/>
        </p:spPr>
        <p:txBody>
          <a:bodyPr wrap="none" lIns="0" tIns="0" rIns="0" bIns="0" rtlCol="0" anchor="t"/>
          <a:lstStyle/>
          <a:p>
            <a:pPr marL="0" indent="0" algn="l">
              <a:lnSpc>
                <a:spcPct val="125000"/>
              </a:lnSpc>
              <a:buNone/>
            </a:pPr>
            <a:r>
              <a:rPr lang="en-US" sz="1800" b="1" dirty="0">
                <a:solidFill>
                  <a:srgbClr val="621360"/>
                </a:solidFill>
                <a:latin typeface="Carlito Bold" pitchFamily="34" charset="0"/>
                <a:ea typeface="Carlito Bold" pitchFamily="34" charset="-122"/>
                <a:cs typeface="Carlito Bold" pitchFamily="34" charset="-120"/>
              </a:rPr>
              <a:t>Cleaner validation</a:t>
            </a:r>
            <a:endParaRPr lang="en-US" sz="1800" dirty="0"/>
          </a:p>
        </p:txBody>
      </p:sp>
      <p:sp>
        <p:nvSpPr>
          <p:cNvPr id="10" name="Text 8"/>
          <p:cNvSpPr/>
          <p:nvPr/>
        </p:nvSpPr>
        <p:spPr>
          <a:xfrm>
            <a:off x="4800600" y="2116559"/>
            <a:ext cx="3508995" cy="647551"/>
          </a:xfrm>
          <a:prstGeom prst="rect">
            <a:avLst/>
          </a:prstGeom>
          <a:noFill/>
          <a:ln/>
        </p:spPr>
        <p:txBody>
          <a:bodyPr wrap="square" lIns="0" tIns="0" rIns="0" bIns="0" rtlCol="0" anchor="t">
            <a:normAutofit fontScale="92500"/>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OOF target encoding in CV pipeline; temporal thresholds on separate month</a:t>
            </a:r>
            <a:endParaRPr lang="en-US" sz="1700" dirty="0"/>
          </a:p>
        </p:txBody>
      </p:sp>
      <p:sp>
        <p:nvSpPr>
          <p:cNvPr id="11" name="Shape 9"/>
          <p:cNvSpPr/>
          <p:nvPr/>
        </p:nvSpPr>
        <p:spPr>
          <a:xfrm>
            <a:off x="365745" y="3063180"/>
            <a:ext cx="4023345" cy="1234380"/>
          </a:xfrm>
          <a:prstGeom prst="roundRect">
            <a:avLst>
              <a:gd name="adj" fmla="val 9605"/>
            </a:avLst>
          </a:prstGeom>
          <a:solidFill>
            <a:srgbClr val="F4EFF4"/>
          </a:solidFill>
          <a:ln/>
        </p:spPr>
        <p:txBody>
          <a:bodyPr/>
          <a:lstStyle/>
          <a:p>
            <a:endParaRPr lang="en-US"/>
          </a:p>
        </p:txBody>
      </p:sp>
      <p:sp>
        <p:nvSpPr>
          <p:cNvPr id="12" name="Text 10"/>
          <p:cNvSpPr/>
          <p:nvPr/>
        </p:nvSpPr>
        <p:spPr>
          <a:xfrm>
            <a:off x="594345" y="3186410"/>
            <a:ext cx="4023345" cy="342900"/>
          </a:xfrm>
          <a:prstGeom prst="rect">
            <a:avLst/>
          </a:prstGeom>
          <a:noFill/>
          <a:ln/>
        </p:spPr>
        <p:txBody>
          <a:bodyPr wrap="none" lIns="0" tIns="0" rIns="0" bIns="0" rtlCol="0" anchor="t"/>
          <a:lstStyle/>
          <a:p>
            <a:pPr marL="0" indent="0" algn="l">
              <a:lnSpc>
                <a:spcPct val="125000"/>
              </a:lnSpc>
              <a:buNone/>
            </a:pPr>
            <a:r>
              <a:rPr lang="en-US" sz="1800" b="1" dirty="0">
                <a:solidFill>
                  <a:srgbClr val="621360"/>
                </a:solidFill>
                <a:latin typeface="Carlito Bold" pitchFamily="34" charset="0"/>
                <a:ea typeface="Carlito Bold" pitchFamily="34" charset="-122"/>
                <a:cs typeface="Carlito Bold" pitchFamily="34" charset="-120"/>
              </a:rPr>
              <a:t>Ablations</a:t>
            </a:r>
            <a:endParaRPr lang="en-US" sz="1800" dirty="0"/>
          </a:p>
        </p:txBody>
      </p:sp>
      <p:sp>
        <p:nvSpPr>
          <p:cNvPr id="13" name="Text 11"/>
          <p:cNvSpPr/>
          <p:nvPr/>
        </p:nvSpPr>
        <p:spPr>
          <a:xfrm>
            <a:off x="594345" y="3579614"/>
            <a:ext cx="350899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Compare runs with and without class weights and threshold tuning</a:t>
            </a:r>
            <a:endParaRPr lang="en-US" sz="1700" dirty="0"/>
          </a:p>
        </p:txBody>
      </p:sp>
      <p:sp>
        <p:nvSpPr>
          <p:cNvPr id="14" name="Shape 12"/>
          <p:cNvSpPr/>
          <p:nvPr/>
        </p:nvSpPr>
        <p:spPr>
          <a:xfrm>
            <a:off x="4572000" y="3063180"/>
            <a:ext cx="4023345" cy="1234380"/>
          </a:xfrm>
          <a:prstGeom prst="roundRect">
            <a:avLst>
              <a:gd name="adj" fmla="val 9605"/>
            </a:avLst>
          </a:prstGeom>
          <a:solidFill>
            <a:srgbClr val="F4EFF4"/>
          </a:solidFill>
          <a:ln/>
        </p:spPr>
        <p:txBody>
          <a:bodyPr/>
          <a:lstStyle/>
          <a:p>
            <a:endParaRPr lang="en-US"/>
          </a:p>
        </p:txBody>
      </p:sp>
      <p:sp>
        <p:nvSpPr>
          <p:cNvPr id="15" name="Text 13"/>
          <p:cNvSpPr/>
          <p:nvPr/>
        </p:nvSpPr>
        <p:spPr>
          <a:xfrm>
            <a:off x="4800600" y="3186410"/>
            <a:ext cx="4023345" cy="342900"/>
          </a:xfrm>
          <a:prstGeom prst="rect">
            <a:avLst/>
          </a:prstGeom>
          <a:noFill/>
          <a:ln/>
        </p:spPr>
        <p:txBody>
          <a:bodyPr wrap="none" lIns="0" tIns="0" rIns="0" bIns="0" rtlCol="0" anchor="t"/>
          <a:lstStyle/>
          <a:p>
            <a:pPr marL="0" indent="0" algn="l">
              <a:lnSpc>
                <a:spcPct val="125000"/>
              </a:lnSpc>
              <a:buNone/>
            </a:pPr>
            <a:r>
              <a:rPr lang="en-US" sz="1800" b="1" dirty="0">
                <a:solidFill>
                  <a:srgbClr val="621360"/>
                </a:solidFill>
                <a:latin typeface="Carlito Bold" pitchFamily="34" charset="0"/>
                <a:ea typeface="Carlito Bold" pitchFamily="34" charset="-122"/>
                <a:cs typeface="Carlito Bold" pitchFamily="34" charset="-120"/>
              </a:rPr>
              <a:t>Real cluster</a:t>
            </a:r>
            <a:endParaRPr lang="en-US" sz="1800" dirty="0"/>
          </a:p>
        </p:txBody>
      </p:sp>
      <p:sp>
        <p:nvSpPr>
          <p:cNvPr id="16" name="Text 14"/>
          <p:cNvSpPr/>
          <p:nvPr/>
        </p:nvSpPr>
        <p:spPr>
          <a:xfrm>
            <a:off x="4800600" y="3579614"/>
            <a:ext cx="350899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Full data on Google Dataproc, with repeated timing runs</a:t>
            </a:r>
            <a:endParaRPr lang="en-US" sz="1700" dirty="0"/>
          </a:p>
        </p:txBody>
      </p:sp>
      <p:sp>
        <p:nvSpPr>
          <p:cNvPr id="17" name="Shape 15"/>
          <p:cNvSpPr/>
          <p:nvPr/>
        </p:nvSpPr>
        <p:spPr>
          <a:xfrm>
            <a:off x="2468835" y="4526235"/>
            <a:ext cx="4023345" cy="1234380"/>
          </a:xfrm>
          <a:prstGeom prst="roundRect">
            <a:avLst>
              <a:gd name="adj" fmla="val 9605"/>
            </a:avLst>
          </a:prstGeom>
          <a:solidFill>
            <a:srgbClr val="F4EFF4"/>
          </a:solidFill>
          <a:ln/>
        </p:spPr>
        <p:txBody>
          <a:bodyPr/>
          <a:lstStyle/>
          <a:p>
            <a:endParaRPr lang="en-US"/>
          </a:p>
        </p:txBody>
      </p:sp>
      <p:sp>
        <p:nvSpPr>
          <p:cNvPr id="18" name="Text 16"/>
          <p:cNvSpPr/>
          <p:nvPr/>
        </p:nvSpPr>
        <p:spPr>
          <a:xfrm>
            <a:off x="2697435" y="4649465"/>
            <a:ext cx="4023345" cy="342900"/>
          </a:xfrm>
          <a:prstGeom prst="rect">
            <a:avLst/>
          </a:prstGeom>
          <a:noFill/>
          <a:ln/>
        </p:spPr>
        <p:txBody>
          <a:bodyPr wrap="none" lIns="0" tIns="0" rIns="0" bIns="0" rtlCol="0" anchor="t"/>
          <a:lstStyle/>
          <a:p>
            <a:pPr marL="0" indent="0" algn="l">
              <a:lnSpc>
                <a:spcPct val="125000"/>
              </a:lnSpc>
              <a:buNone/>
            </a:pPr>
            <a:r>
              <a:rPr lang="en-US" sz="1800" b="1" dirty="0">
                <a:solidFill>
                  <a:srgbClr val="621360"/>
                </a:solidFill>
                <a:latin typeface="Carlito Bold" pitchFamily="34" charset="0"/>
                <a:ea typeface="Carlito Bold" pitchFamily="34" charset="-122"/>
                <a:cs typeface="Carlito Bold" pitchFamily="34" charset="-120"/>
              </a:rPr>
              <a:t>Stronger models</a:t>
            </a:r>
            <a:endParaRPr lang="en-US" sz="1800" dirty="0"/>
          </a:p>
        </p:txBody>
      </p:sp>
      <p:sp>
        <p:nvSpPr>
          <p:cNvPr id="19" name="Text 17"/>
          <p:cNvSpPr/>
          <p:nvPr/>
        </p:nvSpPr>
        <p:spPr>
          <a:xfrm>
            <a:off x="2697435" y="5042595"/>
            <a:ext cx="350899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XGBoost or LightGBM on Spark with GPU acceleration</a:t>
            </a:r>
            <a:endParaRPr lang="en-US" sz="1700" dirty="0"/>
          </a:p>
        </p:txBody>
      </p:sp>
      <p:pic>
        <p:nvPicPr>
          <p:cNvPr id="20"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WHAT I LEARNT</a:t>
            </a:r>
            <a:endParaRPr lang="en-US" sz="4400" dirty="0"/>
          </a:p>
        </p:txBody>
      </p:sp>
      <p:sp>
        <p:nvSpPr>
          <p:cNvPr id="5" name="Shape 3"/>
          <p:cNvSpPr/>
          <p:nvPr/>
        </p:nvSpPr>
        <p:spPr>
          <a:xfrm>
            <a:off x="365745" y="1600200"/>
            <a:ext cx="8275290" cy="1130275"/>
          </a:xfrm>
          <a:prstGeom prst="roundRect">
            <a:avLst>
              <a:gd name="adj" fmla="val 7928"/>
            </a:avLst>
          </a:prstGeom>
          <a:solidFill>
            <a:srgbClr val="F4EFF4"/>
          </a:solidFill>
          <a:ln/>
        </p:spPr>
        <p:txBody>
          <a:bodyPr/>
          <a:lstStyle/>
          <a:p>
            <a:endParaRPr lang="en-US"/>
          </a:p>
        </p:txBody>
      </p:sp>
      <p:sp>
        <p:nvSpPr>
          <p:cNvPr id="6" name="Shape 4"/>
          <p:cNvSpPr/>
          <p:nvPr/>
        </p:nvSpPr>
        <p:spPr>
          <a:xfrm>
            <a:off x="548580" y="1845246"/>
            <a:ext cx="164529" cy="640035"/>
          </a:xfrm>
          <a:prstGeom prst="roundRect">
            <a:avLst>
              <a:gd name="adj" fmla="val 14450"/>
            </a:avLst>
          </a:prstGeom>
          <a:solidFill>
            <a:srgbClr val="00A0FF"/>
          </a:solidFill>
          <a:ln/>
        </p:spPr>
        <p:txBody>
          <a:bodyPr/>
          <a:lstStyle/>
          <a:p>
            <a:endParaRPr lang="en-US"/>
          </a:p>
        </p:txBody>
      </p:sp>
      <p:sp>
        <p:nvSpPr>
          <p:cNvPr id="7" name="Text 5"/>
          <p:cNvSpPr/>
          <p:nvPr/>
        </p:nvSpPr>
        <p:spPr>
          <a:xfrm>
            <a:off x="914400" y="1677665"/>
            <a:ext cx="79552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Accuracy can mislead</a:t>
            </a:r>
            <a:endParaRPr lang="en-US" sz="1800" dirty="0"/>
          </a:p>
        </p:txBody>
      </p:sp>
      <p:sp>
        <p:nvSpPr>
          <p:cNvPr id="8" name="Text 6"/>
          <p:cNvSpPr/>
          <p:nvPr/>
        </p:nvSpPr>
        <p:spPr>
          <a:xfrm>
            <a:off x="914400" y="2043410"/>
            <a:ext cx="744088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Predicting 'on time' for every flight beats every model on accuracy; recall, precision and PR-AUC tell the real story</a:t>
            </a:r>
            <a:endParaRPr lang="en-US" sz="1700" dirty="0"/>
          </a:p>
        </p:txBody>
      </p:sp>
      <p:sp>
        <p:nvSpPr>
          <p:cNvPr id="9" name="Shape 7"/>
          <p:cNvSpPr/>
          <p:nvPr/>
        </p:nvSpPr>
        <p:spPr>
          <a:xfrm>
            <a:off x="365745" y="2755850"/>
            <a:ext cx="8275290" cy="1130275"/>
          </a:xfrm>
          <a:prstGeom prst="roundRect">
            <a:avLst>
              <a:gd name="adj" fmla="val 7928"/>
            </a:avLst>
          </a:prstGeom>
          <a:solidFill>
            <a:srgbClr val="F4EFF4"/>
          </a:solidFill>
          <a:ln/>
        </p:spPr>
        <p:txBody>
          <a:bodyPr/>
          <a:lstStyle/>
          <a:p>
            <a:endParaRPr lang="en-US"/>
          </a:p>
        </p:txBody>
      </p:sp>
      <p:sp>
        <p:nvSpPr>
          <p:cNvPr id="10" name="Shape 8"/>
          <p:cNvSpPr/>
          <p:nvPr/>
        </p:nvSpPr>
        <p:spPr>
          <a:xfrm>
            <a:off x="548580" y="3000970"/>
            <a:ext cx="164529" cy="640035"/>
          </a:xfrm>
          <a:prstGeom prst="roundRect">
            <a:avLst>
              <a:gd name="adj" fmla="val 14450"/>
            </a:avLst>
          </a:prstGeom>
          <a:solidFill>
            <a:srgbClr val="621360"/>
          </a:solidFill>
          <a:ln/>
        </p:spPr>
        <p:txBody>
          <a:bodyPr/>
          <a:lstStyle/>
          <a:p>
            <a:endParaRPr lang="en-US"/>
          </a:p>
        </p:txBody>
      </p:sp>
      <p:sp>
        <p:nvSpPr>
          <p:cNvPr id="11" name="Text 9"/>
          <p:cNvSpPr/>
          <p:nvPr/>
        </p:nvSpPr>
        <p:spPr>
          <a:xfrm>
            <a:off x="914400" y="2833315"/>
            <a:ext cx="79552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Leakage is subtle</a:t>
            </a:r>
            <a:endParaRPr lang="en-US" sz="1800" dirty="0"/>
          </a:p>
        </p:txBody>
      </p:sp>
      <p:sp>
        <p:nvSpPr>
          <p:cNvPr id="12" name="Text 10"/>
          <p:cNvSpPr/>
          <p:nvPr/>
        </p:nvSpPr>
        <p:spPr>
          <a:xfrm>
            <a:off x="914400" y="3199061"/>
            <a:ext cx="749803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Dropping post-flight columns was easy; counting flights after cancellations or encoding before CV were not</a:t>
            </a:r>
            <a:endParaRPr lang="en-US" sz="1700" dirty="0"/>
          </a:p>
        </p:txBody>
      </p:sp>
      <p:sp>
        <p:nvSpPr>
          <p:cNvPr id="13" name="Shape 11"/>
          <p:cNvSpPr/>
          <p:nvPr/>
        </p:nvSpPr>
        <p:spPr>
          <a:xfrm>
            <a:off x="365745" y="3911575"/>
            <a:ext cx="8275290" cy="1130275"/>
          </a:xfrm>
          <a:prstGeom prst="roundRect">
            <a:avLst>
              <a:gd name="adj" fmla="val 7928"/>
            </a:avLst>
          </a:prstGeom>
          <a:solidFill>
            <a:srgbClr val="F4EFF4"/>
          </a:solidFill>
          <a:ln/>
        </p:spPr>
        <p:txBody>
          <a:bodyPr/>
          <a:lstStyle/>
          <a:p>
            <a:endParaRPr lang="en-US"/>
          </a:p>
        </p:txBody>
      </p:sp>
      <p:sp>
        <p:nvSpPr>
          <p:cNvPr id="14" name="Shape 12"/>
          <p:cNvSpPr/>
          <p:nvPr/>
        </p:nvSpPr>
        <p:spPr>
          <a:xfrm>
            <a:off x="548580" y="4156695"/>
            <a:ext cx="164529" cy="640035"/>
          </a:xfrm>
          <a:prstGeom prst="roundRect">
            <a:avLst>
              <a:gd name="adj" fmla="val 14450"/>
            </a:avLst>
          </a:prstGeom>
          <a:solidFill>
            <a:srgbClr val="00A0FF"/>
          </a:solidFill>
          <a:ln/>
        </p:spPr>
        <p:txBody>
          <a:bodyPr/>
          <a:lstStyle/>
          <a:p>
            <a:endParaRPr lang="en-US"/>
          </a:p>
        </p:txBody>
      </p:sp>
      <p:sp>
        <p:nvSpPr>
          <p:cNvPr id="15" name="Text 13"/>
          <p:cNvSpPr/>
          <p:nvPr/>
        </p:nvSpPr>
        <p:spPr>
          <a:xfrm>
            <a:off x="914400" y="3989040"/>
            <a:ext cx="79552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Evaluate on the future</a:t>
            </a:r>
            <a:endParaRPr lang="en-US" sz="1800" dirty="0"/>
          </a:p>
        </p:txBody>
      </p:sp>
      <p:sp>
        <p:nvSpPr>
          <p:cNvPr id="16" name="Text 14"/>
          <p:cNvSpPr/>
          <p:nvPr/>
        </p:nvSpPr>
        <p:spPr>
          <a:xfrm>
            <a:off x="914400" y="4354785"/>
            <a:ext cx="7955235" cy="323776"/>
          </a:xfrm>
          <a:prstGeom prst="rect">
            <a:avLst/>
          </a:prstGeom>
          <a:noFill/>
          <a:ln/>
        </p:spPr>
        <p:txBody>
          <a:bodyPr wrap="none" lIns="0" tIns="0" rIns="0" bIns="0" rtlCol="0" anchor="t"/>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The temporal test changed which model looks best</a:t>
            </a:r>
            <a:endParaRPr lang="en-US" sz="1700" dirty="0"/>
          </a:p>
        </p:txBody>
      </p:sp>
      <p:sp>
        <p:nvSpPr>
          <p:cNvPr id="17" name="Shape 15"/>
          <p:cNvSpPr/>
          <p:nvPr/>
        </p:nvSpPr>
        <p:spPr>
          <a:xfrm>
            <a:off x="365745" y="5067300"/>
            <a:ext cx="8275290" cy="1130275"/>
          </a:xfrm>
          <a:prstGeom prst="roundRect">
            <a:avLst>
              <a:gd name="adj" fmla="val 7928"/>
            </a:avLst>
          </a:prstGeom>
          <a:solidFill>
            <a:srgbClr val="F4EFF4"/>
          </a:solidFill>
          <a:ln/>
        </p:spPr>
        <p:txBody>
          <a:bodyPr/>
          <a:lstStyle/>
          <a:p>
            <a:endParaRPr lang="en-US"/>
          </a:p>
        </p:txBody>
      </p:sp>
      <p:sp>
        <p:nvSpPr>
          <p:cNvPr id="18" name="Shape 16"/>
          <p:cNvSpPr/>
          <p:nvPr/>
        </p:nvSpPr>
        <p:spPr>
          <a:xfrm>
            <a:off x="548580" y="5312346"/>
            <a:ext cx="164529" cy="640035"/>
          </a:xfrm>
          <a:prstGeom prst="roundRect">
            <a:avLst>
              <a:gd name="adj" fmla="val 14450"/>
            </a:avLst>
          </a:prstGeom>
          <a:solidFill>
            <a:srgbClr val="621360"/>
          </a:solidFill>
          <a:ln/>
        </p:spPr>
        <p:txBody>
          <a:bodyPr/>
          <a:lstStyle/>
          <a:p>
            <a:endParaRPr lang="en-US"/>
          </a:p>
        </p:txBody>
      </p:sp>
      <p:sp>
        <p:nvSpPr>
          <p:cNvPr id="19" name="Text 17"/>
          <p:cNvSpPr/>
          <p:nvPr/>
        </p:nvSpPr>
        <p:spPr>
          <a:xfrm>
            <a:off x="914400" y="5144765"/>
            <a:ext cx="7955235" cy="342900"/>
          </a:xfrm>
          <a:prstGeom prst="rect">
            <a:avLst/>
          </a:prstGeom>
          <a:noFill/>
          <a:ln/>
        </p:spPr>
        <p:txBody>
          <a:bodyPr wrap="none" lIns="0" tIns="0" rIns="0" bIns="0" rtlCol="0" anchor="t"/>
          <a:lstStyle/>
          <a:p>
            <a:pPr marL="0" indent="0" algn="l">
              <a:lnSpc>
                <a:spcPct val="125000"/>
              </a:lnSpc>
              <a:buNone/>
            </a:pPr>
            <a:r>
              <a:rPr lang="en-US" sz="1800" b="1" dirty="0">
                <a:solidFill>
                  <a:srgbClr val="1F1F1F"/>
                </a:solidFill>
                <a:latin typeface="Carlito Bold" pitchFamily="34" charset="0"/>
                <a:ea typeface="Carlito Bold" pitchFamily="34" charset="-122"/>
                <a:cs typeface="Carlito Bold" pitchFamily="34" charset="-120"/>
              </a:rPr>
              <a:t>Engineering matters</a:t>
            </a:r>
            <a:endParaRPr lang="en-US" sz="1800" dirty="0"/>
          </a:p>
        </p:txBody>
      </p:sp>
      <p:sp>
        <p:nvSpPr>
          <p:cNvPr id="20" name="Text 18"/>
          <p:cNvSpPr/>
          <p:nvPr/>
        </p:nvSpPr>
        <p:spPr>
          <a:xfrm>
            <a:off x="914400" y="5510510"/>
            <a:ext cx="7498035" cy="647551"/>
          </a:xfrm>
          <a:prstGeom prst="rect">
            <a:avLst/>
          </a:prstGeom>
          <a:noFill/>
          <a:ln/>
        </p:spPr>
        <p:txBody>
          <a:bodyPr wrap="square" lIns="0" tIns="0" rIns="0" bIns="0" rtlCol="0" anchor="t">
            <a:normAutofit/>
          </a:bodyPr>
          <a:lstStyle/>
          <a:p>
            <a:pPr marL="0" indent="0" algn="l">
              <a:lnSpc>
                <a:spcPct val="125000"/>
              </a:lnSpc>
              <a:buNone/>
            </a:pPr>
            <a:r>
              <a:rPr lang="en-US" sz="1700" dirty="0">
                <a:solidFill>
                  <a:srgbClr val="5A5A5A"/>
                </a:solidFill>
                <a:latin typeface="Carlito" pitchFamily="34" charset="0"/>
                <a:ea typeface="Carlito" pitchFamily="34" charset="-122"/>
                <a:cs typeface="Carlito" pitchFamily="34" charset="-120"/>
              </a:rPr>
              <a:t>Checkpointing, version differences and memory limits took as much effort as modelling</a:t>
            </a:r>
            <a:endParaRPr lang="en-US" sz="1700" dirty="0"/>
          </a:p>
        </p:txBody>
      </p:sp>
      <p:pic>
        <p:nvPicPr>
          <p:cNvPr id="21"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CONCLUSION</a:t>
            </a:r>
            <a:endParaRPr lang="en-US" sz="4400" dirty="0"/>
          </a:p>
        </p:txBody>
      </p:sp>
      <p:sp>
        <p:nvSpPr>
          <p:cNvPr id="5" name="Text 3"/>
          <p:cNvSpPr/>
          <p:nvPr/>
        </p:nvSpPr>
        <p:spPr>
          <a:xfrm>
            <a:off x="365745" y="1586210"/>
            <a:ext cx="8224540" cy="3088704"/>
          </a:xfrm>
          <a:prstGeom prst="rect">
            <a:avLst/>
          </a:prstGeom>
          <a:noFill/>
          <a:ln/>
        </p:spPr>
        <p:txBody>
          <a:bodyPr wrap="square" lIns="0" tIns="0" rIns="0" bIns="0" rtlCol="0" anchor="t">
            <a:normAutofit/>
          </a:bodyPr>
          <a:lstStyle/>
          <a:p>
            <a:pPr marL="229616" indent="-229616" algn="l">
              <a:lnSpc>
                <a:spcPct val="100000"/>
              </a:lnSpc>
              <a:buSzPct val="100000"/>
              <a:buChar char="•"/>
            </a:pPr>
            <a:r>
              <a:rPr lang="en-US" sz="1600" dirty="0">
                <a:solidFill>
                  <a:srgbClr val="1F1F1F"/>
                </a:solidFill>
                <a:latin typeface="Carlito" pitchFamily="34" charset="0"/>
                <a:ea typeface="Carlito" pitchFamily="34" charset="-122"/>
                <a:cs typeface="Carlito" pitchFamily="34" charset="-120"/>
              </a:rPr>
              <a:t>Built an Apache Spark pipeline over 7,001,619 U.S. domestic flights of 2025 that excludes post-flight information.</a:t>
            </a:r>
            <a:endParaRPr lang="en-US" sz="1600" dirty="0"/>
          </a:p>
          <a:p>
            <a:pPr marL="229616" indent="-229616" algn="l">
              <a:lnSpc>
                <a:spcPct val="100000"/>
              </a:lnSpc>
              <a:buSzPct val="100000"/>
              <a:buChar char="•"/>
            </a:pPr>
            <a:r>
              <a:rPr lang="en-US" sz="1600" dirty="0">
                <a:solidFill>
                  <a:srgbClr val="1F1F1F"/>
                </a:solidFill>
                <a:latin typeface="Carlito" pitchFamily="34" charset="0"/>
                <a:ea typeface="Carlito" pitchFamily="34" charset="-122"/>
                <a:cs typeface="Carlito" pitchFamily="34" charset="-120"/>
              </a:rPr>
              <a:t>On the random test split, Gradient-Boosted Trees performed best (F1 0.479, ROC-AUC 0.735); on later, unseen months Random Forest had the higher F1, so the best model depends on how it is used.</a:t>
            </a:r>
            <a:endParaRPr lang="en-US" sz="1600" dirty="0"/>
          </a:p>
          <a:p>
            <a:pPr marL="229616" indent="-229616" algn="l">
              <a:lnSpc>
                <a:spcPct val="100000"/>
              </a:lnSpc>
              <a:buSzPct val="100000"/>
              <a:buChar char="•"/>
            </a:pPr>
            <a:r>
              <a:rPr lang="en-US" sz="1600" dirty="0">
                <a:solidFill>
                  <a:srgbClr val="1F1F1F"/>
                </a:solidFill>
                <a:latin typeface="Carlito" pitchFamily="34" charset="0"/>
                <a:ea typeface="Carlito" pitchFamily="34" charset="-122"/>
                <a:cs typeface="Carlito" pitchFamily="34" charset="-120"/>
              </a:rPr>
              <a:t>Accuracy is misleading on imbalanced data; recall, precision, PR-AUC and a temporal test give a fairer picture.</a:t>
            </a:r>
            <a:endParaRPr lang="en-US" sz="1600" dirty="0"/>
          </a:p>
          <a:p>
            <a:pPr marL="229616" indent="-229616" algn="l">
              <a:lnSpc>
                <a:spcPct val="100000"/>
              </a:lnSpc>
              <a:buSzPct val="100000"/>
              <a:buChar char="•"/>
            </a:pPr>
            <a:r>
              <a:rPr lang="en-US" sz="1600" dirty="0">
                <a:solidFill>
                  <a:srgbClr val="1F1F1F"/>
                </a:solidFill>
                <a:latin typeface="Carlito" pitchFamily="34" charset="0"/>
                <a:ea typeface="Carlito" pitchFamily="34" charset="-122"/>
                <a:cs typeface="Carlito" pitchFamily="34" charset="-120"/>
              </a:rPr>
              <a:t>Big data tooling made it feasible on free Colab: Parquet, broadcast joins and keeping evaluation inside Spark.</a:t>
            </a:r>
            <a:endParaRPr lang="en-US" sz="1600" dirty="0"/>
          </a:p>
          <a:p>
            <a:pPr marL="229616" indent="-229616" algn="l">
              <a:lnSpc>
                <a:spcPct val="100000"/>
              </a:lnSpc>
              <a:buSzPct val="100000"/>
              <a:buChar char="•"/>
            </a:pPr>
            <a:r>
              <a:rPr lang="en-US" sz="1600" dirty="0">
                <a:solidFill>
                  <a:srgbClr val="1F1F1F"/>
                </a:solidFill>
                <a:latin typeface="Carlito" pitchFamily="34" charset="0"/>
                <a:ea typeface="Carlito" pitchFamily="34" charset="-122"/>
                <a:cs typeface="Carlito" pitchFamily="34" charset="-120"/>
              </a:rPr>
              <a:t>Before extending the model: audit the rotation features, use out-of-fold encoding and chronological validation.</a:t>
            </a:r>
            <a:endParaRPr lang="en-US" sz="1600" dirty="0"/>
          </a:p>
        </p:txBody>
      </p:sp>
      <p:pic>
        <p:nvPicPr>
          <p:cNvPr id="6"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810625" y="3415085"/>
            <a:ext cx="333375" cy="3442841"/>
          </a:xfrm>
          <a:prstGeom prst="rect">
            <a:avLst/>
          </a:prstGeom>
          <a:solidFill>
            <a:srgbClr val="3C023C"/>
          </a:solidFill>
          <a:ln/>
        </p:spPr>
        <p:txBody>
          <a:bodyPr/>
          <a:lstStyle/>
          <a:p>
            <a:endParaRPr lang="en-US"/>
          </a:p>
        </p:txBody>
      </p:sp>
      <p:sp>
        <p:nvSpPr>
          <p:cNvPr id="3" name="Shape 1"/>
          <p:cNvSpPr/>
          <p:nvPr/>
        </p:nvSpPr>
        <p:spPr>
          <a:xfrm>
            <a:off x="8810625" y="0"/>
            <a:ext cx="336872" cy="3425949"/>
          </a:xfrm>
          <a:prstGeom prst="rect">
            <a:avLst/>
          </a:prstGeom>
          <a:solidFill>
            <a:srgbClr val="621360"/>
          </a:solidFill>
          <a:ln/>
        </p:spPr>
        <p:txBody>
          <a:bodyPr/>
          <a:lstStyle/>
          <a:p>
            <a:endParaRPr lang="en-US"/>
          </a:p>
        </p:txBody>
      </p:sp>
      <p:sp>
        <p:nvSpPr>
          <p:cNvPr id="4" name="Text 2"/>
          <p:cNvSpPr/>
          <p:nvPr/>
        </p:nvSpPr>
        <p:spPr>
          <a:xfrm>
            <a:off x="454298" y="667984"/>
            <a:ext cx="8209657" cy="458167"/>
          </a:xfrm>
          <a:prstGeom prst="rect">
            <a:avLst/>
          </a:prstGeom>
          <a:noFill/>
          <a:ln/>
        </p:spPr>
        <p:txBody>
          <a:bodyPr wrap="none" lIns="0" tIns="0" rIns="0" bIns="0" rtlCol="0" anchor="t"/>
          <a:lstStyle/>
          <a:p>
            <a:pPr marL="0" indent="0" algn="l">
              <a:lnSpc>
                <a:spcPct val="68000"/>
              </a:lnSpc>
              <a:buNone/>
            </a:pPr>
            <a:r>
              <a:rPr lang="en-US" sz="4400" b="1" kern="100" spc="70" dirty="0">
                <a:solidFill>
                  <a:srgbClr val="621360"/>
                </a:solidFill>
                <a:latin typeface="Carlito Bold" pitchFamily="34" charset="0"/>
                <a:ea typeface="Carlito Bold" pitchFamily="34" charset="-122"/>
                <a:cs typeface="Carlito Bold" pitchFamily="34" charset="-120"/>
              </a:rPr>
              <a:t>REFERENCES</a:t>
            </a:r>
            <a:endParaRPr lang="en-US" sz="4400" dirty="0"/>
          </a:p>
        </p:txBody>
      </p:sp>
      <p:sp>
        <p:nvSpPr>
          <p:cNvPr id="5" name="Text 3"/>
          <p:cNvSpPr/>
          <p:nvPr/>
        </p:nvSpPr>
        <p:spPr>
          <a:xfrm>
            <a:off x="365745" y="1494755"/>
            <a:ext cx="8218140" cy="2518470"/>
          </a:xfrm>
          <a:prstGeom prst="rect">
            <a:avLst/>
          </a:prstGeom>
          <a:noFill/>
          <a:ln/>
        </p:spPr>
        <p:txBody>
          <a:bodyPr wrap="square" lIns="0" tIns="0" rIns="0" bIns="0" rtlCol="0" anchor="t"/>
          <a:lstStyle/>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Ball, M., et al. (2010). Total delay impact study. NEXTOR.</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Belcastro, L., Marozzo, F., Talia, D., &amp; Trunfio, P. (2016). Using scalable data mining for predicting flight delays. ACM TIST, 8(1), 5.</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Breiman, L. (2001). Random forests. Machine Learning, 45(1), 5–32.</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Bureau of Transportation Statistics. (2026). Reporting carrier on-time performance (1987–present) [Data set]. U.S. DOT.</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Friedman, J. H. (2001). Greedy function approximation: A gradient boosting machine. Annals of Statistics, 29(5), 1189–1232.</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Kaufman, S., Rosset, S., Perlich, C., &amp; Stitelman, O. (2012). Leakage in data mining. ACM TKDD, 6(4), 15.</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Meng, X., et al. (2016). MLlib: Machine learning in Apache Spark. JMLR, 17(34), 1–7.</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Micci-Barreca, D. (2001). A preprocessing scheme for high-cardinality categorical attributes. SIGKDD Explorations, 3(1), 27–32.</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Saito, T., &amp; Rehmsmeier, M. (2015). The precision-recall plot is more informative than the ROC plot. PLoS ONE, 10(3), e0118432.</a:t>
            </a:r>
            <a:endParaRPr lang="en-US" sz="1100" dirty="0"/>
          </a:p>
          <a:p>
            <a:pPr marL="0" indent="0" algn="l">
              <a:lnSpc>
                <a:spcPct val="100000"/>
              </a:lnSpc>
              <a:spcAft>
                <a:spcPts val="350"/>
              </a:spcAft>
              <a:buNone/>
            </a:pPr>
            <a:r>
              <a:rPr lang="en-US" sz="1100" dirty="0">
                <a:solidFill>
                  <a:srgbClr val="1F1F1F"/>
                </a:solidFill>
                <a:latin typeface="Carlito" pitchFamily="34" charset="0"/>
                <a:ea typeface="Carlito" pitchFamily="34" charset="-122"/>
                <a:cs typeface="Carlito" pitchFamily="34" charset="-120"/>
              </a:rPr>
              <a:t>Wirth, R., &amp; Hipp, J. (2000). CRISP-DM: Towards a standard process model for data mining. Proc. 4th Int. Conf. on the Practical Applications of Knowledge Discovery and Data Mining, 29–39.</a:t>
            </a:r>
            <a:endParaRPr lang="en-US" sz="1100" dirty="0"/>
          </a:p>
          <a:p>
            <a:pPr marL="0" indent="0" algn="l">
              <a:lnSpc>
                <a:spcPct val="100000"/>
              </a:lnSpc>
              <a:buNone/>
            </a:pPr>
            <a:r>
              <a:rPr lang="en-US" sz="1100" dirty="0">
                <a:solidFill>
                  <a:srgbClr val="1F1F1F"/>
                </a:solidFill>
                <a:latin typeface="Carlito" pitchFamily="34" charset="0"/>
                <a:ea typeface="Carlito" pitchFamily="34" charset="-122"/>
                <a:cs typeface="Carlito" pitchFamily="34" charset="-120"/>
              </a:rPr>
              <a:t>Zaharia, M., et al. (2016). Apache Spark: A unified engine for big data processing. CACM, 59(11), 56–65.</a:t>
            </a:r>
            <a:endParaRPr lang="en-US" sz="1100" dirty="0"/>
          </a:p>
        </p:txBody>
      </p:sp>
      <p:pic>
        <p:nvPicPr>
          <p:cNvPr id="6" name="Image 0" descr="preencoded.png"/>
          <p:cNvPicPr>
            <a:picLocks noChangeAspect="1"/>
          </p:cNvPicPr>
          <p:nvPr/>
        </p:nvPicPr>
        <p:blipFill>
          <a:blip r:embed="rId3"/>
          <a:stretch>
            <a:fillRect/>
          </a:stretch>
        </p:blipFill>
        <p:spPr>
          <a:xfrm>
            <a:off x="471488" y="6225108"/>
            <a:ext cx="1298004" cy="46196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1071711" y="2841427"/>
            <a:ext cx="8072214" cy="4016499"/>
          </a:xfrm>
          <a:prstGeom prst="rect">
            <a:avLst/>
          </a:prstGeom>
          <a:solidFill>
            <a:srgbClr val="621360"/>
          </a:solidFill>
          <a:ln/>
        </p:spPr>
        <p:txBody>
          <a:bodyPr/>
          <a:lstStyle/>
          <a:p>
            <a:endParaRPr lang="en-US"/>
          </a:p>
        </p:txBody>
      </p:sp>
      <p:sp>
        <p:nvSpPr>
          <p:cNvPr id="3" name="Shape 1"/>
          <p:cNvSpPr/>
          <p:nvPr/>
        </p:nvSpPr>
        <p:spPr>
          <a:xfrm>
            <a:off x="341188" y="3746078"/>
            <a:ext cx="8802737" cy="3111847"/>
          </a:xfrm>
          <a:prstGeom prst="rect">
            <a:avLst/>
          </a:prstGeom>
          <a:solidFill>
            <a:srgbClr val="3C023C"/>
          </a:solidFill>
          <a:ln/>
        </p:spPr>
        <p:txBody>
          <a:bodyPr/>
          <a:lstStyle/>
          <a:p>
            <a:endParaRPr lang="en-US"/>
          </a:p>
        </p:txBody>
      </p:sp>
      <p:sp>
        <p:nvSpPr>
          <p:cNvPr id="4" name="Text 2"/>
          <p:cNvSpPr/>
          <p:nvPr/>
        </p:nvSpPr>
        <p:spPr>
          <a:xfrm>
            <a:off x="791766" y="4241189"/>
            <a:ext cx="4037335" cy="603424"/>
          </a:xfrm>
          <a:prstGeom prst="rect">
            <a:avLst/>
          </a:prstGeom>
          <a:noFill/>
          <a:ln/>
        </p:spPr>
        <p:txBody>
          <a:bodyPr wrap="none" lIns="0" tIns="0" rIns="0" bIns="0" rtlCol="0" anchor="t"/>
          <a:lstStyle/>
          <a:p>
            <a:pPr marL="0" indent="0" algn="l">
              <a:lnSpc>
                <a:spcPct val="90000"/>
              </a:lnSpc>
              <a:buNone/>
            </a:pPr>
            <a:r>
              <a:rPr lang="en-US" sz="4400" b="1" kern="100" spc="70" dirty="0">
                <a:solidFill>
                  <a:srgbClr val="FFFFFF"/>
                </a:solidFill>
                <a:latin typeface="Carlito Bold" pitchFamily="34" charset="0"/>
                <a:ea typeface="Carlito Bold" pitchFamily="34" charset="-122"/>
                <a:cs typeface="Carlito Bold" pitchFamily="34" charset="-120"/>
              </a:rPr>
              <a:t>Thank you</a:t>
            </a:r>
            <a:endParaRPr lang="en-US" sz="4400" dirty="0"/>
          </a:p>
        </p:txBody>
      </p:sp>
      <p:pic>
        <p:nvPicPr>
          <p:cNvPr id="5" name="Image 0" descr="preencoded.png"/>
          <p:cNvPicPr>
            <a:picLocks noChangeAspect="1"/>
          </p:cNvPicPr>
          <p:nvPr/>
        </p:nvPicPr>
        <p:blipFill>
          <a:blip r:embed="rId3"/>
          <a:stretch>
            <a:fillRect/>
          </a:stretch>
        </p:blipFill>
        <p:spPr>
          <a:xfrm>
            <a:off x="5099372" y="2081138"/>
            <a:ext cx="4044553" cy="2695649"/>
          </a:xfrm>
          <a:prstGeom prst="rect">
            <a:avLst/>
          </a:prstGeom>
        </p:spPr>
      </p:pic>
      <p:pic>
        <p:nvPicPr>
          <p:cNvPr id="6" name="Image 1" descr="preencoded.png"/>
          <p:cNvPicPr>
            <a:picLocks noChangeAspect="1"/>
          </p:cNvPicPr>
          <p:nvPr/>
        </p:nvPicPr>
        <p:blipFill>
          <a:blip r:embed="rId4"/>
          <a:stretch>
            <a:fillRect/>
          </a:stretch>
        </p:blipFill>
        <p:spPr>
          <a:xfrm>
            <a:off x="367233" y="546199"/>
            <a:ext cx="4325094" cy="15391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3777</Words>
  <Application>Microsoft Office PowerPoint</Application>
  <PresentationFormat>On-screen Show (4:3)</PresentationFormat>
  <Paragraphs>308</Paragraphs>
  <Slides>23</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Symbol</vt:lpstr>
      <vt:lpstr>Carlito Bold</vt:lpstr>
      <vt:lpstr>Carlito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Soh, Kelvin</cp:lastModifiedBy>
  <cp:revision>4</cp:revision>
  <dcterms:created xsi:type="dcterms:W3CDTF">2026-10-11T07:21:25Z</dcterms:created>
  <dcterms:modified xsi:type="dcterms:W3CDTF">2026-10-11T13:48:15Z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7894b3-2847-4d77-83aa-d5f137c768f0_Enabled">
    <vt:lpwstr>true</vt:lpwstr>
  </property>
  <property fmtid="{D5CDD505-2E9C-101B-9397-08002B2CF9AE}" pid="3" name="MSIP_Label_597894b3-2847-4d77-83aa-d5f137c768f0_SetDate">
    <vt:lpwstr>2026-10-11T13:15:51Z</vt:lpwstr>
  </property>
  <property fmtid="{D5CDD505-2E9C-101B-9397-08002B2CF9AE}" pid="4" name="MSIP_Label_597894b3-2847-4d77-83aa-d5f137c768f0_Method">
    <vt:lpwstr>Standard</vt:lpwstr>
  </property>
  <property fmtid="{D5CDD505-2E9C-101B-9397-08002B2CF9AE}" pid="5" name="MSIP_Label_597894b3-2847-4d77-83aa-d5f137c768f0_Name">
    <vt:lpwstr>Internal Use Only</vt:lpwstr>
  </property>
  <property fmtid="{D5CDD505-2E9C-101B-9397-08002B2CF9AE}" pid="6" name="MSIP_Label_597894b3-2847-4d77-83aa-d5f137c768f0_SiteId">
    <vt:lpwstr>6d4034cd-7225-4f72-b853-91feaea64919</vt:lpwstr>
  </property>
  <property fmtid="{D5CDD505-2E9C-101B-9397-08002B2CF9AE}" pid="7" name="MSIP_Label_597894b3-2847-4d77-83aa-d5f137c768f0_ActionId">
    <vt:lpwstr>9e39c178-f40b-4543-b74b-25ab573489a5</vt:lpwstr>
  </property>
  <property fmtid="{D5CDD505-2E9C-101B-9397-08002B2CF9AE}" pid="8" name="MSIP_Label_597894b3-2847-4d77-83aa-d5f137c768f0_ContentBits">
    <vt:lpwstr>0</vt:lpwstr>
  </property>
  <property fmtid="{D5CDD505-2E9C-101B-9397-08002B2CF9AE}" pid="9" name="MSIP_Label_597894b3-2847-4d77-83aa-d5f137c768f0_Tag">
    <vt:lpwstr>10, 3, 0, 1</vt:lpwstr>
  </property>
</Properties>
</file>