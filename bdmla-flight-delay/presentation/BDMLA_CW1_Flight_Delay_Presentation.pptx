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a6c5759-1ed5-09d0-c316-3bd99e604607}">
          <p14:sldIdLst>
            <p14:sldId id="256"/>
            <p14:sldId id="257"/>
            <p14:sldId id="258"/>
          </p14:sldIdLst>
        </p14:section>
        <p14:section name="Data and architecture" id="{e9ad983b-bccf-c4f1-91be-5ef9df1b1819}">
          <p14:sldIdLst>
            <p14:sldId id="259"/>
            <p14:sldId id="260"/>
            <p14:sldId id="261"/>
          </p14:sldIdLst>
        </p14:section>
        <p14:section name="Method" id="{3a71d25a-3b1c-5ec3-021c-e6856b45bc07}">
          <p14:sldIdLst>
            <p14:sldId id="262"/>
            <p14:sldId id="263"/>
            <p14:sldId id="264"/>
          </p14:sldIdLst>
        </p14:section>
        <p14:section name="Results" id="{20521826-bdab-b861-96aa-441c76d9a310}">
          <p14:sldIdLst>
            <p14:sldId id="265"/>
            <p14:sldId id="266"/>
            <p14:sldId id="267"/>
          </p14:sldIdLst>
        </p14:section>
        <p14:section name="Close" id="{785412b3-6dfb-a21e-f73b-7ccbcbe5b5e2}">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1F3A"/>
                </a:solidFill>
                <a:latin typeface="+mn-lt"/>
              </a:defRPr>
            </a:pPr>
            <a:r>
              <a:rPr sz="1300" b="0" i="0" u="none" strike="noStrike">
                <a:solidFill>
                  <a:srgbClr val="0B1F3A"/>
                </a:solidFill>
                <a:latin typeface="+mn-lt"/>
              </a:rPr>
              <a:t>Cleaning funnel (rows remaining)</a:t>
            </a:r>
          </a:p>
        </c:rich>
      </c:tx>
      <c:layout/>
      <c:overlay val="0"/>
    </c:title>
    <c:autoTitleDeleted val="0"/>
    <c:plotArea>
      <c:layout/>
      <c:barChart>
        <c:barDir val="bar"/>
        <c:grouping val="clustered"/>
        <c:varyColors val="0"/>
        <c:ser>
          <c:idx val="0"/>
          <c:order val="0"/>
          <c:tx>
            <c:strRef>
              <c:f>Sheet1!$B$1</c:f>
              <c:strCache>
                <c:ptCount val="1"/>
                <c:pt idx="0">
                  <c:v>Rows</c:v>
                </c:pt>
              </c:strCache>
            </c:strRef>
          </c:tx>
          <c:spPr>
            <a:solidFill>
              <a:srgbClr val="2A78D6"/>
            </a:solidFill>
            <a:effectLst/>
          </c:spPr>
          <c:invertIfNegative val="0"/>
          <c:dLbls>
            <c:numFmt formatCode="#,##0" sourceLinked="0"/>
            <c:txPr>
              <a:bodyPr/>
              <a:lstStyle/>
              <a:p>
                <a:pPr>
                  <a:defRPr b="0" i="0" strike="noStrike" sz="1000" u="none">
                    <a:solidFill>
                      <a:srgbClr val="0B1F3A"/>
                    </a:solidFill>
                    <a:latin typeface="+mn-lt"/>
                  </a:defRPr>
                </a:pPr>
              </a:p>
            </c:txPr>
            <c:showLegendKey val="0"/>
            <c:showVal val="1"/>
            <c:showCatName val="0"/>
            <c:showSerName val="0"/>
            <c:showPercent val="0"/>
            <c:showBubbleSize val="0"/>
            <c:showLeaderLines val="0"/>
          </c:dLbls>
          <c:cat>
            <c:multiLvlStrRef>
              <c:f>Sheet1!$A$2:$A$7</c:f>
              <c:multiLvlStrCache>
                <c:ptCount val="6"/>
                <c:lvl>
                  <c:pt idx="0">
                    <c:v>Raw flights (12 files)</c:v>
                  </c:pt>
                  <c:pt idx="1">
                    <c:v>Remove cancelled</c:v>
                  </c:pt>
                  <c:pt idx="2">
                    <c:v>Remove diverted</c:v>
                  </c:pt>
                  <c:pt idx="3">
                    <c:v>Remove null ARR_DELAY</c:v>
                  </c:pt>
                  <c:pt idx="4">
                    <c:v>Remove duplicates</c:v>
                  </c:pt>
                  <c:pt idx="5">
                    <c:v>Remove invalid schedule values</c:v>
                  </c:pt>
                </c:lvl>
              </c:multiLvlStrCache>
            </c:multiLvlStrRef>
          </c:cat>
          <c:val>
            <c:numRef>
              <c:f>Sheet1!$B$2:$B$7</c:f>
              <c:numCache>
                <c:formatCode>General</c:formatCode>
                <c:ptCount val="6"/>
                <c:pt idx="0">
                  <c:v>7001619</c:v>
                </c:pt>
                <c:pt idx="1">
                  <c:v>6898743</c:v>
                </c:pt>
                <c:pt idx="2">
                  <c:v>6879485</c:v>
                </c:pt>
                <c:pt idx="3">
                  <c:v>6879484</c:v>
                </c:pt>
                <c:pt idx="4">
                  <c:v>6879484</c:v>
                </c:pt>
                <c:pt idx="5">
                  <c:v>6879483</c:v>
                </c:pt>
              </c:numCache>
            </c:numRef>
          </c:val>
        </c:ser>
        <c:dLbls>
          <c:numFmt formatCode="#,##0" sourceLinked="0"/>
          <c:txPr>
            <a:bodyPr/>
            <a:lstStyle/>
            <a:p>
              <a:pPr>
                <a:defRPr b="0" i="0" strike="noStrike" sz="1000" u="none">
                  <a:solidFill>
                    <a:srgbClr val="0B1F3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C6B7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5C6B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1F3A"/>
                </a:solidFill>
                <a:latin typeface="+mn-lt"/>
              </a:defRPr>
            </a:pPr>
            <a:r>
              <a:rPr sz="1300" b="0" i="0" u="none" strike="noStrike">
                <a:solidFill>
                  <a:srgbClr val="0B1F3A"/>
                </a:solidFill>
                <a:latin typeface="+mn-lt"/>
              </a:rPr>
              <a:t>Test-set metrics (delayed = positive class)</a:t>
            </a:r>
          </a:p>
        </c:rich>
      </c:tx>
      <c:layout/>
      <c:overlay val="0"/>
    </c:title>
    <c:autoTitleDeleted val="0"/>
    <c:plotArea>
      <c:layout/>
      <c:barChart>
        <c:barDir val="col"/>
        <c:grouping val="clustered"/>
        <c:varyColors val="0"/>
        <c:ser>
          <c:idx val="0"/>
          <c:order val="0"/>
          <c:tx>
            <c:strRef>
              <c:f>Sheet1!$B$1</c:f>
              <c:strCache>
                <c:ptCount val="1"/>
                <c:pt idx="0">
                  <c:v>Logistic Regression</c:v>
                </c:pt>
              </c:strCache>
            </c:strRef>
          </c:tx>
          <c:spPr>
            <a:solidFill>
              <a:srgbClr val="2A78D6"/>
            </a:solidFill>
            <a:effectLst/>
          </c:spPr>
          <c:invertIfNegative val="0"/>
          <c:dLbls>
            <c:numFmt formatCode="#,##0" sourceLinked="0"/>
            <c:txPr>
              <a:bodyPr/>
              <a:lstStyle/>
              <a:p>
                <a:pPr>
                  <a:defRPr b="0" i="0" strike="noStrike" sz="1000" u="none">
                    <a:solidFill>
                      <a:srgbClr val="0B1F3A"/>
                    </a:solidFill>
                    <a:latin typeface="+mn-lt"/>
                  </a:defRPr>
                </a:pPr>
              </a:p>
            </c:txPr>
            <c:showLegendKey val="0"/>
            <c:showVal val="0"/>
            <c:showCatName val="0"/>
            <c:showSerName val="0"/>
            <c:showPercent val="0"/>
            <c:showBubbleSize val="0"/>
            <c:showLeaderLines val="0"/>
          </c:dLbls>
          <c:cat>
            <c:multiLvlStrRef>
              <c:f>Sheet1!$A$2:$A$6</c:f>
              <c:multiLvlStrCache>
                <c:ptCount val="5"/>
                <c:lvl>
                  <c:pt idx="0">
                    <c:v>Precision</c:v>
                  </c:pt>
                  <c:pt idx="1">
                    <c:v>Recall</c:v>
                  </c:pt>
                  <c:pt idx="2">
                    <c:v>F1</c:v>
                  </c:pt>
                  <c:pt idx="3">
                    <c:v>ROC-AUC</c:v>
                  </c:pt>
                  <c:pt idx="4">
                    <c:v>PR-AUC</c:v>
                  </c:pt>
                </c:lvl>
              </c:multiLvlStrCache>
            </c:multiLvlStrRef>
          </c:cat>
          <c:val>
            <c:numRef>
              <c:f>Sheet1!$B$2:$B$6</c:f>
              <c:numCache>
                <c:formatCode>General</c:formatCode>
                <c:ptCount val="5"/>
                <c:pt idx="0">
                  <c:v>0.325</c:v>
                </c:pt>
                <c:pt idx="1">
                  <c:v>0.638</c:v>
                </c:pt>
                <c:pt idx="2">
                  <c:v>0.431</c:v>
                </c:pt>
                <c:pt idx="3">
                  <c:v>0.676</c:v>
                </c:pt>
                <c:pt idx="4">
                  <c:v>0.368</c:v>
                </c:pt>
              </c:numCache>
            </c:numRef>
          </c:val>
        </c:ser>
        <c:ser>
          <c:idx val="1"/>
          <c:order val="1"/>
          <c:tx>
            <c:strRef>
              <c:f>Sheet1!$C$1</c:f>
              <c:strCache>
                <c:ptCount val="1"/>
                <c:pt idx="0">
                  <c:v>Random Forest</c:v>
                </c:pt>
              </c:strCache>
            </c:strRef>
          </c:tx>
          <c:spPr>
            <a:solidFill>
              <a:srgbClr val="EB6834"/>
            </a:solidFill>
            <a:effectLst/>
          </c:spPr>
          <c:invertIfNegative val="0"/>
          <c:dLbls>
            <c:numFmt formatCode="#,##0" sourceLinked="0"/>
            <c:txPr>
              <a:bodyPr/>
              <a:lstStyle/>
              <a:p>
                <a:pPr>
                  <a:defRPr b="0" i="0" strike="noStrike" sz="1000" u="none">
                    <a:solidFill>
                      <a:srgbClr val="0B1F3A"/>
                    </a:solidFill>
                    <a:latin typeface="+mn-lt"/>
                  </a:defRPr>
                </a:pPr>
              </a:p>
            </c:txPr>
            <c:showLegendKey val="0"/>
            <c:showVal val="0"/>
            <c:showCatName val="0"/>
            <c:showSerName val="0"/>
            <c:showPercent val="0"/>
            <c:showBubbleSize val="0"/>
            <c:showLeaderLines val="0"/>
          </c:dLbls>
          <c:cat>
            <c:multiLvlStrRef>
              <c:f>Sheet1!$A$2:$A$6</c:f>
              <c:multiLvlStrCache>
                <c:ptCount val="5"/>
                <c:lvl>
                  <c:pt idx="0">
                    <c:v>Precision</c:v>
                  </c:pt>
                  <c:pt idx="1">
                    <c:v>Recall</c:v>
                  </c:pt>
                  <c:pt idx="2">
                    <c:v>F1</c:v>
                  </c:pt>
                  <c:pt idx="3">
                    <c:v>ROC-AUC</c:v>
                  </c:pt>
                  <c:pt idx="4">
                    <c:v>PR-AUC</c:v>
                  </c:pt>
                </c:lvl>
              </c:multiLvlStrCache>
            </c:multiLvlStrRef>
          </c:cat>
          <c:val>
            <c:numRef>
              <c:f>Sheet1!$C$2:$C$6</c:f>
              <c:numCache>
                <c:formatCode>General</c:formatCode>
                <c:ptCount val="5"/>
                <c:pt idx="0">
                  <c:v>0.362</c:v>
                </c:pt>
                <c:pt idx="1">
                  <c:v>0.63</c:v>
                </c:pt>
                <c:pt idx="2">
                  <c:v>0.46</c:v>
                </c:pt>
                <c:pt idx="3">
                  <c:v>0.715</c:v>
                </c:pt>
                <c:pt idx="4">
                  <c:v>0.457</c:v>
                </c:pt>
              </c:numCache>
            </c:numRef>
          </c:val>
        </c:ser>
        <c:ser>
          <c:idx val="2"/>
          <c:order val="2"/>
          <c:tx>
            <c:strRef>
              <c:f>Sheet1!$D$1</c:f>
              <c:strCache>
                <c:ptCount val="1"/>
                <c:pt idx="0">
                  <c:v>Gradient-Boosted Trees</c:v>
                </c:pt>
              </c:strCache>
            </c:strRef>
          </c:tx>
          <c:spPr>
            <a:solidFill>
              <a:srgbClr val="1BAF7A"/>
            </a:solidFill>
            <a:effectLst/>
          </c:spPr>
          <c:invertIfNegative val="0"/>
          <c:dLbls>
            <c:numFmt formatCode="#,##0" sourceLinked="0"/>
            <c:txPr>
              <a:bodyPr/>
              <a:lstStyle/>
              <a:p>
                <a:pPr>
                  <a:defRPr b="0" i="0" strike="noStrike" sz="1000" u="none">
                    <a:solidFill>
                      <a:srgbClr val="0B1F3A"/>
                    </a:solidFill>
                    <a:latin typeface="+mn-lt"/>
                  </a:defRPr>
                </a:pPr>
              </a:p>
            </c:txPr>
            <c:showLegendKey val="0"/>
            <c:showVal val="0"/>
            <c:showCatName val="0"/>
            <c:showSerName val="0"/>
            <c:showPercent val="0"/>
            <c:showBubbleSize val="0"/>
            <c:showLeaderLines val="0"/>
          </c:dLbls>
          <c:cat>
            <c:multiLvlStrRef>
              <c:f>Sheet1!$A$2:$A$6</c:f>
              <c:multiLvlStrCache>
                <c:ptCount val="5"/>
                <c:lvl>
                  <c:pt idx="0">
                    <c:v>Precision</c:v>
                  </c:pt>
                  <c:pt idx="1">
                    <c:v>Recall</c:v>
                  </c:pt>
                  <c:pt idx="2">
                    <c:v>F1</c:v>
                  </c:pt>
                  <c:pt idx="3">
                    <c:v>ROC-AUC</c:v>
                  </c:pt>
                  <c:pt idx="4">
                    <c:v>PR-AUC</c:v>
                  </c:pt>
                </c:lvl>
              </c:multiLvlStrCache>
            </c:multiLvlStrRef>
          </c:cat>
          <c:val>
            <c:numRef>
              <c:f>Sheet1!$D$2:$D$6</c:f>
              <c:numCache>
                <c:formatCode>General</c:formatCode>
                <c:ptCount val="5"/>
                <c:pt idx="0">
                  <c:v>0.4</c:v>
                </c:pt>
                <c:pt idx="1">
                  <c:v>0.598</c:v>
                </c:pt>
                <c:pt idx="2">
                  <c:v>0.479</c:v>
                </c:pt>
                <c:pt idx="3">
                  <c:v>0.735</c:v>
                </c:pt>
                <c:pt idx="4">
                  <c:v>0.482</c:v>
                </c:pt>
              </c:numCache>
            </c:numRef>
          </c:val>
        </c:ser>
        <c:dLbls>
          <c:numFmt formatCode="#,##0" sourceLinked="0"/>
          <c:txPr>
            <a:bodyPr/>
            <a:lstStyle/>
            <a:p>
              <a:pPr>
                <a:defRPr b="0" i="0" strike="noStrike" sz="1000" u="none">
                  <a:solidFill>
                    <a:srgbClr val="0B1F3A"/>
                  </a:solidFill>
                  <a:latin typeface="+mn-lt"/>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C6B7A"/>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9DEE5"/>
              </a:solidFill>
              <a:prstDash val="solid"/>
              <a:round/>
            </a:ln>
          </c:spPr>
        </c:majorGridlines>
        <c:numFmt formatCode="0.0" sourceLinked="0"/>
        <c:majorTickMark val="out"/>
        <c:minorTickMark val="none"/>
        <c:tickLblPos val="nextTo"/>
        <c:spPr>
          <a:ln w="12700" cap="flat">
            <a:noFill/>
            <a:prstDash val="solid"/>
            <a:round/>
          </a:ln>
        </c:spPr>
        <c:txPr>
          <a:bodyPr/>
          <a:lstStyle/>
          <a:p>
            <a:pPr>
              <a:defRPr sz="1000" b="0" i="0" u="none" strike="noStrike">
                <a:solidFill>
                  <a:srgbClr val="5C6B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0B1F3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1F3A"/>
                </a:solidFill>
                <a:latin typeface="+mn-lt"/>
              </a:defRPr>
            </a:pPr>
            <a:r>
              <a:rPr sz="1300" b="0" i="0" u="none" strike="noStrike">
                <a:solidFill>
                  <a:srgbClr val="0B1F3A"/>
                </a:solidFill>
                <a:latin typeface="+mn-lt"/>
              </a:rPr>
              <a:t>ROC-AUC: random vs temporal test</a:t>
            </a:r>
          </a:p>
        </c:rich>
      </c:tx>
      <c:layout/>
      <c:overlay val="0"/>
    </c:title>
    <c:autoTitleDeleted val="0"/>
    <c:plotArea>
      <c:layout/>
      <c:barChart>
        <c:barDir val="col"/>
        <c:grouping val="clustered"/>
        <c:varyColors val="0"/>
        <c:ser>
          <c:idx val="0"/>
          <c:order val="0"/>
          <c:tx>
            <c:strRef>
              <c:f>Sheet1!$B$1</c:f>
              <c:strCache>
                <c:ptCount val="1"/>
                <c:pt idx="0">
                  <c:v>Random split</c:v>
                </c:pt>
              </c:strCache>
            </c:strRef>
          </c:tx>
          <c:spPr>
            <a:solidFill>
              <a:srgbClr val="13315C"/>
            </a:solidFill>
            <a:effectLst/>
          </c:spPr>
          <c:invertIfNegative val="0"/>
          <c:dLbls>
            <c:numFmt formatCode="0.000" sourceLinked="0"/>
            <c:txPr>
              <a:bodyPr/>
              <a:lstStyle/>
              <a:p>
                <a:pPr>
                  <a:defRPr b="0" i="0" strike="noStrike" sz="1000" u="none">
                    <a:solidFill>
                      <a:srgbClr val="0B1F3A"/>
                    </a:solidFill>
                    <a:latin typeface="+mn-lt"/>
                  </a:defRPr>
                </a:pPr>
              </a:p>
            </c:txPr>
            <c:showLegendKey val="0"/>
            <c:showVal val="1"/>
            <c:showCatName val="0"/>
            <c:showSerName val="0"/>
            <c:showPercent val="0"/>
            <c:showBubbleSize val="0"/>
            <c:showLeaderLines val="0"/>
          </c:dLbls>
          <c:cat>
            <c:multiLvlStrRef>
              <c:f>Sheet1!$A$2:$A$4</c:f>
              <c:multiLvlStrCache>
                <c:ptCount val="3"/>
                <c:lvl>
                  <c:pt idx="0">
                    <c:v>LR</c:v>
                  </c:pt>
                  <c:pt idx="1">
                    <c:v>RF</c:v>
                  </c:pt>
                  <c:pt idx="2">
                    <c:v>GBT</c:v>
                  </c:pt>
                </c:lvl>
              </c:multiLvlStrCache>
            </c:multiLvlStrRef>
          </c:cat>
          <c:val>
            <c:numRef>
              <c:f>Sheet1!$B$2:$B$4</c:f>
              <c:numCache>
                <c:formatCode>General</c:formatCode>
                <c:ptCount val="3"/>
                <c:pt idx="0">
                  <c:v>0.676</c:v>
                </c:pt>
                <c:pt idx="1">
                  <c:v>0.715</c:v>
                </c:pt>
                <c:pt idx="2">
                  <c:v>0.735</c:v>
                </c:pt>
              </c:numCache>
            </c:numRef>
          </c:val>
        </c:ser>
        <c:ser>
          <c:idx val="1"/>
          <c:order val="1"/>
          <c:tx>
            <c:strRef>
              <c:f>Sheet1!$C$1</c:f>
              <c:strCache>
                <c:ptCount val="1"/>
                <c:pt idx="0">
                  <c:v>Temporal (Oct-Dec)</c:v>
                </c:pt>
              </c:strCache>
            </c:strRef>
          </c:tx>
          <c:spPr>
            <a:solidFill>
              <a:srgbClr val="8DA9C4"/>
            </a:solidFill>
            <a:effectLst/>
          </c:spPr>
          <c:invertIfNegative val="0"/>
          <c:dLbls>
            <c:numFmt formatCode="0.000" sourceLinked="0"/>
            <c:txPr>
              <a:bodyPr/>
              <a:lstStyle/>
              <a:p>
                <a:pPr>
                  <a:defRPr b="0" i="0" strike="noStrike" sz="1000" u="none">
                    <a:solidFill>
                      <a:srgbClr val="0B1F3A"/>
                    </a:solidFill>
                    <a:latin typeface="+mn-lt"/>
                  </a:defRPr>
                </a:pPr>
              </a:p>
            </c:txPr>
            <c:showLegendKey val="0"/>
            <c:showVal val="1"/>
            <c:showCatName val="0"/>
            <c:showSerName val="0"/>
            <c:showPercent val="0"/>
            <c:showBubbleSize val="0"/>
            <c:showLeaderLines val="0"/>
          </c:dLbls>
          <c:cat>
            <c:multiLvlStrRef>
              <c:f>Sheet1!$A$2:$A$4</c:f>
              <c:multiLvlStrCache>
                <c:ptCount val="3"/>
                <c:lvl>
                  <c:pt idx="0">
                    <c:v>LR</c:v>
                  </c:pt>
                  <c:pt idx="1">
                    <c:v>RF</c:v>
                  </c:pt>
                  <c:pt idx="2">
                    <c:v>GBT</c:v>
                  </c:pt>
                </c:lvl>
              </c:multiLvlStrCache>
            </c:multiLvlStrRef>
          </c:cat>
          <c:val>
            <c:numRef>
              <c:f>Sheet1!$C$2:$C$4</c:f>
              <c:numCache>
                <c:formatCode>General</c:formatCode>
                <c:ptCount val="3"/>
                <c:pt idx="0">
                  <c:v>0.603</c:v>
                </c:pt>
                <c:pt idx="1">
                  <c:v>0.672</c:v>
                </c:pt>
                <c:pt idx="2">
                  <c:v>0.679</c:v>
                </c:pt>
              </c:numCache>
            </c:numRef>
          </c:val>
        </c:ser>
        <c:dLbls>
          <c:numFmt formatCode="0.000" sourceLinked="0"/>
          <c:txPr>
            <a:bodyPr/>
            <a:lstStyle/>
            <a:p>
              <a:pPr>
                <a:defRPr b="0" i="0" strike="noStrike" sz="1000" u="none">
                  <a:solidFill>
                    <a:srgbClr val="0B1F3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C6B7A"/>
                </a:solidFill>
                <a:latin typeface="+mn-lt"/>
              </a:defRPr>
            </a:pPr>
            <a:endParaRPr lang="en-US"/>
          </a:p>
        </c:txPr>
        <c:crossAx val="2094734552"/>
        <c:crosses val="autoZero"/>
        <c:auto val="1"/>
        <c:lblAlgn val="ctr"/>
        <c:noMultiLvlLbl val="1"/>
      </c:catAx>
      <c:valAx>
        <c:axId val="2094734552"/>
        <c:scaling>
          <c:orientation val="minMax"/>
          <c:max val="1"/>
          <c:min val="0.5"/>
        </c:scaling>
        <c:delete val="0"/>
        <c:axPos val="l"/>
        <c:majorGridlines>
          <c:spPr>
            <a:ln w="6350" cap="flat">
              <a:solidFill>
                <a:srgbClr val="D9DEE5"/>
              </a:solidFill>
              <a:prstDash val="solid"/>
              <a:round/>
            </a:ln>
          </c:spPr>
        </c:majorGridlines>
        <c:numFmt formatCode="0.0" sourceLinked="0"/>
        <c:majorTickMark val="out"/>
        <c:minorTickMark val="none"/>
        <c:tickLblPos val="nextTo"/>
        <c:spPr>
          <a:ln w="12700" cap="flat">
            <a:noFill/>
            <a:prstDash val="solid"/>
            <a:round/>
          </a:ln>
        </c:spPr>
        <c:txPr>
          <a:bodyPr/>
          <a:lstStyle/>
          <a:p>
            <a:pPr>
              <a:defRPr sz="1000" b="0" i="0" u="none" strike="noStrike">
                <a:solidFill>
                  <a:srgbClr val="5C6B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0B1F3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Good morning. My project asks a simple question with a practical use: can we tell, before a plane leaves the gate, whether it is going to arrive late? I used Apache Spark on every U.S. domestic flight from 2025 and compared three machine learning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[0:20-1:05] Delays are expensive. A U.S. study put the total cost at around 33 billion dollars in 2007 alone, across airlines, passengers and lost demand. The industry uses a simple rule: if you arrive 15 minutes or more after schedule, you are delayed. The Bureau of Transportation Statistics publishes a record for every domestic flight, about 7,001,619 in 2025, which gives us millions of labelled examples. Knowing earlier which flights are at risk helps airlines re-plan crews and aircraft, helps passengers with connections, and helps airports manage 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[1:05-1:45] So the problem is: using only what is known before departure, will this flight arrive 15 or more minutes late? That "before departure" part matters. Many online examples use departure delay as an input, which is basically cheating, because you only know it once the plane has left. I set five objectives: ingest and clean all twelve files in Spark, keep the features leakage-free, train three MLlib models, evaluate them properly for an imbalanced problem, and show how it scales.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[1:45-2:30] The data is the official BTS on-time table. I downloaded all twelve months of 2025, about 3 gigabytes of CSV and 7,001,619 flights. Each file has around 110 columns, but I only load 17, which I'll come back to when I talk about leakage. After cleaning, about 22.31% of flights are delayed, so the classes are imbalanced. The chart shows the clearest pattern: only about 9 percent of 5am departures arrive late, but by 7pm it's about a third. Delays build up through the day because a late aircraft carries its delay into its next flights.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[2:30-3:10] Here's the whole pipeline. The twelve files sit in Google Drive. Spark reads each one, maps the column names, keeps only the allowed columns and unions them. Everything is then written once to Parquet, which is the key performance step. Next come the schedule features, cleaning and the label. The second row is the machine learning part: split, encode, train three models, tune them, evaluate, and export all the figures and tables that feed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[3:10-4:00] A quick look under the hood. Spark breaks the job into stages and tasks, one per data partition. In Colab the driver and executor share one machine, but the same code runs on a cluster just by changing the master URL. The changes that mattered most: converting to Parquet once, which made the same query 25.1x faster; reducing shuffle partitions; broadcasting small lookup tables; and computing all metrics inside Spark. I also ran a small scaling test: going from 1 to 2 cores made a full scan 2.41x faster. Logistic regression barely changed, because on a small cached sample each iteration is dominated by fixed overhead. Its parallel gradient step pays off with much more data per task, which is what a cluster gives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[4:00-4:50] Cleaning followed the brief: remove cancelled and diverted flights and rows with no arrival delay, plus duplicates and impossible values. The funnel shows how many rows each step removed. The bigger issue is leakage. Columns like wheels-on time or the delay-cause minutes are only known after landing, so they are never loaded. I also removed departure delay and taxi-out, which were not on the original list but would make the model useless in practice. One subtle point: if you count flights per hour after removing cancellations, a stormy day looks quiet, and the feature leaks the outcome. So I compute those counts on the full schedule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[4:50-5:35] I built four groups of features, all known in advance. Calendar and time, including how close the date is to a public holiday. Basic flight details. Congestion: how many flights are scheduled at the same airport in the same hour. And the one I think is most interesting: aircraft rotation. Using a Spark window function over each tail number, I know which leg of the day this is and how much scheduled turnaround time it has, because delays roll forward through the day. Airports and routes have thousands of values, so I replaced them with their historical delay rate, fitted on the training data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[5:35-6:20] I compared three models from Spark MLlib, all using exactly the same features. Logistic regression is the simple, explainable baseline. Random forest builds many trees independently. Gradient-boosted trees build them one after another, each fixing the last one's mistakes. That also affects scaling: boosting is the hardest to parallelise. Because only about one flight in five is delayed, I used class weights and chose the decision threshold on a separate validation set. Each model was tuned with 3-fold cross-validation, optimising PR-AUC.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[6:20-7:15] These are the test results. Gradient-Boosted Trees had the best F1, 0.479, and Gradient-Boosted Trees the best ROC-AUC. Notice the last row: a "model" that always says on time gets 77.70% accuracy and catches zero delays. That's why accuracy alone is misleading here, and why I focus on recall, F1 and PR-AUC. On training time, Logistic Regression was quickest and Random Forest slowest. Both tree models clearly beat logistic regression, so the non-linear interactions matter. And boosting wins twice: it's more accurate than the tuned random forest and trains in less than a quarter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[7:15-8:05] On the left is permutation importance: how much accuracy drops when I shuffle one feature. The two that matter most are the historical delay rate of that airport at that hour, and the scheduled turnaround time, which is exactly the delay-propagation story. Interestingly, the tree's own importance ranking also puts day-of-month and holiday distance near the top, which hints that it memorises specific bad days. The right-hand chart confirms it: train on January to September and predict October to December, and ROC-AUC drops from 0.735 to 0.679 for boosting. Logistic regression collapses because it has never seen those months. The temporal number is the honest one for real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[8:05-8:55] Three things I took away. First, the accuracy trap: doing nothing already scores 77.70%, so you have to look at recall and F1. Second, where you set the threshold is really a business decision. If you're positioning spare crews you can live with false alarms, but if you're texting passengers you need precision. Third, accuracy versus cost: Logistic Regression trains fastest, and boosting is the hardest to scale. The main limitations are no weather data, possible small leakage from same-day aircraft swaps, and training on a sample because of Colab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[8:55-9:40] To wrap up: I built a full, leakage-free Spark pipeline over every 2025 U.S. domestic flight, and Gradient-Boosted Trees performed best on F1. The biggest lessons were about evaluation, not algorithms: handling the imbalance and choosing the threshold mattered more than chasing accuracy. Next, I would add weather forecasts, which is the biggest missing signal, try XGBoost on GPUs, run the full data on a real cluster, and use Spark streaming to update predictions on the day as earlier flights report delays.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[9:40-10:00] Thank you, I'm happy to take questions.
LIKELY QUESTIONS (prepare, don't read):
- Why not use departure delay? It's only known after the plane leaves, so the model would be useless for planning, and it inflates accuracy (leakage).
- Why is accuracy not enough? Always predicting "on time" already gets 77.70%; we care about catching delays (recall) without too many false alarms (precision).
- Why target encoding? Hundreds of airports and thousands of routes; one-hot would explode the feature space and Spark trees need maxBins &gt;= categories. Fitted on training data only.
- Why did you sample the training data? Colab has 2 cores and ~12 GB RAM; validation and test were always scored in full. On a cluster I'd use everything.
- How would this scale? Same code, different master URL; LR and RF parallelise well, GBT is sequential across rounds. GPUs via RAPIDS or XGBoost-Spark.
- Could tail numbers leak? Slightly: aircraft can be swapped on the day. In production you'd use the planned rotation from the airline's schedule.
- Why PR-AUC for tuning? With a rare positive class, PR-AUC reflects performance on delays better than ROC-AUC.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7498080" cy="18288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3840480"/>
            <a:ext cx="7498080" cy="146304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73952"/>
            <a:ext cx="6400800" cy="274320"/>
          </a:xfrm>
          <a:prstGeom prst="rect">
            <a:avLst/>
          </a:prstGeom>
          <a:noFill/>
          <a:ln/>
        </p:spPr>
        <p:txBody>
          <a:bodyPr wrap="square" lIns="0" tIns="0" rIns="0" bIns="0" rtlCol="0" anchor="ctr"/>
          <a:lstStyle/>
          <a:p>
            <a:pPr indent="0" marL="0">
              <a:buNone/>
            </a:pPr>
            <a:r>
              <a:rPr lang="en-US" sz="1000" dirty="0">
                <a:solidFill>
                  <a:schemeClr val="accent6"/>
                </a:solidFill>
              </a:rPr>
              <a:t>Flight delay prediction with Apache Spark  ·  M33877 BDMLA</a:t>
            </a:r>
            <a:endParaRPr lang="en-US" sz="10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7-1.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11-1.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4.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7498080" cy="1828800"/>
          </a:xfrm>
          <a:prstGeom prst="rect">
            <a:avLst/>
          </a:prstGeom>
          <a:noFill/>
          <a:ln/>
        </p:spPr>
        <p:txBody>
          <a:bodyPr wrap="square" lIns="0" tIns="0" rIns="0" bIns="0" rtlCol="0" anchor="b"/>
          <a:lstStyle/>
          <a:p>
            <a:pPr algn="l" indent="0" marL="0">
              <a:buNone/>
            </a:pPr>
            <a:r>
              <a:rPr lang="en-US" sz="4400" b="1" dirty="0">
                <a:solidFill>
                  <a:schemeClr val="bg1"/>
                </a:solidFill>
              </a:rPr>
              <a:t>Predicting Airline Flight Delays Using Apache Spark</a:t>
            </a:r>
            <a:endParaRPr lang="en-US" sz="4400" dirty="0"/>
          </a:p>
        </p:txBody>
      </p:sp>
      <p:sp>
        <p:nvSpPr>
          <p:cNvPr id="3" name="Text 0"/>
          <p:cNvSpPr/>
          <p:nvPr>
            <p:ph idx="101" type="body" hasCustomPrompt="1"/>
          </p:nvPr>
        </p:nvSpPr>
        <p:spPr>
          <a:xfrm>
            <a:off x="548640" y="3840480"/>
            <a:ext cx="7498080" cy="1463040"/>
          </a:xfrm>
          <a:prstGeom prst="rect">
            <a:avLst/>
          </a:prstGeom>
          <a:noFill/>
          <a:ln/>
        </p:spPr>
        <p:txBody>
          <a:bodyPr wrap="square" lIns="0" tIns="0" rIns="0" bIns="0" rtlCol="0" anchor="t"/>
          <a:lstStyle/>
          <a:p>
            <a:pPr algn="l" indent="0" marL="0">
              <a:buNone/>
            </a:pPr>
            <a:r>
              <a:rPr lang="en-US" sz="1800" dirty="0">
                <a:solidFill>
                  <a:schemeClr val="accent5"/>
                </a:solidFill>
              </a:rPr>
              <a:t>Logistic Regression vs Random Forest vs Gradient-Boosted Trees on the full 2025 U.S. flight record</a:t>
            </a:r>
            <a:endParaRPr lang="en-US" sz="1800" dirty="0"/>
          </a:p>
          <a:p>
            <a:pPr algn="l" indent="0" marL="0">
              <a:buNone/>
            </a:pPr>
            <a:r>
              <a:rPr lang="en-US" sz="1000" dirty="0">
                <a:solidFill>
                  <a:schemeClr val="accent5"/>
                </a:solidFill>
              </a:rPr>
              <a:t> </a:t>
            </a:r>
            <a:endParaRPr lang="en-US" sz="1800" dirty="0"/>
          </a:p>
          <a:p>
            <a:pPr algn="l" indent="0" marL="0">
              <a:buNone/>
            </a:pPr>
            <a:r>
              <a:rPr lang="en-US" sz="1400" dirty="0">
                <a:solidFill>
                  <a:srgbClr val="000000"/>
                </a:solidFill>
                <a:highlight>
                  <a:srgbClr val="FFFF00"/>
                </a:highlight>
              </a:rPr>
              <a:t>[Your name / student ID]  ·  M33877 Big Data and Machine Learning Applications  ·  November 2026</a:t>
            </a:r>
            <a:endParaRPr lang="en-US" sz="1800" dirty="0"/>
          </a:p>
        </p:txBody>
      </p:sp>
      <p:sp>
        <p:nvSpPr>
          <p:cNvPr id="4" name="hero-circle"/>
          <p:cNvSpPr/>
          <p:nvPr/>
        </p:nvSpPr>
        <p:spPr>
          <a:xfrm>
            <a:off x="8778240" y="1920240"/>
            <a:ext cx="2651760" cy="2651760"/>
          </a:xfrm>
          <a:prstGeom prst="ellipse">
            <a:avLst/>
          </a:prstGeom>
          <a:solidFill>
            <a:srgbClr val="EB6834"/>
          </a:solidFill>
          <a:ln w="12700">
            <a:solidFill>
              <a:srgbClr val="EB6834"/>
            </a:solidFill>
            <a:prstDash val="solid"/>
          </a:ln>
        </p:spPr>
      </p:sp>
      <p:pic>
        <p:nvPicPr>
          <p:cNvPr id="5" name="hero-icon" descr="preencoded.png">    </p:cNvPr>
          <p:cNvPicPr>
            <a:picLocks noChangeAspect="1"/>
          </p:cNvPicPr>
          <p:nvPr/>
        </p:nvPicPr>
        <p:blipFill>
          <a:blip r:embed="rId1"/>
          <a:stretch>
            <a:fillRect/>
          </a:stretch>
        </p:blipFill>
        <p:spPr>
          <a:xfrm>
            <a:off x="9441180" y="2583180"/>
            <a:ext cx="1325880" cy="13258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Delays are costly, and mostly a surprise</a:t>
            </a:r>
            <a:endParaRPr lang="en-US" sz="3200" dirty="0"/>
          </a:p>
        </p:txBody>
      </p:sp>
      <p:sp>
        <p:nvSpPr>
          <p:cNvPr id="3" name="stat-0"/>
          <p:cNvSpPr/>
          <p:nvPr/>
        </p:nvSpPr>
        <p:spPr>
          <a:xfrm>
            <a:off x="548640" y="1417320"/>
            <a:ext cx="4937760" cy="1280160"/>
          </a:xfrm>
          <a:prstGeom prst="roundRect">
            <a:avLst>
              <a:gd name="adj" fmla="val 5714"/>
            </a:avLst>
          </a:prstGeom>
          <a:solidFill>
            <a:schemeClr val="bg2"/>
          </a:solidFill>
          <a:ln w="12700">
            <a:solidFill>
              <a:schemeClr val="bg2"/>
            </a:solidFill>
            <a:prstDash val="solid"/>
          </a:ln>
        </p:spPr>
      </p:sp>
      <p:sp>
        <p:nvSpPr>
          <p:cNvPr id="4" name="Text 2"/>
          <p:cNvSpPr txBox="1"/>
          <p:nvPr/>
        </p:nvSpPr>
        <p:spPr>
          <a:xfrm>
            <a:off x="822960" y="1554480"/>
            <a:ext cx="2377440" cy="1005840"/>
          </a:xfrm>
          <a:prstGeom prst="rect">
            <a:avLst/>
          </a:prstGeom>
          <a:noFill/>
          <a:ln/>
        </p:spPr>
        <p:txBody>
          <a:bodyPr wrap="square" lIns="0" tIns="0" rIns="0" bIns="0" rtlCol="0" anchor="ctr">
            <a:normAutofit/>
          </a:bodyPr>
          <a:lstStyle/>
          <a:p>
            <a:pPr indent="0" marL="0">
              <a:buNone/>
            </a:pPr>
            <a:r>
              <a:rPr lang="en-US" sz="3600" b="1" dirty="0">
                <a:solidFill>
                  <a:srgbClr val="EB6834"/>
                </a:solidFill>
              </a:rPr>
              <a:t>$32.9B</a:t>
            </a:r>
            <a:endParaRPr lang="en-US" sz="3600" dirty="0"/>
          </a:p>
        </p:txBody>
      </p:sp>
      <p:sp>
        <p:nvSpPr>
          <p:cNvPr id="5" name="Text 3"/>
          <p:cNvSpPr txBox="1"/>
          <p:nvPr/>
        </p:nvSpPr>
        <p:spPr>
          <a:xfrm>
            <a:off x="3246120" y="1554480"/>
            <a:ext cx="2103120" cy="1005840"/>
          </a:xfrm>
          <a:prstGeom prst="rect">
            <a:avLst/>
          </a:prstGeom>
          <a:noFill/>
          <a:ln/>
        </p:spPr>
        <p:txBody>
          <a:bodyPr wrap="square" lIns="0" tIns="0" rIns="0" bIns="0" rtlCol="0" anchor="ctr"/>
          <a:lstStyle/>
          <a:p>
            <a:pPr indent="0" marL="0">
              <a:buNone/>
            </a:pPr>
            <a:r>
              <a:rPr lang="en-US" sz="1300" dirty="0">
                <a:solidFill>
                  <a:schemeClr val="tx1"/>
                </a:solidFill>
              </a:rPr>
              <a:t>cost of U.S. flight delays</a:t>
            </a:r>
            <a:endParaRPr lang="en-US" sz="1300" dirty="0"/>
          </a:p>
          <a:p>
            <a:pPr indent="0" marL="0">
              <a:buNone/>
            </a:pPr>
            <a:r>
              <a:rPr lang="en-US" sz="1300" dirty="0">
                <a:solidFill>
                  <a:schemeClr val="tx1"/>
                </a:solidFill>
              </a:rPr>
              <a:t>in 2007 (Ball et al., 2010)</a:t>
            </a:r>
            <a:endParaRPr lang="en-US" sz="1300" dirty="0"/>
          </a:p>
        </p:txBody>
      </p:sp>
      <p:sp>
        <p:nvSpPr>
          <p:cNvPr id="6" name="stat-1"/>
          <p:cNvSpPr/>
          <p:nvPr/>
        </p:nvSpPr>
        <p:spPr>
          <a:xfrm>
            <a:off x="548640" y="2926080"/>
            <a:ext cx="4937760" cy="1280160"/>
          </a:xfrm>
          <a:prstGeom prst="roundRect">
            <a:avLst>
              <a:gd name="adj" fmla="val 5714"/>
            </a:avLst>
          </a:prstGeom>
          <a:solidFill>
            <a:schemeClr val="bg2"/>
          </a:solidFill>
          <a:ln w="12700">
            <a:solidFill>
              <a:schemeClr val="bg2"/>
            </a:solidFill>
            <a:prstDash val="solid"/>
          </a:ln>
        </p:spPr>
      </p:sp>
      <p:sp>
        <p:nvSpPr>
          <p:cNvPr id="7" name="Text 5"/>
          <p:cNvSpPr txBox="1"/>
          <p:nvPr/>
        </p:nvSpPr>
        <p:spPr>
          <a:xfrm>
            <a:off x="822960" y="3063240"/>
            <a:ext cx="2377440" cy="1005840"/>
          </a:xfrm>
          <a:prstGeom prst="rect">
            <a:avLst/>
          </a:prstGeom>
          <a:noFill/>
          <a:ln/>
        </p:spPr>
        <p:txBody>
          <a:bodyPr wrap="square" lIns="0" tIns="0" rIns="0" bIns="0" rtlCol="0" anchor="ctr">
            <a:normAutofit/>
          </a:bodyPr>
          <a:lstStyle/>
          <a:p>
            <a:pPr indent="0" marL="0">
              <a:buNone/>
            </a:pPr>
            <a:r>
              <a:rPr lang="en-US" sz="3600" b="1" dirty="0">
                <a:solidFill>
                  <a:srgbClr val="2A78D6"/>
                </a:solidFill>
              </a:rPr>
              <a:t>15 min</a:t>
            </a:r>
            <a:endParaRPr lang="en-US" sz="3600" dirty="0"/>
          </a:p>
        </p:txBody>
      </p:sp>
      <p:sp>
        <p:nvSpPr>
          <p:cNvPr id="8" name="Text 6"/>
          <p:cNvSpPr txBox="1"/>
          <p:nvPr/>
        </p:nvSpPr>
        <p:spPr>
          <a:xfrm>
            <a:off x="3246120" y="3063240"/>
            <a:ext cx="2103120" cy="1005840"/>
          </a:xfrm>
          <a:prstGeom prst="rect">
            <a:avLst/>
          </a:prstGeom>
          <a:noFill/>
          <a:ln/>
        </p:spPr>
        <p:txBody>
          <a:bodyPr wrap="square" lIns="0" tIns="0" rIns="0" bIns="0" rtlCol="0" anchor="ctr"/>
          <a:lstStyle/>
          <a:p>
            <a:pPr indent="0" marL="0">
              <a:buNone/>
            </a:pPr>
            <a:r>
              <a:rPr lang="en-US" sz="1300" dirty="0">
                <a:solidFill>
                  <a:schemeClr val="tx1"/>
                </a:solidFill>
              </a:rPr>
              <a:t>BTS definition of a</a:t>
            </a:r>
            <a:endParaRPr lang="en-US" sz="1300" dirty="0"/>
          </a:p>
          <a:p>
            <a:pPr indent="0" marL="0">
              <a:buNone/>
            </a:pPr>
            <a:r>
              <a:rPr lang="en-US" sz="1300" dirty="0">
                <a:solidFill>
                  <a:schemeClr val="tx1"/>
                </a:solidFill>
              </a:rPr>
              <a:t>"delayed" arrival</a:t>
            </a:r>
            <a:endParaRPr lang="en-US" sz="1300" dirty="0"/>
          </a:p>
        </p:txBody>
      </p:sp>
      <p:sp>
        <p:nvSpPr>
          <p:cNvPr id="9" name="stat-2"/>
          <p:cNvSpPr/>
          <p:nvPr/>
        </p:nvSpPr>
        <p:spPr>
          <a:xfrm>
            <a:off x="548640" y="4434840"/>
            <a:ext cx="4937760" cy="1280160"/>
          </a:xfrm>
          <a:prstGeom prst="roundRect">
            <a:avLst>
              <a:gd name="adj" fmla="val 5714"/>
            </a:avLst>
          </a:prstGeom>
          <a:solidFill>
            <a:schemeClr val="bg2"/>
          </a:solidFill>
          <a:ln w="12700">
            <a:solidFill>
              <a:schemeClr val="bg2"/>
            </a:solidFill>
            <a:prstDash val="solid"/>
          </a:ln>
        </p:spPr>
      </p:sp>
      <p:sp>
        <p:nvSpPr>
          <p:cNvPr id="10" name="Text 8"/>
          <p:cNvSpPr txBox="1"/>
          <p:nvPr/>
        </p:nvSpPr>
        <p:spPr>
          <a:xfrm>
            <a:off x="822960" y="4572000"/>
            <a:ext cx="2377440" cy="1005840"/>
          </a:xfrm>
          <a:prstGeom prst="rect">
            <a:avLst/>
          </a:prstGeom>
          <a:noFill/>
          <a:ln/>
        </p:spPr>
        <p:txBody>
          <a:bodyPr wrap="square" lIns="0" tIns="0" rIns="0" bIns="0" rtlCol="0" anchor="ctr">
            <a:normAutofit/>
          </a:bodyPr>
          <a:lstStyle/>
          <a:p>
            <a:pPr indent="0" marL="0">
              <a:buNone/>
            </a:pPr>
            <a:r>
              <a:rPr lang="en-US" sz="3600" b="1" dirty="0">
                <a:solidFill>
                  <a:srgbClr val="1BAF7A"/>
                </a:solidFill>
              </a:rPr>
              <a:t>7,001,619</a:t>
            </a:r>
            <a:endParaRPr lang="en-US" sz="3600" dirty="0"/>
          </a:p>
        </p:txBody>
      </p:sp>
      <p:sp>
        <p:nvSpPr>
          <p:cNvPr id="11" name="Text 9"/>
          <p:cNvSpPr txBox="1"/>
          <p:nvPr/>
        </p:nvSpPr>
        <p:spPr>
          <a:xfrm>
            <a:off x="3246120" y="4572000"/>
            <a:ext cx="2103120" cy="1005840"/>
          </a:xfrm>
          <a:prstGeom prst="rect">
            <a:avLst/>
          </a:prstGeom>
          <a:noFill/>
          <a:ln/>
        </p:spPr>
        <p:txBody>
          <a:bodyPr wrap="square" lIns="0" tIns="0" rIns="0" bIns="0" rtlCol="0" anchor="ctr"/>
          <a:lstStyle/>
          <a:p>
            <a:pPr indent="0" marL="0">
              <a:buNone/>
            </a:pPr>
            <a:r>
              <a:rPr lang="en-US" sz="1300" dirty="0">
                <a:solidFill>
                  <a:schemeClr val="tx1"/>
                </a:solidFill>
              </a:rPr>
              <a:t>flights in 2025 BTS on-time data</a:t>
            </a:r>
            <a:endParaRPr lang="en-US" sz="1300" dirty="0"/>
          </a:p>
        </p:txBody>
      </p:sp>
      <p:sp>
        <p:nvSpPr>
          <p:cNvPr id="12" name="who-0-circle"/>
          <p:cNvSpPr/>
          <p:nvPr/>
        </p:nvSpPr>
        <p:spPr>
          <a:xfrm>
            <a:off x="6172200" y="1508760"/>
            <a:ext cx="822960" cy="822960"/>
          </a:xfrm>
          <a:prstGeom prst="ellipse">
            <a:avLst/>
          </a:prstGeom>
          <a:solidFill>
            <a:srgbClr val="13315C"/>
          </a:solidFill>
          <a:ln w="12700">
            <a:solidFill>
              <a:srgbClr val="13315C"/>
            </a:solidFill>
            <a:prstDash val="solid"/>
          </a:ln>
        </p:spPr>
      </p:sp>
      <p:pic>
        <p:nvPicPr>
          <p:cNvPr id="13" name="who-0-icon" descr="preencoded.png">    </p:cNvPr>
          <p:cNvPicPr>
            <a:picLocks noChangeAspect="1"/>
          </p:cNvPicPr>
          <p:nvPr/>
        </p:nvPicPr>
        <p:blipFill>
          <a:blip r:embed="rId1"/>
          <a:stretch>
            <a:fillRect/>
          </a:stretch>
        </p:blipFill>
        <p:spPr>
          <a:xfrm>
            <a:off x="6377940" y="1714500"/>
            <a:ext cx="411480" cy="411480"/>
          </a:xfrm>
          <a:prstGeom prst="rect">
            <a:avLst/>
          </a:prstGeom>
        </p:spPr>
      </p:pic>
      <p:sp>
        <p:nvSpPr>
          <p:cNvPr id="14" name="Text 11"/>
          <p:cNvSpPr txBox="1"/>
          <p:nvPr/>
        </p:nvSpPr>
        <p:spPr>
          <a:xfrm>
            <a:off x="7223760" y="1463040"/>
            <a:ext cx="4389120" cy="411480"/>
          </a:xfrm>
          <a:prstGeom prst="rect">
            <a:avLst/>
          </a:prstGeom>
          <a:noFill/>
          <a:ln/>
        </p:spPr>
        <p:txBody>
          <a:bodyPr wrap="square" lIns="0" tIns="0" rIns="0" bIns="0" rtlCol="0" anchor="ctr"/>
          <a:lstStyle/>
          <a:p>
            <a:pPr indent="0" marL="0">
              <a:buNone/>
            </a:pPr>
            <a:r>
              <a:rPr lang="en-US" sz="2000" b="1" dirty="0">
                <a:solidFill>
                  <a:schemeClr val="tx1"/>
                </a:solidFill>
              </a:rPr>
              <a:t>Airlines</a:t>
            </a:r>
            <a:endParaRPr lang="en-US" sz="2000" dirty="0"/>
          </a:p>
        </p:txBody>
      </p:sp>
      <p:sp>
        <p:nvSpPr>
          <p:cNvPr id="15" name="Text 12"/>
          <p:cNvSpPr txBox="1"/>
          <p:nvPr/>
        </p:nvSpPr>
        <p:spPr>
          <a:xfrm>
            <a:off x="7223760" y="1892808"/>
            <a:ext cx="4389120" cy="548640"/>
          </a:xfrm>
          <a:prstGeom prst="rect">
            <a:avLst/>
          </a:prstGeom>
          <a:noFill/>
          <a:ln/>
        </p:spPr>
        <p:txBody>
          <a:bodyPr wrap="square" lIns="0" tIns="0" rIns="0" bIns="0" rtlCol="0" anchor="ctr"/>
          <a:lstStyle/>
          <a:p>
            <a:pPr indent="0" marL="0">
              <a:buNone/>
            </a:pPr>
            <a:r>
              <a:rPr lang="en-US" sz="1500" dirty="0">
                <a:solidFill>
                  <a:schemeClr val="accent6"/>
                </a:solidFill>
              </a:rPr>
              <a:t>Re-plan crews, gates and spare aircraft before problems hit</a:t>
            </a:r>
            <a:endParaRPr lang="en-US" sz="1500" dirty="0"/>
          </a:p>
        </p:txBody>
      </p:sp>
      <p:sp>
        <p:nvSpPr>
          <p:cNvPr id="16" name="who-1-circle"/>
          <p:cNvSpPr/>
          <p:nvPr/>
        </p:nvSpPr>
        <p:spPr>
          <a:xfrm>
            <a:off x="6172200" y="3017520"/>
            <a:ext cx="822960" cy="822960"/>
          </a:xfrm>
          <a:prstGeom prst="ellipse">
            <a:avLst/>
          </a:prstGeom>
          <a:solidFill>
            <a:srgbClr val="13315C"/>
          </a:solidFill>
          <a:ln w="12700">
            <a:solidFill>
              <a:srgbClr val="13315C"/>
            </a:solidFill>
            <a:prstDash val="solid"/>
          </a:ln>
        </p:spPr>
      </p:sp>
      <p:pic>
        <p:nvPicPr>
          <p:cNvPr id="17" name="who-1-icon" descr="preencoded.png">    </p:cNvPr>
          <p:cNvPicPr>
            <a:picLocks noChangeAspect="1"/>
          </p:cNvPicPr>
          <p:nvPr/>
        </p:nvPicPr>
        <p:blipFill>
          <a:blip r:embed="rId2"/>
          <a:stretch>
            <a:fillRect/>
          </a:stretch>
        </p:blipFill>
        <p:spPr>
          <a:xfrm>
            <a:off x="6377940" y="3223260"/>
            <a:ext cx="411480" cy="411480"/>
          </a:xfrm>
          <a:prstGeom prst="rect">
            <a:avLst/>
          </a:prstGeom>
        </p:spPr>
      </p:pic>
      <p:sp>
        <p:nvSpPr>
          <p:cNvPr id="18" name="Text 14"/>
          <p:cNvSpPr txBox="1"/>
          <p:nvPr/>
        </p:nvSpPr>
        <p:spPr>
          <a:xfrm>
            <a:off x="7223760" y="2971800"/>
            <a:ext cx="4389120" cy="411480"/>
          </a:xfrm>
          <a:prstGeom prst="rect">
            <a:avLst/>
          </a:prstGeom>
          <a:noFill/>
          <a:ln/>
        </p:spPr>
        <p:txBody>
          <a:bodyPr wrap="square" lIns="0" tIns="0" rIns="0" bIns="0" rtlCol="0" anchor="ctr"/>
          <a:lstStyle/>
          <a:p>
            <a:pPr indent="0" marL="0">
              <a:buNone/>
            </a:pPr>
            <a:r>
              <a:rPr lang="en-US" sz="2000" b="1" dirty="0">
                <a:solidFill>
                  <a:schemeClr val="tx1"/>
                </a:solidFill>
              </a:rPr>
              <a:t>Passengers</a:t>
            </a:r>
            <a:endParaRPr lang="en-US" sz="2000" dirty="0"/>
          </a:p>
        </p:txBody>
      </p:sp>
      <p:sp>
        <p:nvSpPr>
          <p:cNvPr id="19" name="Text 15"/>
          <p:cNvSpPr txBox="1"/>
          <p:nvPr/>
        </p:nvSpPr>
        <p:spPr>
          <a:xfrm>
            <a:off x="7223760" y="3401568"/>
            <a:ext cx="4389120" cy="548640"/>
          </a:xfrm>
          <a:prstGeom prst="rect">
            <a:avLst/>
          </a:prstGeom>
          <a:noFill/>
          <a:ln/>
        </p:spPr>
        <p:txBody>
          <a:bodyPr wrap="square" lIns="0" tIns="0" rIns="0" bIns="0" rtlCol="0" anchor="ctr"/>
          <a:lstStyle/>
          <a:p>
            <a:pPr indent="0" marL="0">
              <a:buNone/>
            </a:pPr>
            <a:r>
              <a:rPr lang="en-US" sz="1500" dirty="0">
                <a:solidFill>
                  <a:schemeClr val="accent6"/>
                </a:solidFill>
              </a:rPr>
              <a:t>Earlier warnings for tight connections</a:t>
            </a:r>
            <a:endParaRPr lang="en-US" sz="1500" dirty="0"/>
          </a:p>
        </p:txBody>
      </p:sp>
      <p:sp>
        <p:nvSpPr>
          <p:cNvPr id="20" name="who-2-circle"/>
          <p:cNvSpPr/>
          <p:nvPr/>
        </p:nvSpPr>
        <p:spPr>
          <a:xfrm>
            <a:off x="6172200" y="4526280"/>
            <a:ext cx="822960" cy="822960"/>
          </a:xfrm>
          <a:prstGeom prst="ellipse">
            <a:avLst/>
          </a:prstGeom>
          <a:solidFill>
            <a:srgbClr val="13315C"/>
          </a:solidFill>
          <a:ln w="12700">
            <a:solidFill>
              <a:srgbClr val="13315C"/>
            </a:solidFill>
            <a:prstDash val="solid"/>
          </a:ln>
        </p:spPr>
      </p:sp>
      <p:pic>
        <p:nvPicPr>
          <p:cNvPr id="21" name="who-2-icon" descr="preencoded.png">    </p:cNvPr>
          <p:cNvPicPr>
            <a:picLocks noChangeAspect="1"/>
          </p:cNvPicPr>
          <p:nvPr/>
        </p:nvPicPr>
        <p:blipFill>
          <a:blip r:embed="rId3"/>
          <a:stretch>
            <a:fillRect/>
          </a:stretch>
        </p:blipFill>
        <p:spPr>
          <a:xfrm>
            <a:off x="6377940" y="4732020"/>
            <a:ext cx="411480" cy="411480"/>
          </a:xfrm>
          <a:prstGeom prst="rect">
            <a:avLst/>
          </a:prstGeom>
        </p:spPr>
      </p:pic>
      <p:sp>
        <p:nvSpPr>
          <p:cNvPr id="22" name="Text 17"/>
          <p:cNvSpPr txBox="1"/>
          <p:nvPr/>
        </p:nvSpPr>
        <p:spPr>
          <a:xfrm>
            <a:off x="7223760" y="4480560"/>
            <a:ext cx="4389120" cy="411480"/>
          </a:xfrm>
          <a:prstGeom prst="rect">
            <a:avLst/>
          </a:prstGeom>
          <a:noFill/>
          <a:ln/>
        </p:spPr>
        <p:txBody>
          <a:bodyPr wrap="square" lIns="0" tIns="0" rIns="0" bIns="0" rtlCol="0" anchor="ctr"/>
          <a:lstStyle/>
          <a:p>
            <a:pPr indent="0" marL="0">
              <a:buNone/>
            </a:pPr>
            <a:r>
              <a:rPr lang="en-US" sz="2000" b="1" dirty="0">
                <a:solidFill>
                  <a:schemeClr val="tx1"/>
                </a:solidFill>
              </a:rPr>
              <a:t>Airports</a:t>
            </a:r>
            <a:endParaRPr lang="en-US" sz="2000" dirty="0"/>
          </a:p>
        </p:txBody>
      </p:sp>
      <p:sp>
        <p:nvSpPr>
          <p:cNvPr id="23" name="Text 18"/>
          <p:cNvSpPr txBox="1"/>
          <p:nvPr/>
        </p:nvSpPr>
        <p:spPr>
          <a:xfrm>
            <a:off x="7223760" y="4910328"/>
            <a:ext cx="4389120" cy="548640"/>
          </a:xfrm>
          <a:prstGeom prst="rect">
            <a:avLst/>
          </a:prstGeom>
          <a:noFill/>
          <a:ln/>
        </p:spPr>
        <p:txBody>
          <a:bodyPr wrap="square" lIns="0" tIns="0" rIns="0" bIns="0" rtlCol="0" anchor="ctr"/>
          <a:lstStyle/>
          <a:p>
            <a:pPr indent="0" marL="0">
              <a:buNone/>
            </a:pPr>
            <a:r>
              <a:rPr lang="en-US" sz="1500" dirty="0">
                <a:solidFill>
                  <a:schemeClr val="accent6"/>
                </a:solidFill>
              </a:rPr>
              <a:t>Anticipate congestion at peak hours</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Problem statement and objectives</a:t>
            </a:r>
            <a:endParaRPr lang="en-US" sz="3200" dirty="0"/>
          </a:p>
        </p:txBody>
      </p:sp>
      <p:sp>
        <p:nvSpPr>
          <p:cNvPr id="3" name="question-card"/>
          <p:cNvSpPr/>
          <p:nvPr/>
        </p:nvSpPr>
        <p:spPr>
          <a:xfrm>
            <a:off x="548640" y="1325880"/>
            <a:ext cx="11094415" cy="1234440"/>
          </a:xfrm>
          <a:prstGeom prst="roundRect">
            <a:avLst>
              <a:gd name="adj" fmla="val 5926"/>
            </a:avLst>
          </a:prstGeom>
          <a:solidFill>
            <a:srgbClr val="0B1F3A"/>
          </a:solidFill>
          <a:ln w="12700">
            <a:solidFill>
              <a:srgbClr val="0B1F3A"/>
            </a:solidFill>
            <a:prstDash val="solid"/>
          </a:ln>
        </p:spPr>
      </p:sp>
      <p:sp>
        <p:nvSpPr>
          <p:cNvPr id="4" name="Text 2"/>
          <p:cNvSpPr txBox="1"/>
          <p:nvPr/>
        </p:nvSpPr>
        <p:spPr>
          <a:xfrm>
            <a:off x="914400" y="1325880"/>
            <a:ext cx="10362895" cy="1234440"/>
          </a:xfrm>
          <a:prstGeom prst="rect">
            <a:avLst/>
          </a:prstGeom>
          <a:noFill/>
          <a:ln/>
        </p:spPr>
        <p:txBody>
          <a:bodyPr wrap="square" lIns="0" tIns="0" rIns="0" bIns="0" rtlCol="0" anchor="ctr"/>
          <a:lstStyle/>
          <a:p>
            <a:pPr indent="0" marL="0">
              <a:buNone/>
            </a:pPr>
            <a:r>
              <a:rPr lang="en-US" sz="2400" dirty="0">
                <a:solidFill>
                  <a:srgbClr val="FFFFFF"/>
                </a:solidFill>
              </a:rPr>
              <a:t>Using only information known before departure, </a:t>
            </a:r>
            <a:pPr indent="0" marL="0">
              <a:buNone/>
            </a:pPr>
            <a:r>
              <a:rPr lang="en-US" sz="2400" b="1" dirty="0">
                <a:solidFill>
                  <a:srgbClr val="FFB48F"/>
                </a:solidFill>
              </a:rPr>
              <a:t>will this flight arrive 15+ minutes late?</a:t>
            </a:r>
            <a:endParaRPr lang="en-US" sz="2400" dirty="0"/>
          </a:p>
        </p:txBody>
      </p:sp>
      <p:sp>
        <p:nvSpPr>
          <p:cNvPr id="5" name="obj-0"/>
          <p:cNvSpPr/>
          <p:nvPr/>
        </p:nvSpPr>
        <p:spPr>
          <a:xfrm>
            <a:off x="548640" y="2926080"/>
            <a:ext cx="1999427" cy="2880360"/>
          </a:xfrm>
          <a:prstGeom prst="roundRect">
            <a:avLst>
              <a:gd name="adj" fmla="val 3659"/>
            </a:avLst>
          </a:prstGeom>
          <a:solidFill>
            <a:schemeClr val="bg2"/>
          </a:solidFill>
          <a:ln w="12700">
            <a:solidFill>
              <a:schemeClr val="bg2"/>
            </a:solidFill>
            <a:prstDash val="solid"/>
          </a:ln>
        </p:spPr>
      </p:sp>
      <p:sp>
        <p:nvSpPr>
          <p:cNvPr id="6" name="obj-icon-0-circle"/>
          <p:cNvSpPr/>
          <p:nvPr/>
        </p:nvSpPr>
        <p:spPr>
          <a:xfrm>
            <a:off x="822960" y="3154680"/>
            <a:ext cx="685800" cy="685800"/>
          </a:xfrm>
          <a:prstGeom prst="ellipse">
            <a:avLst/>
          </a:prstGeom>
          <a:solidFill>
            <a:srgbClr val="2A78D6"/>
          </a:solidFill>
          <a:ln w="12700">
            <a:solidFill>
              <a:srgbClr val="2A78D6"/>
            </a:solidFill>
            <a:prstDash val="solid"/>
          </a:ln>
        </p:spPr>
      </p:sp>
      <p:pic>
        <p:nvPicPr>
          <p:cNvPr id="7" name="obj-icon-0-icon" descr="preencoded.png">    </p:cNvPr>
          <p:cNvPicPr>
            <a:picLocks noChangeAspect="1"/>
          </p:cNvPicPr>
          <p:nvPr/>
        </p:nvPicPr>
        <p:blipFill>
          <a:blip r:embed="rId1"/>
          <a:stretch>
            <a:fillRect/>
          </a:stretch>
        </p:blipFill>
        <p:spPr>
          <a:xfrm>
            <a:off x="994410" y="3326130"/>
            <a:ext cx="342900" cy="342900"/>
          </a:xfrm>
          <a:prstGeom prst="rect">
            <a:avLst/>
          </a:prstGeom>
        </p:spPr>
      </p:pic>
      <p:sp>
        <p:nvSpPr>
          <p:cNvPr id="8" name="Text 5"/>
          <p:cNvSpPr txBox="1"/>
          <p:nvPr/>
        </p:nvSpPr>
        <p:spPr>
          <a:xfrm>
            <a:off x="822960" y="3977640"/>
            <a:ext cx="1542227" cy="457200"/>
          </a:xfrm>
          <a:prstGeom prst="rect">
            <a:avLst/>
          </a:prstGeom>
          <a:noFill/>
          <a:ln/>
        </p:spPr>
        <p:txBody>
          <a:bodyPr wrap="square" lIns="0" tIns="0" rIns="0" bIns="0" rtlCol="0" anchor="ctr"/>
          <a:lstStyle/>
          <a:p>
            <a:pPr indent="0" marL="0">
              <a:buNone/>
            </a:pPr>
            <a:r>
              <a:rPr lang="en-US" sz="1800" b="1" dirty="0">
                <a:solidFill>
                  <a:schemeClr val="tx1"/>
                </a:solidFill>
              </a:rPr>
              <a:t>O1  Ingest</a:t>
            </a:r>
            <a:endParaRPr lang="en-US" sz="1800" dirty="0"/>
          </a:p>
        </p:txBody>
      </p:sp>
      <p:sp>
        <p:nvSpPr>
          <p:cNvPr id="9" name="Text 6"/>
          <p:cNvSpPr txBox="1"/>
          <p:nvPr/>
        </p:nvSpPr>
        <p:spPr>
          <a:xfrm>
            <a:off x="822960" y="4480560"/>
            <a:ext cx="1542227" cy="1188720"/>
          </a:xfrm>
          <a:prstGeom prst="rect">
            <a:avLst/>
          </a:prstGeom>
          <a:noFill/>
          <a:ln/>
        </p:spPr>
        <p:txBody>
          <a:bodyPr wrap="square" lIns="0" tIns="0" rIns="0" bIns="0" rtlCol="0" anchor="t"/>
          <a:lstStyle/>
          <a:p>
            <a:pPr indent="0" marL="0">
              <a:buNone/>
            </a:pPr>
            <a:r>
              <a:rPr lang="en-US" sz="1400" dirty="0">
                <a:solidFill>
                  <a:schemeClr val="accent6"/>
                </a:solidFill>
              </a:rPr>
              <a:t>Union and clean all 12 monthly files with Spark</a:t>
            </a:r>
            <a:endParaRPr lang="en-US" sz="1400" dirty="0"/>
          </a:p>
        </p:txBody>
      </p:sp>
      <p:sp>
        <p:nvSpPr>
          <p:cNvPr id="10" name="obj-1"/>
          <p:cNvSpPr/>
          <p:nvPr/>
        </p:nvSpPr>
        <p:spPr>
          <a:xfrm>
            <a:off x="2822387" y="2926080"/>
            <a:ext cx="1999427" cy="2880360"/>
          </a:xfrm>
          <a:prstGeom prst="roundRect">
            <a:avLst>
              <a:gd name="adj" fmla="val 3659"/>
            </a:avLst>
          </a:prstGeom>
          <a:solidFill>
            <a:schemeClr val="bg2"/>
          </a:solidFill>
          <a:ln w="12700">
            <a:solidFill>
              <a:schemeClr val="bg2"/>
            </a:solidFill>
            <a:prstDash val="solid"/>
          </a:ln>
        </p:spPr>
      </p:sp>
      <p:sp>
        <p:nvSpPr>
          <p:cNvPr id="11" name="obj-icon-1-circle"/>
          <p:cNvSpPr/>
          <p:nvPr/>
        </p:nvSpPr>
        <p:spPr>
          <a:xfrm>
            <a:off x="3096707" y="3154680"/>
            <a:ext cx="685800" cy="685800"/>
          </a:xfrm>
          <a:prstGeom prst="ellipse">
            <a:avLst/>
          </a:prstGeom>
          <a:solidFill>
            <a:srgbClr val="EB6834"/>
          </a:solidFill>
          <a:ln w="12700">
            <a:solidFill>
              <a:srgbClr val="EB6834"/>
            </a:solidFill>
            <a:prstDash val="solid"/>
          </a:ln>
        </p:spPr>
      </p:sp>
      <p:pic>
        <p:nvPicPr>
          <p:cNvPr id="12" name="obj-icon-1-icon" descr="preencoded.png">    </p:cNvPr>
          <p:cNvPicPr>
            <a:picLocks noChangeAspect="1"/>
          </p:cNvPicPr>
          <p:nvPr/>
        </p:nvPicPr>
        <p:blipFill>
          <a:blip r:embed="rId2"/>
          <a:stretch>
            <a:fillRect/>
          </a:stretch>
        </p:blipFill>
        <p:spPr>
          <a:xfrm>
            <a:off x="3268157" y="3326130"/>
            <a:ext cx="342900" cy="342900"/>
          </a:xfrm>
          <a:prstGeom prst="rect">
            <a:avLst/>
          </a:prstGeom>
        </p:spPr>
      </p:pic>
      <p:sp>
        <p:nvSpPr>
          <p:cNvPr id="13" name="Text 9"/>
          <p:cNvSpPr txBox="1"/>
          <p:nvPr/>
        </p:nvSpPr>
        <p:spPr>
          <a:xfrm>
            <a:off x="3096707" y="3977640"/>
            <a:ext cx="1542227" cy="457200"/>
          </a:xfrm>
          <a:prstGeom prst="rect">
            <a:avLst/>
          </a:prstGeom>
          <a:noFill/>
          <a:ln/>
        </p:spPr>
        <p:txBody>
          <a:bodyPr wrap="square" lIns="0" tIns="0" rIns="0" bIns="0" rtlCol="0" anchor="ctr"/>
          <a:lstStyle/>
          <a:p>
            <a:pPr indent="0" marL="0">
              <a:buNone/>
            </a:pPr>
            <a:r>
              <a:rPr lang="en-US" sz="1800" b="1" dirty="0">
                <a:solidFill>
                  <a:schemeClr val="tx1"/>
                </a:solidFill>
              </a:rPr>
              <a:t>O2  No leakage</a:t>
            </a:r>
            <a:endParaRPr lang="en-US" sz="1800" dirty="0"/>
          </a:p>
        </p:txBody>
      </p:sp>
      <p:sp>
        <p:nvSpPr>
          <p:cNvPr id="14" name="Text 10"/>
          <p:cNvSpPr txBox="1"/>
          <p:nvPr/>
        </p:nvSpPr>
        <p:spPr>
          <a:xfrm>
            <a:off x="3096707" y="4480560"/>
            <a:ext cx="1542227" cy="1188720"/>
          </a:xfrm>
          <a:prstGeom prst="rect">
            <a:avLst/>
          </a:prstGeom>
          <a:noFill/>
          <a:ln/>
        </p:spPr>
        <p:txBody>
          <a:bodyPr wrap="square" lIns="0" tIns="0" rIns="0" bIns="0" rtlCol="0" anchor="t"/>
          <a:lstStyle/>
          <a:p>
            <a:pPr indent="0" marL="0">
              <a:buNone/>
            </a:pPr>
            <a:r>
              <a:rPr lang="en-US" sz="1400" dirty="0">
                <a:solidFill>
                  <a:schemeClr val="accent6"/>
                </a:solidFill>
              </a:rPr>
              <a:t>Pre-departure features only</a:t>
            </a:r>
            <a:endParaRPr lang="en-US" sz="1400" dirty="0"/>
          </a:p>
        </p:txBody>
      </p:sp>
      <p:sp>
        <p:nvSpPr>
          <p:cNvPr id="15" name="obj-2"/>
          <p:cNvSpPr/>
          <p:nvPr/>
        </p:nvSpPr>
        <p:spPr>
          <a:xfrm>
            <a:off x="5096134" y="2926080"/>
            <a:ext cx="1999427" cy="2880360"/>
          </a:xfrm>
          <a:prstGeom prst="roundRect">
            <a:avLst>
              <a:gd name="adj" fmla="val 3659"/>
            </a:avLst>
          </a:prstGeom>
          <a:solidFill>
            <a:schemeClr val="bg2"/>
          </a:solidFill>
          <a:ln w="12700">
            <a:solidFill>
              <a:schemeClr val="bg2"/>
            </a:solidFill>
            <a:prstDash val="solid"/>
          </a:ln>
        </p:spPr>
      </p:sp>
      <p:sp>
        <p:nvSpPr>
          <p:cNvPr id="16" name="obj-icon-2-circle"/>
          <p:cNvSpPr/>
          <p:nvPr/>
        </p:nvSpPr>
        <p:spPr>
          <a:xfrm>
            <a:off x="5370454" y="3154680"/>
            <a:ext cx="685800" cy="685800"/>
          </a:xfrm>
          <a:prstGeom prst="ellipse">
            <a:avLst/>
          </a:prstGeom>
          <a:solidFill>
            <a:srgbClr val="2A78D6"/>
          </a:solidFill>
          <a:ln w="12700">
            <a:solidFill>
              <a:srgbClr val="2A78D6"/>
            </a:solidFill>
            <a:prstDash val="solid"/>
          </a:ln>
        </p:spPr>
      </p:sp>
      <p:pic>
        <p:nvPicPr>
          <p:cNvPr id="17" name="obj-icon-2-icon" descr="preencoded.png">    </p:cNvPr>
          <p:cNvPicPr>
            <a:picLocks noChangeAspect="1"/>
          </p:cNvPicPr>
          <p:nvPr/>
        </p:nvPicPr>
        <p:blipFill>
          <a:blip r:embed="rId3"/>
          <a:stretch>
            <a:fillRect/>
          </a:stretch>
        </p:blipFill>
        <p:spPr>
          <a:xfrm>
            <a:off x="5541904" y="3326130"/>
            <a:ext cx="342900" cy="342900"/>
          </a:xfrm>
          <a:prstGeom prst="rect">
            <a:avLst/>
          </a:prstGeom>
        </p:spPr>
      </p:pic>
      <p:sp>
        <p:nvSpPr>
          <p:cNvPr id="18" name="Text 13"/>
          <p:cNvSpPr txBox="1"/>
          <p:nvPr/>
        </p:nvSpPr>
        <p:spPr>
          <a:xfrm>
            <a:off x="5370454" y="3977640"/>
            <a:ext cx="1542227" cy="457200"/>
          </a:xfrm>
          <a:prstGeom prst="rect">
            <a:avLst/>
          </a:prstGeom>
          <a:noFill/>
          <a:ln/>
        </p:spPr>
        <p:txBody>
          <a:bodyPr wrap="square" lIns="0" tIns="0" rIns="0" bIns="0" rtlCol="0" anchor="ctr"/>
          <a:lstStyle/>
          <a:p>
            <a:pPr indent="0" marL="0">
              <a:buNone/>
            </a:pPr>
            <a:r>
              <a:rPr lang="en-US" sz="1800" b="1" dirty="0">
                <a:solidFill>
                  <a:schemeClr val="tx1"/>
                </a:solidFill>
              </a:rPr>
              <a:t>O3  Model</a:t>
            </a:r>
            <a:endParaRPr lang="en-US" sz="1800" dirty="0"/>
          </a:p>
        </p:txBody>
      </p:sp>
      <p:sp>
        <p:nvSpPr>
          <p:cNvPr id="19" name="Text 14"/>
          <p:cNvSpPr txBox="1"/>
          <p:nvPr/>
        </p:nvSpPr>
        <p:spPr>
          <a:xfrm>
            <a:off x="5370454" y="4480560"/>
            <a:ext cx="1542227" cy="1188720"/>
          </a:xfrm>
          <a:prstGeom prst="rect">
            <a:avLst/>
          </a:prstGeom>
          <a:noFill/>
          <a:ln/>
        </p:spPr>
        <p:txBody>
          <a:bodyPr wrap="square" lIns="0" tIns="0" rIns="0" bIns="0" rtlCol="0" anchor="t"/>
          <a:lstStyle/>
          <a:p>
            <a:pPr indent="0" marL="0">
              <a:buNone/>
            </a:pPr>
            <a:r>
              <a:rPr lang="en-US" sz="1400" dirty="0">
                <a:solidFill>
                  <a:schemeClr val="accent6"/>
                </a:solidFill>
              </a:rPr>
              <a:t>LR, Random Forest and GBT in Spark MLlib</a:t>
            </a:r>
            <a:endParaRPr lang="en-US" sz="1400" dirty="0"/>
          </a:p>
        </p:txBody>
      </p:sp>
      <p:sp>
        <p:nvSpPr>
          <p:cNvPr id="20" name="obj-3"/>
          <p:cNvSpPr/>
          <p:nvPr/>
        </p:nvSpPr>
        <p:spPr>
          <a:xfrm>
            <a:off x="7369881" y="2926080"/>
            <a:ext cx="1999427" cy="2880360"/>
          </a:xfrm>
          <a:prstGeom prst="roundRect">
            <a:avLst>
              <a:gd name="adj" fmla="val 3659"/>
            </a:avLst>
          </a:prstGeom>
          <a:solidFill>
            <a:schemeClr val="bg2"/>
          </a:solidFill>
          <a:ln w="12700">
            <a:solidFill>
              <a:schemeClr val="bg2"/>
            </a:solidFill>
            <a:prstDash val="solid"/>
          </a:ln>
        </p:spPr>
      </p:sp>
      <p:sp>
        <p:nvSpPr>
          <p:cNvPr id="21" name="obj-icon-3-circle"/>
          <p:cNvSpPr/>
          <p:nvPr/>
        </p:nvSpPr>
        <p:spPr>
          <a:xfrm>
            <a:off x="7644201" y="3154680"/>
            <a:ext cx="685800" cy="685800"/>
          </a:xfrm>
          <a:prstGeom prst="ellipse">
            <a:avLst/>
          </a:prstGeom>
          <a:solidFill>
            <a:srgbClr val="2A78D6"/>
          </a:solidFill>
          <a:ln w="12700">
            <a:solidFill>
              <a:srgbClr val="2A78D6"/>
            </a:solidFill>
            <a:prstDash val="solid"/>
          </a:ln>
        </p:spPr>
      </p:sp>
      <p:pic>
        <p:nvPicPr>
          <p:cNvPr id="22" name="obj-icon-3-icon" descr="preencoded.png">    </p:cNvPr>
          <p:cNvPicPr>
            <a:picLocks noChangeAspect="1"/>
          </p:cNvPicPr>
          <p:nvPr/>
        </p:nvPicPr>
        <p:blipFill>
          <a:blip r:embed="rId4"/>
          <a:stretch>
            <a:fillRect/>
          </a:stretch>
        </p:blipFill>
        <p:spPr>
          <a:xfrm>
            <a:off x="7815651" y="3326130"/>
            <a:ext cx="342900" cy="342900"/>
          </a:xfrm>
          <a:prstGeom prst="rect">
            <a:avLst/>
          </a:prstGeom>
        </p:spPr>
      </p:pic>
      <p:sp>
        <p:nvSpPr>
          <p:cNvPr id="23" name="Text 17"/>
          <p:cNvSpPr txBox="1"/>
          <p:nvPr/>
        </p:nvSpPr>
        <p:spPr>
          <a:xfrm>
            <a:off x="7644201" y="3977640"/>
            <a:ext cx="1542227" cy="457200"/>
          </a:xfrm>
          <a:prstGeom prst="rect">
            <a:avLst/>
          </a:prstGeom>
          <a:noFill/>
          <a:ln/>
        </p:spPr>
        <p:txBody>
          <a:bodyPr wrap="square" lIns="0" tIns="0" rIns="0" bIns="0" rtlCol="0" anchor="ctr"/>
          <a:lstStyle/>
          <a:p>
            <a:pPr indent="0" marL="0">
              <a:buNone/>
            </a:pPr>
            <a:r>
              <a:rPr lang="en-US" sz="1800" b="1" dirty="0">
                <a:solidFill>
                  <a:schemeClr val="tx1"/>
                </a:solidFill>
              </a:rPr>
              <a:t>O4  Evaluate</a:t>
            </a:r>
            <a:endParaRPr lang="en-US" sz="1800" dirty="0"/>
          </a:p>
        </p:txBody>
      </p:sp>
      <p:sp>
        <p:nvSpPr>
          <p:cNvPr id="24" name="Text 18"/>
          <p:cNvSpPr txBox="1"/>
          <p:nvPr/>
        </p:nvSpPr>
        <p:spPr>
          <a:xfrm>
            <a:off x="7644201" y="4480560"/>
            <a:ext cx="1542227" cy="1188720"/>
          </a:xfrm>
          <a:prstGeom prst="rect">
            <a:avLst/>
          </a:prstGeom>
          <a:noFill/>
          <a:ln/>
        </p:spPr>
        <p:txBody>
          <a:bodyPr wrap="square" lIns="0" tIns="0" rIns="0" bIns="0" rtlCol="0" anchor="t"/>
          <a:lstStyle/>
          <a:p>
            <a:pPr indent="0" marL="0">
              <a:buNone/>
            </a:pPr>
            <a:r>
              <a:rPr lang="en-US" sz="1400" dirty="0">
                <a:solidFill>
                  <a:schemeClr val="accent6"/>
                </a:solidFill>
              </a:rPr>
              <a:t>Imbalance-aware metrics + training time</a:t>
            </a:r>
            <a:endParaRPr lang="en-US" sz="1400" dirty="0"/>
          </a:p>
        </p:txBody>
      </p:sp>
      <p:sp>
        <p:nvSpPr>
          <p:cNvPr id="25" name="obj-4"/>
          <p:cNvSpPr/>
          <p:nvPr/>
        </p:nvSpPr>
        <p:spPr>
          <a:xfrm>
            <a:off x="9643628" y="2926080"/>
            <a:ext cx="1999427" cy="2880360"/>
          </a:xfrm>
          <a:prstGeom prst="roundRect">
            <a:avLst>
              <a:gd name="adj" fmla="val 3659"/>
            </a:avLst>
          </a:prstGeom>
          <a:solidFill>
            <a:schemeClr val="bg2"/>
          </a:solidFill>
          <a:ln w="12700">
            <a:solidFill>
              <a:schemeClr val="bg2"/>
            </a:solidFill>
            <a:prstDash val="solid"/>
          </a:ln>
        </p:spPr>
      </p:sp>
      <p:sp>
        <p:nvSpPr>
          <p:cNvPr id="26" name="obj-icon-4-circle"/>
          <p:cNvSpPr/>
          <p:nvPr/>
        </p:nvSpPr>
        <p:spPr>
          <a:xfrm>
            <a:off x="9917948" y="3154680"/>
            <a:ext cx="685800" cy="685800"/>
          </a:xfrm>
          <a:prstGeom prst="ellipse">
            <a:avLst/>
          </a:prstGeom>
          <a:solidFill>
            <a:srgbClr val="2A78D6"/>
          </a:solidFill>
          <a:ln w="12700">
            <a:solidFill>
              <a:srgbClr val="2A78D6"/>
            </a:solidFill>
            <a:prstDash val="solid"/>
          </a:ln>
        </p:spPr>
      </p:sp>
      <p:pic>
        <p:nvPicPr>
          <p:cNvPr id="27" name="obj-icon-4-icon" descr="preencoded.png">    </p:cNvPr>
          <p:cNvPicPr>
            <a:picLocks noChangeAspect="1"/>
          </p:cNvPicPr>
          <p:nvPr/>
        </p:nvPicPr>
        <p:blipFill>
          <a:blip r:embed="rId5"/>
          <a:stretch>
            <a:fillRect/>
          </a:stretch>
        </p:blipFill>
        <p:spPr>
          <a:xfrm>
            <a:off x="10089398" y="3326130"/>
            <a:ext cx="342900" cy="342900"/>
          </a:xfrm>
          <a:prstGeom prst="rect">
            <a:avLst/>
          </a:prstGeom>
        </p:spPr>
      </p:pic>
      <p:sp>
        <p:nvSpPr>
          <p:cNvPr id="28" name="Text 21"/>
          <p:cNvSpPr txBox="1"/>
          <p:nvPr/>
        </p:nvSpPr>
        <p:spPr>
          <a:xfrm>
            <a:off x="9917948" y="3977640"/>
            <a:ext cx="1542227" cy="457200"/>
          </a:xfrm>
          <a:prstGeom prst="rect">
            <a:avLst/>
          </a:prstGeom>
          <a:noFill/>
          <a:ln/>
        </p:spPr>
        <p:txBody>
          <a:bodyPr wrap="square" lIns="0" tIns="0" rIns="0" bIns="0" rtlCol="0" anchor="ctr"/>
          <a:lstStyle/>
          <a:p>
            <a:pPr indent="0" marL="0">
              <a:buNone/>
            </a:pPr>
            <a:r>
              <a:rPr lang="en-US" sz="1800" b="1" dirty="0">
                <a:solidFill>
                  <a:schemeClr val="tx1"/>
                </a:solidFill>
              </a:rPr>
              <a:t>O5  Scale</a:t>
            </a:r>
            <a:endParaRPr lang="en-US" sz="1800" dirty="0"/>
          </a:p>
        </p:txBody>
      </p:sp>
      <p:sp>
        <p:nvSpPr>
          <p:cNvPr id="29" name="Text 22"/>
          <p:cNvSpPr txBox="1"/>
          <p:nvPr/>
        </p:nvSpPr>
        <p:spPr>
          <a:xfrm>
            <a:off x="9917948" y="4480560"/>
            <a:ext cx="1542227" cy="1188720"/>
          </a:xfrm>
          <a:prstGeom prst="rect">
            <a:avLst/>
          </a:prstGeom>
          <a:noFill/>
          <a:ln/>
        </p:spPr>
        <p:txBody>
          <a:bodyPr wrap="square" lIns="0" tIns="0" rIns="0" bIns="0" rtlCol="0" anchor="t"/>
          <a:lstStyle/>
          <a:p>
            <a:pPr indent="0" marL="0">
              <a:buNone/>
            </a:pPr>
            <a:r>
              <a:rPr lang="en-US" sz="1400" dirty="0">
                <a:solidFill>
                  <a:schemeClr val="accent6"/>
                </a:solidFill>
              </a:rPr>
              <a:t>Show how it scales out to more cores</a:t>
            </a:r>
            <a:endParaRPr lang="en-US" sz="14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Dataset: BTS Reporting Carrier On-Time Performance, 2025</a:t>
            </a:r>
            <a:endParaRPr lang="en-US" sz="3200" dirty="0"/>
          </a:p>
        </p:txBody>
      </p:sp>
      <p:sp>
        <p:nvSpPr>
          <p:cNvPr id="3" name="ds-0"/>
          <p:cNvSpPr/>
          <p:nvPr/>
        </p:nvSpPr>
        <p:spPr>
          <a:xfrm>
            <a:off x="548640" y="1371600"/>
            <a:ext cx="2514600" cy="1645920"/>
          </a:xfrm>
          <a:prstGeom prst="roundRect">
            <a:avLst>
              <a:gd name="adj" fmla="val 4444"/>
            </a:avLst>
          </a:prstGeom>
          <a:solidFill>
            <a:schemeClr val="bg2"/>
          </a:solidFill>
          <a:ln w="12700">
            <a:solidFill>
              <a:schemeClr val="bg2"/>
            </a:solidFill>
            <a:prstDash val="solid"/>
          </a:ln>
        </p:spPr>
      </p:sp>
      <p:sp>
        <p:nvSpPr>
          <p:cNvPr id="4" name="Text 2"/>
          <p:cNvSpPr txBox="1"/>
          <p:nvPr/>
        </p:nvSpPr>
        <p:spPr>
          <a:xfrm>
            <a:off x="777240" y="1554480"/>
            <a:ext cx="2103120" cy="685800"/>
          </a:xfrm>
          <a:prstGeom prst="rect">
            <a:avLst/>
          </a:prstGeom>
          <a:noFill/>
          <a:ln/>
        </p:spPr>
        <p:txBody>
          <a:bodyPr wrap="square" lIns="0" tIns="0" rIns="0" bIns="0" rtlCol="0" anchor="t">
            <a:normAutofit/>
          </a:bodyPr>
          <a:lstStyle/>
          <a:p>
            <a:pPr indent="0" marL="0">
              <a:buNone/>
            </a:pPr>
            <a:r>
              <a:rPr lang="en-US" sz="3000" b="1" dirty="0">
                <a:solidFill>
                  <a:schemeClr val="accent1"/>
                </a:solidFill>
              </a:rPr>
              <a:t>12</a:t>
            </a:r>
            <a:endParaRPr lang="en-US" sz="3000" dirty="0"/>
          </a:p>
        </p:txBody>
      </p:sp>
      <p:sp>
        <p:nvSpPr>
          <p:cNvPr id="5" name="Text 3"/>
          <p:cNvSpPr txBox="1"/>
          <p:nvPr/>
        </p:nvSpPr>
        <p:spPr>
          <a:xfrm>
            <a:off x="777240" y="2240280"/>
            <a:ext cx="2103120" cy="685800"/>
          </a:xfrm>
          <a:prstGeom prst="rect">
            <a:avLst/>
          </a:prstGeom>
          <a:noFill/>
          <a:ln/>
        </p:spPr>
        <p:txBody>
          <a:bodyPr wrap="square" lIns="0" tIns="0" rIns="0" bIns="0" rtlCol="0" anchor="ctr"/>
          <a:lstStyle/>
          <a:p>
            <a:pPr indent="0" marL="0">
              <a:buNone/>
            </a:pPr>
            <a:r>
              <a:rPr lang="en-US" sz="1300" dirty="0">
                <a:solidFill>
                  <a:schemeClr val="accent6"/>
                </a:solidFill>
              </a:rPr>
              <a:t>monthly CSV files</a:t>
            </a:r>
            <a:endParaRPr lang="en-US" sz="1300" dirty="0"/>
          </a:p>
          <a:p>
            <a:pPr indent="0" marL="0">
              <a:buNone/>
            </a:pPr>
            <a:r>
              <a:rPr lang="en-US" sz="1300" dirty="0">
                <a:solidFill>
                  <a:schemeClr val="accent6"/>
                </a:solidFill>
              </a:rPr>
              <a:t>(Jan-Dec 2025)</a:t>
            </a:r>
            <a:endParaRPr lang="en-US" sz="1300" dirty="0"/>
          </a:p>
        </p:txBody>
      </p:sp>
      <p:sp>
        <p:nvSpPr>
          <p:cNvPr id="6" name="ds-1"/>
          <p:cNvSpPr/>
          <p:nvPr/>
        </p:nvSpPr>
        <p:spPr>
          <a:xfrm>
            <a:off x="3246120" y="1371600"/>
            <a:ext cx="2514600" cy="1645920"/>
          </a:xfrm>
          <a:prstGeom prst="roundRect">
            <a:avLst>
              <a:gd name="adj" fmla="val 4444"/>
            </a:avLst>
          </a:prstGeom>
          <a:solidFill>
            <a:schemeClr val="bg2"/>
          </a:solidFill>
          <a:ln w="12700">
            <a:solidFill>
              <a:schemeClr val="bg2"/>
            </a:solidFill>
            <a:prstDash val="solid"/>
          </a:ln>
        </p:spPr>
      </p:sp>
      <p:sp>
        <p:nvSpPr>
          <p:cNvPr id="7" name="Text 5"/>
          <p:cNvSpPr txBox="1"/>
          <p:nvPr/>
        </p:nvSpPr>
        <p:spPr>
          <a:xfrm>
            <a:off x="3474720" y="1554480"/>
            <a:ext cx="2103120" cy="685800"/>
          </a:xfrm>
          <a:prstGeom prst="rect">
            <a:avLst/>
          </a:prstGeom>
          <a:noFill/>
          <a:ln/>
        </p:spPr>
        <p:txBody>
          <a:bodyPr wrap="square" lIns="0" tIns="0" rIns="0" bIns="0" rtlCol="0" anchor="t">
            <a:normAutofit/>
          </a:bodyPr>
          <a:lstStyle/>
          <a:p>
            <a:pPr indent="0" marL="0">
              <a:buNone/>
            </a:pPr>
            <a:r>
              <a:rPr lang="en-US" sz="3000" b="1" dirty="0">
                <a:solidFill>
                  <a:schemeClr val="accent1"/>
                </a:solidFill>
              </a:rPr>
              <a:t>~3 GB</a:t>
            </a:r>
            <a:endParaRPr lang="en-US" sz="3000" dirty="0"/>
          </a:p>
        </p:txBody>
      </p:sp>
      <p:sp>
        <p:nvSpPr>
          <p:cNvPr id="8" name="Text 6"/>
          <p:cNvSpPr txBox="1"/>
          <p:nvPr/>
        </p:nvSpPr>
        <p:spPr>
          <a:xfrm>
            <a:off x="3474720" y="2240280"/>
            <a:ext cx="2103120" cy="685800"/>
          </a:xfrm>
          <a:prstGeom prst="rect">
            <a:avLst/>
          </a:prstGeom>
          <a:noFill/>
          <a:ln/>
        </p:spPr>
        <p:txBody>
          <a:bodyPr wrap="square" lIns="0" tIns="0" rIns="0" bIns="0" rtlCol="0" anchor="ctr"/>
          <a:lstStyle/>
          <a:p>
            <a:pPr indent="0" marL="0">
              <a:buNone/>
            </a:pPr>
            <a:r>
              <a:rPr lang="en-US" sz="1300" dirty="0">
                <a:solidFill>
                  <a:schemeClr val="accent6"/>
                </a:solidFill>
              </a:rPr>
              <a:t>raw CSV in</a:t>
            </a:r>
            <a:endParaRPr lang="en-US" sz="1300" dirty="0"/>
          </a:p>
          <a:p>
            <a:pPr indent="0" marL="0">
              <a:buNone/>
            </a:pPr>
            <a:r>
              <a:rPr lang="en-US" sz="1300" dirty="0">
                <a:solidFill>
                  <a:schemeClr val="accent6"/>
                </a:solidFill>
              </a:rPr>
              <a:t>Google Drive</a:t>
            </a:r>
            <a:endParaRPr lang="en-US" sz="1300" dirty="0"/>
          </a:p>
        </p:txBody>
      </p:sp>
      <p:sp>
        <p:nvSpPr>
          <p:cNvPr id="9" name="ds-2"/>
          <p:cNvSpPr/>
          <p:nvPr/>
        </p:nvSpPr>
        <p:spPr>
          <a:xfrm>
            <a:off x="548640" y="3200400"/>
            <a:ext cx="2514600" cy="1645920"/>
          </a:xfrm>
          <a:prstGeom prst="roundRect">
            <a:avLst>
              <a:gd name="adj" fmla="val 4444"/>
            </a:avLst>
          </a:prstGeom>
          <a:solidFill>
            <a:schemeClr val="bg2"/>
          </a:solidFill>
          <a:ln w="12700">
            <a:solidFill>
              <a:schemeClr val="bg2"/>
            </a:solidFill>
            <a:prstDash val="solid"/>
          </a:ln>
        </p:spPr>
      </p:sp>
      <p:sp>
        <p:nvSpPr>
          <p:cNvPr id="10" name="Text 8"/>
          <p:cNvSpPr txBox="1"/>
          <p:nvPr/>
        </p:nvSpPr>
        <p:spPr>
          <a:xfrm>
            <a:off x="777240" y="3383280"/>
            <a:ext cx="2103120" cy="685800"/>
          </a:xfrm>
          <a:prstGeom prst="rect">
            <a:avLst/>
          </a:prstGeom>
          <a:noFill/>
          <a:ln/>
        </p:spPr>
        <p:txBody>
          <a:bodyPr wrap="square" lIns="0" tIns="0" rIns="0" bIns="0" rtlCol="0" anchor="t">
            <a:normAutofit/>
          </a:bodyPr>
          <a:lstStyle/>
          <a:p>
            <a:pPr indent="0" marL="0">
              <a:buNone/>
            </a:pPr>
            <a:r>
              <a:rPr lang="en-US" sz="3000" b="1" dirty="0">
                <a:solidFill>
                  <a:schemeClr val="accent1"/>
                </a:solidFill>
              </a:rPr>
              <a:t>7,001,619</a:t>
            </a:r>
            <a:endParaRPr lang="en-US" sz="3000" dirty="0"/>
          </a:p>
        </p:txBody>
      </p:sp>
      <p:sp>
        <p:nvSpPr>
          <p:cNvPr id="11" name="Text 9"/>
          <p:cNvSpPr txBox="1"/>
          <p:nvPr/>
        </p:nvSpPr>
        <p:spPr>
          <a:xfrm>
            <a:off x="777240" y="4069080"/>
            <a:ext cx="2103120" cy="685800"/>
          </a:xfrm>
          <a:prstGeom prst="rect">
            <a:avLst/>
          </a:prstGeom>
          <a:noFill/>
          <a:ln/>
        </p:spPr>
        <p:txBody>
          <a:bodyPr wrap="square" lIns="0" tIns="0" rIns="0" bIns="0" rtlCol="0" anchor="ctr"/>
          <a:lstStyle/>
          <a:p>
            <a:pPr indent="0" marL="0">
              <a:buNone/>
            </a:pPr>
            <a:r>
              <a:rPr lang="en-US" sz="1300" dirty="0">
                <a:solidFill>
                  <a:schemeClr val="accent6"/>
                </a:solidFill>
              </a:rPr>
              <a:t>flights before cleaning</a:t>
            </a:r>
            <a:endParaRPr lang="en-US" sz="1300" dirty="0"/>
          </a:p>
        </p:txBody>
      </p:sp>
      <p:sp>
        <p:nvSpPr>
          <p:cNvPr id="12" name="ds-3"/>
          <p:cNvSpPr/>
          <p:nvPr/>
        </p:nvSpPr>
        <p:spPr>
          <a:xfrm>
            <a:off x="3246120" y="3200400"/>
            <a:ext cx="2514600" cy="1645920"/>
          </a:xfrm>
          <a:prstGeom prst="roundRect">
            <a:avLst>
              <a:gd name="adj" fmla="val 4444"/>
            </a:avLst>
          </a:prstGeom>
          <a:solidFill>
            <a:schemeClr val="bg2"/>
          </a:solidFill>
          <a:ln w="12700">
            <a:solidFill>
              <a:schemeClr val="bg2"/>
            </a:solidFill>
            <a:prstDash val="solid"/>
          </a:ln>
        </p:spPr>
      </p:sp>
      <p:sp>
        <p:nvSpPr>
          <p:cNvPr id="13" name="Text 11"/>
          <p:cNvSpPr txBox="1"/>
          <p:nvPr/>
        </p:nvSpPr>
        <p:spPr>
          <a:xfrm>
            <a:off x="3474720" y="3383280"/>
            <a:ext cx="2103120" cy="685800"/>
          </a:xfrm>
          <a:prstGeom prst="rect">
            <a:avLst/>
          </a:prstGeom>
          <a:noFill/>
          <a:ln/>
        </p:spPr>
        <p:txBody>
          <a:bodyPr wrap="square" lIns="0" tIns="0" rIns="0" bIns="0" rtlCol="0" anchor="t">
            <a:normAutofit/>
          </a:bodyPr>
          <a:lstStyle/>
          <a:p>
            <a:pPr indent="0" marL="0">
              <a:buNone/>
            </a:pPr>
            <a:r>
              <a:rPr lang="en-US" sz="3000" b="1" dirty="0">
                <a:solidFill>
                  <a:schemeClr val="accent1"/>
                </a:solidFill>
              </a:rPr>
              <a:t>17 / ~110</a:t>
            </a:r>
            <a:endParaRPr lang="en-US" sz="3000" dirty="0"/>
          </a:p>
        </p:txBody>
      </p:sp>
      <p:sp>
        <p:nvSpPr>
          <p:cNvPr id="14" name="Text 12"/>
          <p:cNvSpPr txBox="1"/>
          <p:nvPr/>
        </p:nvSpPr>
        <p:spPr>
          <a:xfrm>
            <a:off x="3474720" y="4069080"/>
            <a:ext cx="2103120" cy="685800"/>
          </a:xfrm>
          <a:prstGeom prst="rect">
            <a:avLst/>
          </a:prstGeom>
          <a:noFill/>
          <a:ln/>
        </p:spPr>
        <p:txBody>
          <a:bodyPr wrap="square" lIns="0" tIns="0" rIns="0" bIns="0" rtlCol="0" anchor="ctr"/>
          <a:lstStyle/>
          <a:p>
            <a:pPr indent="0" marL="0">
              <a:buNone/>
            </a:pPr>
            <a:r>
              <a:rPr lang="en-US" sz="1300" dirty="0">
                <a:solidFill>
                  <a:schemeClr val="accent6"/>
                </a:solidFill>
              </a:rPr>
              <a:t>columns kept by the</a:t>
            </a:r>
            <a:endParaRPr lang="en-US" sz="1300" dirty="0"/>
          </a:p>
          <a:p>
            <a:pPr indent="0" marL="0">
              <a:buNone/>
            </a:pPr>
            <a:r>
              <a:rPr lang="en-US" sz="1300" dirty="0">
                <a:solidFill>
                  <a:schemeClr val="accent6"/>
                </a:solidFill>
              </a:rPr>
              <a:t>allow-list</a:t>
            </a:r>
            <a:endParaRPr lang="en-US" sz="1300" dirty="0"/>
          </a:p>
        </p:txBody>
      </p:sp>
      <p:sp>
        <p:nvSpPr>
          <p:cNvPr id="15" name="Text 13"/>
          <p:cNvSpPr txBox="1"/>
          <p:nvPr/>
        </p:nvSpPr>
        <p:spPr>
          <a:xfrm>
            <a:off x="548640" y="5166360"/>
            <a:ext cx="5212080" cy="731520"/>
          </a:xfrm>
          <a:prstGeom prst="rect">
            <a:avLst/>
          </a:prstGeom>
          <a:noFill/>
          <a:ln/>
        </p:spPr>
        <p:txBody>
          <a:bodyPr wrap="square" lIns="0" tIns="0" rIns="0" bIns="0" rtlCol="0" anchor="t"/>
          <a:lstStyle/>
          <a:p>
            <a:pPr indent="0" marL="0">
              <a:buNone/>
            </a:pPr>
            <a:r>
              <a:rPr lang="en-US" sz="1400" dirty="0">
                <a:solidFill>
                  <a:schemeClr val="tx1"/>
                </a:solidFill>
              </a:rPr>
              <a:t>Target: DELAYED = 1 if ARR_DELAY ≥ 15 min.  Delayed share after cleaning: </a:t>
            </a:r>
            <a:pPr indent="0" marL="0">
              <a:buNone/>
            </a:pPr>
            <a:r>
              <a:rPr lang="en-US" sz="1400" dirty="0">
                <a:solidFill>
                  <a:schemeClr val="tx1"/>
                </a:solidFill>
              </a:rPr>
              <a:t>22.31%</a:t>
            </a:r>
            <a:endParaRPr lang="en-US" sz="1400" dirty="0"/>
          </a:p>
        </p:txBody>
      </p:sp>
      <p:pic>
        <p:nvPicPr>
          <p:cNvPr id="16" name="fig-hourly" descr="preencoded.png">    </p:cNvPr>
          <p:cNvPicPr>
            <a:picLocks noChangeAspect="1"/>
          </p:cNvPicPr>
          <p:nvPr/>
        </p:nvPicPr>
        <p:blipFill>
          <a:blip r:embed="rId1"/>
          <a:stretch>
            <a:fillRect/>
          </a:stretch>
        </p:blipFill>
        <p:spPr>
          <a:xfrm>
            <a:off x="6172200" y="1830479"/>
            <a:ext cx="5486400" cy="3471362"/>
          </a:xfrm>
          <a:prstGeom prst="rect">
            <a:avLst/>
          </a:prstGeom>
        </p:spPr>
      </p:pic>
      <p:sp>
        <p:nvSpPr>
          <p:cNvPr id="17" name="Text 14"/>
          <p:cNvSpPr txBox="1"/>
          <p:nvPr/>
        </p:nvSpPr>
        <p:spPr>
          <a:xfrm>
            <a:off x="548640" y="6144768"/>
            <a:ext cx="11094415" cy="274320"/>
          </a:xfrm>
          <a:prstGeom prst="rect">
            <a:avLst/>
          </a:prstGeom>
          <a:noFill/>
          <a:ln/>
        </p:spPr>
        <p:txBody>
          <a:bodyPr wrap="square" lIns="0" tIns="0" rIns="0" bIns="0" rtlCol="0" anchor="ctr"/>
          <a:lstStyle/>
          <a:p>
            <a:pPr indent="0" marL="0">
              <a:buNone/>
            </a:pPr>
            <a:r>
              <a:rPr lang="en-US" sz="1000" i="1" dirty="0">
                <a:solidFill>
                  <a:schemeClr val="accent6"/>
                </a:solidFill>
              </a:rPr>
              <a:t>Source: Bureau of Transportation Statistics (2026), Reporting Carrier On-Time Performance.</a:t>
            </a:r>
            <a:endParaRPr lang="en-US" sz="10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End-to-end Spark pipeline</a:t>
            </a:r>
            <a:endParaRPr lang="en-US" sz="3200" dirty="0"/>
          </a:p>
        </p:txBody>
      </p:sp>
      <p:pic>
        <p:nvPicPr>
          <p:cNvPr id="3" name="pipeline-diagram" descr="/home/user/clone-21092024/bdmla-flight-delay/assets/architecture_pipeline.png">    </p:cNvPr>
          <p:cNvPicPr>
            <a:picLocks noChangeAspect="1"/>
          </p:cNvPicPr>
          <p:nvPr/>
        </p:nvPicPr>
        <p:blipFill>
          <a:blip r:embed="rId1"/>
          <a:stretch>
            <a:fillRect/>
          </a:stretch>
        </p:blipFill>
        <p:spPr>
          <a:xfrm>
            <a:off x="548640" y="1280160"/>
            <a:ext cx="11064240" cy="4425696"/>
          </a:xfrm>
          <a:prstGeom prst="rect">
            <a:avLst/>
          </a:prstGeom>
        </p:spPr>
      </p:pic>
      <p:sp>
        <p:nvSpPr>
          <p:cNvPr id="4" name="Text 1"/>
          <p:cNvSpPr txBox="1"/>
          <p:nvPr/>
        </p:nvSpPr>
        <p:spPr>
          <a:xfrm>
            <a:off x="548640" y="5852160"/>
            <a:ext cx="11064240" cy="365760"/>
          </a:xfrm>
          <a:prstGeom prst="rect">
            <a:avLst/>
          </a:prstGeom>
          <a:noFill/>
          <a:ln/>
        </p:spPr>
        <p:txBody>
          <a:bodyPr wrap="square" lIns="0" tIns="0" rIns="0" bIns="0" rtlCol="0" anchor="ctr"/>
          <a:lstStyle/>
          <a:p>
            <a:pPr indent="0" marL="0">
              <a:buNone/>
            </a:pPr>
            <a:r>
              <a:rPr lang="en-US" sz="1400" dirty="0">
                <a:solidFill>
                  <a:schemeClr val="accent6"/>
                </a:solidFill>
              </a:rPr>
              <a:t>Google Colab · PySpark 4.0.4 · Spark SQL / DataFrames for processing · Spark MLlib for modelling</a:t>
            </a:r>
            <a:endParaRPr lang="en-US" sz="14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Making a full year work on a free Colab machine</a:t>
            </a:r>
            <a:endParaRPr lang="en-US" sz="3200" dirty="0"/>
          </a:p>
        </p:txBody>
      </p:sp>
      <p:pic>
        <p:nvPicPr>
          <p:cNvPr id="3" name="spark-diagram" descr="/home/user/clone-21092024/bdmla-flight-delay/assets/spark_architecture.png">    </p:cNvPr>
          <p:cNvPicPr>
            <a:picLocks noChangeAspect="1"/>
          </p:cNvPicPr>
          <p:nvPr/>
        </p:nvPicPr>
        <p:blipFill>
          <a:blip r:embed="rId1"/>
          <a:stretch>
            <a:fillRect/>
          </a:stretch>
        </p:blipFill>
        <p:spPr>
          <a:xfrm>
            <a:off x="548640" y="1371600"/>
            <a:ext cx="5852160" cy="2457907"/>
          </a:xfrm>
          <a:prstGeom prst="rect">
            <a:avLst/>
          </a:prstGeom>
        </p:spPr>
      </p:pic>
      <p:sp>
        <p:nvSpPr>
          <p:cNvPr id="4" name="parquet-stat"/>
          <p:cNvSpPr/>
          <p:nvPr/>
        </p:nvSpPr>
        <p:spPr>
          <a:xfrm>
            <a:off x="548640" y="4069080"/>
            <a:ext cx="2834640" cy="1783080"/>
          </a:xfrm>
          <a:prstGeom prst="roundRect">
            <a:avLst>
              <a:gd name="adj" fmla="val 4103"/>
            </a:avLst>
          </a:prstGeom>
          <a:solidFill>
            <a:schemeClr val="bg2"/>
          </a:solidFill>
          <a:ln w="12700">
            <a:solidFill>
              <a:schemeClr val="bg2"/>
            </a:solidFill>
            <a:prstDash val="solid"/>
          </a:ln>
        </p:spPr>
      </p:sp>
      <p:sp>
        <p:nvSpPr>
          <p:cNvPr id="5" name="Text 2"/>
          <p:cNvSpPr txBox="1"/>
          <p:nvPr/>
        </p:nvSpPr>
        <p:spPr>
          <a:xfrm>
            <a:off x="777240" y="4206240"/>
            <a:ext cx="2377440" cy="777240"/>
          </a:xfrm>
          <a:prstGeom prst="rect">
            <a:avLst/>
          </a:prstGeom>
          <a:noFill/>
          <a:ln/>
        </p:spPr>
        <p:txBody>
          <a:bodyPr wrap="square" lIns="0" tIns="0" rIns="0" bIns="0" rtlCol="0" anchor="t">
            <a:normAutofit/>
          </a:bodyPr>
          <a:lstStyle/>
          <a:p>
            <a:pPr indent="0" marL="0">
              <a:buNone/>
            </a:pPr>
            <a:r>
              <a:rPr lang="en-US" sz="3600" b="1" dirty="0">
                <a:solidFill>
                  <a:schemeClr val="accent3"/>
                </a:solidFill>
              </a:rPr>
              <a:t>25.1x</a:t>
            </a:r>
            <a:endParaRPr lang="en-US" sz="3600" dirty="0"/>
          </a:p>
        </p:txBody>
      </p:sp>
      <p:sp>
        <p:nvSpPr>
          <p:cNvPr id="6" name="Text 3"/>
          <p:cNvSpPr txBox="1"/>
          <p:nvPr/>
        </p:nvSpPr>
        <p:spPr>
          <a:xfrm>
            <a:off x="777240" y="4983480"/>
            <a:ext cx="2377440" cy="731520"/>
          </a:xfrm>
          <a:prstGeom prst="rect">
            <a:avLst/>
          </a:prstGeom>
          <a:noFill/>
          <a:ln/>
        </p:spPr>
        <p:txBody>
          <a:bodyPr wrap="square" lIns="0" tIns="0" rIns="0" bIns="0" rtlCol="0" anchor="ctr"/>
          <a:lstStyle/>
          <a:p>
            <a:pPr indent="0" marL="0">
              <a:buNone/>
            </a:pPr>
            <a:r>
              <a:rPr lang="en-US" sz="1300" dirty="0">
                <a:solidFill>
                  <a:schemeClr val="accent6"/>
                </a:solidFill>
              </a:rPr>
              <a:t>faster scan on Parquet than on the raw CSVs</a:t>
            </a:r>
            <a:endParaRPr lang="en-US" sz="1300" dirty="0"/>
          </a:p>
        </p:txBody>
      </p:sp>
      <p:sp>
        <p:nvSpPr>
          <p:cNvPr id="7" name="scale-stat"/>
          <p:cNvSpPr/>
          <p:nvPr/>
        </p:nvSpPr>
        <p:spPr>
          <a:xfrm>
            <a:off x="3566160" y="4069080"/>
            <a:ext cx="2834640" cy="1783080"/>
          </a:xfrm>
          <a:prstGeom prst="roundRect">
            <a:avLst>
              <a:gd name="adj" fmla="val 4103"/>
            </a:avLst>
          </a:prstGeom>
          <a:solidFill>
            <a:schemeClr val="bg2"/>
          </a:solidFill>
          <a:ln w="12700">
            <a:solidFill>
              <a:schemeClr val="bg2"/>
            </a:solidFill>
            <a:prstDash val="solid"/>
          </a:ln>
        </p:spPr>
      </p:sp>
      <p:sp>
        <p:nvSpPr>
          <p:cNvPr id="8" name="Text 5"/>
          <p:cNvSpPr txBox="1"/>
          <p:nvPr/>
        </p:nvSpPr>
        <p:spPr>
          <a:xfrm>
            <a:off x="3794760" y="4206240"/>
            <a:ext cx="2377440" cy="777240"/>
          </a:xfrm>
          <a:prstGeom prst="rect">
            <a:avLst/>
          </a:prstGeom>
          <a:noFill/>
          <a:ln/>
        </p:spPr>
        <p:txBody>
          <a:bodyPr wrap="square" lIns="0" tIns="0" rIns="0" bIns="0" rtlCol="0" anchor="t">
            <a:normAutofit/>
          </a:bodyPr>
          <a:lstStyle/>
          <a:p>
            <a:pPr indent="0" marL="0">
              <a:buNone/>
            </a:pPr>
            <a:r>
              <a:rPr lang="en-US" sz="3600" b="1" dirty="0">
                <a:solidFill>
                  <a:schemeClr val="accent1"/>
                </a:solidFill>
              </a:rPr>
              <a:t>2.41x</a:t>
            </a:r>
            <a:endParaRPr lang="en-US" sz="3600" dirty="0"/>
          </a:p>
        </p:txBody>
      </p:sp>
      <p:sp>
        <p:nvSpPr>
          <p:cNvPr id="9" name="Text 6"/>
          <p:cNvSpPr txBox="1"/>
          <p:nvPr/>
        </p:nvSpPr>
        <p:spPr>
          <a:xfrm>
            <a:off x="3794760" y="4983480"/>
            <a:ext cx="2377440" cy="731520"/>
          </a:xfrm>
          <a:prstGeom prst="rect">
            <a:avLst/>
          </a:prstGeom>
          <a:noFill/>
          <a:ln/>
        </p:spPr>
        <p:txBody>
          <a:bodyPr wrap="square" lIns="0" tIns="0" rIns="0" bIns="0" rtlCol="0" anchor="t"/>
          <a:lstStyle/>
          <a:p>
            <a:pPr indent="0" marL="0">
              <a:buNone/>
            </a:pPr>
            <a:r>
              <a:rPr lang="en-US" sz="1300" dirty="0">
                <a:solidFill>
                  <a:schemeClr val="accent6"/>
                </a:solidFill>
              </a:rPr>
              <a:t>faster full scan, 1 → </a:t>
            </a:r>
            <a:pPr indent="0" marL="0">
              <a:buNone/>
            </a:pPr>
            <a:r>
              <a:rPr lang="en-US" sz="1300" dirty="0">
                <a:solidFill>
                  <a:schemeClr val="accent6"/>
                </a:solidFill>
              </a:rPr>
              <a:t>2</a:t>
            </a:r>
            <a:pPr indent="0" marL="0">
              <a:buNone/>
            </a:pPr>
            <a:r>
              <a:rPr lang="en-US" sz="1300" dirty="0">
                <a:solidFill>
                  <a:schemeClr val="accent6"/>
                </a:solidFill>
              </a:rPr>
              <a:t> cores</a:t>
            </a:r>
            <a:endParaRPr lang="en-US" sz="1300" dirty="0"/>
          </a:p>
        </p:txBody>
      </p:sp>
      <p:sp>
        <p:nvSpPr>
          <p:cNvPr id="10" name="Text 7"/>
          <p:cNvSpPr txBox="1"/>
          <p:nvPr/>
        </p:nvSpPr>
        <p:spPr>
          <a:xfrm>
            <a:off x="6720840" y="1417320"/>
            <a:ext cx="4937760" cy="448056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1"/>
                </a:solidFill>
              </a:rPr>
              <a:t>Allow-list + Parquet: read 3 GB of text once, then columnar</a:t>
            </a:r>
            <a:endParaRPr lang="en-US" sz="1500" dirty="0"/>
          </a:p>
          <a:p>
            <a:pPr marL="203200" indent="-203200">
              <a:spcAft>
                <a:spcPts val="600"/>
              </a:spcAft>
              <a:buSzPct val="100000"/>
              <a:buChar char="•"/>
            </a:pPr>
            <a:r>
              <a:rPr lang="en-US" sz="1500" dirty="0">
                <a:solidFill>
                  <a:schemeClr val="tx1"/>
                </a:solidFill>
              </a:rPr>
              <a:t>Shuffle partitions cut from 200 → a few per core, plus AQE</a:t>
            </a:r>
            <a:endParaRPr lang="en-US" sz="1500" dirty="0"/>
          </a:p>
          <a:p>
            <a:pPr marL="203200" indent="-203200">
              <a:spcAft>
                <a:spcPts val="600"/>
              </a:spcAft>
              <a:buSzPct val="100000"/>
              <a:buChar char="•"/>
            </a:pPr>
            <a:r>
              <a:rPr lang="en-US" sz="1500" dirty="0">
                <a:solidFill>
                  <a:schemeClr val="tx1"/>
                </a:solidFill>
              </a:rPr>
              <a:t>Broadcast joins for small encoding tables</a:t>
            </a:r>
            <a:endParaRPr lang="en-US" sz="1500" dirty="0"/>
          </a:p>
          <a:p>
            <a:pPr marL="203200" indent="-203200">
              <a:spcAft>
                <a:spcPts val="600"/>
              </a:spcAft>
              <a:buSzPct val="100000"/>
              <a:buChar char="•"/>
            </a:pPr>
            <a:r>
              <a:rPr lang="en-US" sz="1500" dirty="0">
                <a:solidFill>
                  <a:schemeClr val="tx1"/>
                </a:solidFill>
              </a:rPr>
              <a:t>Cache the model-ready data that trees scan repeatedly</a:t>
            </a:r>
            <a:endParaRPr lang="en-US" sz="1500" dirty="0"/>
          </a:p>
          <a:p>
            <a:pPr marL="203200" indent="-203200">
              <a:spcAft>
                <a:spcPts val="600"/>
              </a:spcAft>
              <a:buSzPct val="100000"/>
              <a:buChar char="•"/>
            </a:pPr>
            <a:r>
              <a:rPr lang="en-US" sz="1500" dirty="0">
                <a:solidFill>
                  <a:schemeClr val="tx1"/>
                </a:solidFill>
              </a:rPr>
              <a:t>Metrics in one Spark aggregation, nothing big collected</a:t>
            </a:r>
            <a:endParaRPr lang="en-US" sz="1500" dirty="0"/>
          </a:p>
          <a:p>
            <a:pPr marL="203200" indent="-203200">
              <a:spcAft>
                <a:spcPts val="600"/>
              </a:spcAft>
              <a:buSzPct val="100000"/>
              <a:buChar char="•"/>
            </a:pPr>
            <a:r>
              <a:rPr lang="en-US" sz="1500" dirty="0">
                <a:solidFill>
                  <a:schemeClr val="tx1"/>
                </a:solidFill>
              </a:rPr>
              <a:t>Same code on a cluster: change the master URL; GPUs via RAPIDS / XGBoost-Spark</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Cleaning, and keeping the future out of the features</a:t>
            </a:r>
            <a:endParaRPr lang="en-US" sz="3200" dirty="0"/>
          </a:p>
        </p:txBody>
      </p:sp>
      <p:graphicFrame>
        <p:nvGraphicFramePr>
          <p:cNvPr id="3" name="chart-funnel" descr=""/>
          <p:cNvGraphicFramePr/>
          <p:nvPr/>
        </p:nvGraphicFramePr>
        <p:xfrm>
          <a:off x="548640" y="1280160"/>
          <a:ext cx="5577840" cy="4480560"/>
        </p:xfrm>
        <a:graphic xmlns:a="http://schemas.openxmlformats.org/drawingml/2006/main">
          <a:graphicData uri="http://schemas.openxmlformats.org/drawingml/2006/chart">
            <c:chart xmlns:c="http://schemas.openxmlformats.org/drawingml/2006/chart" r:id="rId1"/>
          </a:graphicData>
        </a:graphic>
      </p:graphicFrame>
      <p:sp>
        <p:nvSpPr>
          <p:cNvPr id="4" name="leak-card"/>
          <p:cNvSpPr/>
          <p:nvPr/>
        </p:nvSpPr>
        <p:spPr>
          <a:xfrm>
            <a:off x="6400800" y="1280160"/>
            <a:ext cx="5239512" cy="4526280"/>
          </a:xfrm>
          <a:prstGeom prst="roundRect">
            <a:avLst>
              <a:gd name="adj" fmla="val 1616"/>
            </a:avLst>
          </a:prstGeom>
          <a:solidFill>
            <a:schemeClr val="bg2"/>
          </a:solidFill>
          <a:ln w="12700">
            <a:solidFill>
              <a:schemeClr val="bg2"/>
            </a:solidFill>
            <a:prstDash val="solid"/>
          </a:ln>
        </p:spPr>
      </p:sp>
      <p:sp>
        <p:nvSpPr>
          <p:cNvPr id="5" name="leak-circle"/>
          <p:cNvSpPr/>
          <p:nvPr/>
        </p:nvSpPr>
        <p:spPr>
          <a:xfrm>
            <a:off x="6675120" y="1508760"/>
            <a:ext cx="685800" cy="685800"/>
          </a:xfrm>
          <a:prstGeom prst="ellipse">
            <a:avLst/>
          </a:prstGeom>
          <a:solidFill>
            <a:srgbClr val="EB6834"/>
          </a:solidFill>
          <a:ln w="12700">
            <a:solidFill>
              <a:srgbClr val="EB6834"/>
            </a:solidFill>
            <a:prstDash val="solid"/>
          </a:ln>
        </p:spPr>
      </p:sp>
      <p:pic>
        <p:nvPicPr>
          <p:cNvPr id="6" name="leak-icon" descr="preencoded.png">    </p:cNvPr>
          <p:cNvPicPr>
            <a:picLocks noChangeAspect="1"/>
          </p:cNvPicPr>
          <p:nvPr/>
        </p:nvPicPr>
        <p:blipFill>
          <a:blip r:embed="rId2"/>
          <a:stretch>
            <a:fillRect/>
          </a:stretch>
        </p:blipFill>
        <p:spPr>
          <a:xfrm>
            <a:off x="6846570" y="1680210"/>
            <a:ext cx="342900" cy="342900"/>
          </a:xfrm>
          <a:prstGeom prst="rect">
            <a:avLst/>
          </a:prstGeom>
        </p:spPr>
      </p:pic>
      <p:sp>
        <p:nvSpPr>
          <p:cNvPr id="7" name="Text 3"/>
          <p:cNvSpPr txBox="1"/>
          <p:nvPr/>
        </p:nvSpPr>
        <p:spPr>
          <a:xfrm>
            <a:off x="7543800" y="1600200"/>
            <a:ext cx="3840480" cy="502920"/>
          </a:xfrm>
          <a:prstGeom prst="rect">
            <a:avLst/>
          </a:prstGeom>
          <a:noFill/>
          <a:ln/>
        </p:spPr>
        <p:txBody>
          <a:bodyPr wrap="square" lIns="0" tIns="0" rIns="0" bIns="0" rtlCol="0" anchor="ctr"/>
          <a:lstStyle/>
          <a:p>
            <a:pPr indent="0" marL="0">
              <a:buNone/>
            </a:pPr>
            <a:r>
              <a:rPr lang="en-US" sz="2000" b="1" dirty="0">
                <a:solidFill>
                  <a:schemeClr val="tx1"/>
                </a:solidFill>
              </a:rPr>
              <a:t>Leakage guard</a:t>
            </a:r>
            <a:endParaRPr lang="en-US" sz="2000" dirty="0"/>
          </a:p>
        </p:txBody>
      </p:sp>
      <p:sp>
        <p:nvSpPr>
          <p:cNvPr id="8" name="Text 4"/>
          <p:cNvSpPr txBox="1"/>
          <p:nvPr/>
        </p:nvSpPr>
        <p:spPr>
          <a:xfrm>
            <a:off x="6675120" y="2377440"/>
            <a:ext cx="4754880" cy="329184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1"/>
                </a:solidFill>
              </a:rPr>
              <a:t>Allow-list at ingestion: post-flight columns are never loaded</a:t>
            </a:r>
            <a:endParaRPr lang="en-US" sz="1500" dirty="0"/>
          </a:p>
          <a:p>
            <a:pPr marL="203200" indent="-203200">
              <a:spcAft>
                <a:spcPts val="600"/>
              </a:spcAft>
              <a:buSzPct val="100000"/>
              <a:buChar char="•"/>
            </a:pPr>
            <a:r>
              <a:rPr lang="en-US" sz="1500" dirty="0">
                <a:solidFill>
                  <a:schemeClr val="tx1"/>
                </a:solidFill>
              </a:rPr>
              <a:t>Also excluded: DEP_DELAY, DEP_TIME, TAXI_OUT, DEP_DEL15</a:t>
            </a:r>
            <a:endParaRPr lang="en-US" sz="1500" dirty="0"/>
          </a:p>
          <a:p>
            <a:pPr marL="203200" indent="-203200">
              <a:spcAft>
                <a:spcPts val="600"/>
              </a:spcAft>
              <a:buSzPct val="100000"/>
              <a:buChar char="•"/>
            </a:pPr>
            <a:r>
              <a:rPr lang="en-US" sz="1500" dirty="0">
                <a:solidFill>
                  <a:schemeClr val="tx1"/>
                </a:solidFill>
              </a:rPr>
              <a:t>ARR_DELAY only builds the label, then it is dropped</a:t>
            </a:r>
            <a:endParaRPr lang="en-US" sz="1500" dirty="0"/>
          </a:p>
          <a:p>
            <a:pPr marL="203200" indent="-203200">
              <a:spcAft>
                <a:spcPts val="600"/>
              </a:spcAft>
              <a:buSzPct val="100000"/>
              <a:buChar char="•"/>
            </a:pPr>
            <a:r>
              <a:rPr lang="en-US" sz="1500" dirty="0">
                <a:solidFill>
                  <a:schemeClr val="tx1"/>
                </a:solidFill>
              </a:rPr>
              <a:t>Schedule counts use the full schedule, before cancelled flights are removed</a:t>
            </a:r>
            <a:endParaRPr lang="en-US" sz="1500" dirty="0"/>
          </a:p>
          <a:p>
            <a:pPr marL="203200" indent="-203200">
              <a:spcAft>
                <a:spcPts val="600"/>
              </a:spcAft>
              <a:buSzPct val="100000"/>
              <a:buChar char="•"/>
            </a:pPr>
            <a:r>
              <a:rPr lang="en-US" sz="1500" dirty="0">
                <a:solidFill>
                  <a:schemeClr val="tx1"/>
                </a:solidFill>
              </a:rPr>
              <a:t>Assertion fails the run if a forbidden column reaches the features</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Feature engineering: </a:t>
            </a:r>
            <a:pPr algn="l" indent="0" marL="0">
              <a:buNone/>
            </a:pPr>
            <a:r>
              <a:rPr lang="en-US" sz="3200" b="1" dirty="0">
                <a:solidFill>
                  <a:schemeClr val="tx1"/>
                </a:solidFill>
              </a:rPr>
              <a:t>39</a:t>
            </a:r>
            <a:pPr algn="l" indent="0" marL="0">
              <a:buNone/>
            </a:pPr>
            <a:r>
              <a:rPr lang="en-US" sz="3200" b="1" dirty="0">
                <a:solidFill>
                  <a:schemeClr val="tx1"/>
                </a:solidFill>
              </a:rPr>
              <a:t> pre-departure features</a:t>
            </a:r>
            <a:endParaRPr lang="en-US" sz="3200" dirty="0"/>
          </a:p>
        </p:txBody>
      </p:sp>
      <p:sp>
        <p:nvSpPr>
          <p:cNvPr id="3" name="fg-0"/>
          <p:cNvSpPr/>
          <p:nvPr/>
        </p:nvSpPr>
        <p:spPr>
          <a:xfrm>
            <a:off x="548640" y="1325880"/>
            <a:ext cx="5440680" cy="1508760"/>
          </a:xfrm>
          <a:prstGeom prst="roundRect">
            <a:avLst>
              <a:gd name="adj" fmla="val 4848"/>
            </a:avLst>
          </a:prstGeom>
          <a:solidFill>
            <a:schemeClr val="bg2"/>
          </a:solidFill>
          <a:ln w="12700">
            <a:solidFill>
              <a:schemeClr val="bg2"/>
            </a:solidFill>
            <a:prstDash val="solid"/>
          </a:ln>
        </p:spPr>
      </p:sp>
      <p:sp>
        <p:nvSpPr>
          <p:cNvPr id="4" name="fg-icon-0-circle"/>
          <p:cNvSpPr/>
          <p:nvPr/>
        </p:nvSpPr>
        <p:spPr>
          <a:xfrm>
            <a:off x="777240" y="1691640"/>
            <a:ext cx="777240" cy="777240"/>
          </a:xfrm>
          <a:prstGeom prst="ellipse">
            <a:avLst/>
          </a:prstGeom>
          <a:solidFill>
            <a:srgbClr val="2A78D6"/>
          </a:solidFill>
          <a:ln w="12700">
            <a:solidFill>
              <a:srgbClr val="2A78D6"/>
            </a:solidFill>
            <a:prstDash val="solid"/>
          </a:ln>
        </p:spPr>
      </p:sp>
      <p:pic>
        <p:nvPicPr>
          <p:cNvPr id="5" name="fg-icon-0-icon" descr="preencoded.png">    </p:cNvPr>
          <p:cNvPicPr>
            <a:picLocks noChangeAspect="1"/>
          </p:cNvPicPr>
          <p:nvPr/>
        </p:nvPicPr>
        <p:blipFill>
          <a:blip r:embed="rId1"/>
          <a:stretch>
            <a:fillRect/>
          </a:stretch>
        </p:blipFill>
        <p:spPr>
          <a:xfrm>
            <a:off x="971550" y="1885950"/>
            <a:ext cx="388620" cy="388620"/>
          </a:xfrm>
          <a:prstGeom prst="rect">
            <a:avLst/>
          </a:prstGeom>
        </p:spPr>
      </p:pic>
      <p:sp>
        <p:nvSpPr>
          <p:cNvPr id="6" name="Text 3"/>
          <p:cNvSpPr txBox="1"/>
          <p:nvPr/>
        </p:nvSpPr>
        <p:spPr>
          <a:xfrm>
            <a:off x="1783080" y="1490472"/>
            <a:ext cx="4023360" cy="411480"/>
          </a:xfrm>
          <a:prstGeom prst="rect">
            <a:avLst/>
          </a:prstGeom>
          <a:noFill/>
          <a:ln/>
        </p:spPr>
        <p:txBody>
          <a:bodyPr wrap="square" lIns="0" tIns="0" rIns="0" bIns="0" rtlCol="0" anchor="ctr"/>
          <a:lstStyle/>
          <a:p>
            <a:pPr indent="0" marL="0">
              <a:buNone/>
            </a:pPr>
            <a:r>
              <a:rPr lang="en-US" sz="1800" b="1" dirty="0">
                <a:solidFill>
                  <a:schemeClr val="tx1"/>
                </a:solidFill>
              </a:rPr>
              <a:t>Calendar and time</a:t>
            </a:r>
            <a:endParaRPr lang="en-US" sz="1800" dirty="0"/>
          </a:p>
        </p:txBody>
      </p:sp>
      <p:sp>
        <p:nvSpPr>
          <p:cNvPr id="7" name="Text 4"/>
          <p:cNvSpPr txBox="1"/>
          <p:nvPr/>
        </p:nvSpPr>
        <p:spPr>
          <a:xfrm>
            <a:off x="1783080" y="1920240"/>
            <a:ext cx="4023360" cy="822960"/>
          </a:xfrm>
          <a:prstGeom prst="rect">
            <a:avLst/>
          </a:prstGeom>
          <a:noFill/>
          <a:ln/>
        </p:spPr>
        <p:txBody>
          <a:bodyPr wrap="square" lIns="0" tIns="0" rIns="0" bIns="0" rtlCol="0" anchor="ctr"/>
          <a:lstStyle/>
          <a:p>
            <a:pPr indent="0" marL="0">
              <a:buNone/>
            </a:pPr>
            <a:r>
              <a:rPr lang="en-US" sz="1400" dirty="0">
                <a:solidFill>
                  <a:schemeClr val="accent6"/>
                </a:solidFill>
              </a:rPr>
              <a:t>Month, day, weekday, departure and arrival hour (with sin/cos), days to the nearest federal holiday</a:t>
            </a:r>
            <a:endParaRPr lang="en-US" sz="1400" dirty="0"/>
          </a:p>
        </p:txBody>
      </p:sp>
      <p:sp>
        <p:nvSpPr>
          <p:cNvPr id="8" name="fg-1"/>
          <p:cNvSpPr/>
          <p:nvPr/>
        </p:nvSpPr>
        <p:spPr>
          <a:xfrm>
            <a:off x="6172200" y="1325880"/>
            <a:ext cx="5440680" cy="1508760"/>
          </a:xfrm>
          <a:prstGeom prst="roundRect">
            <a:avLst>
              <a:gd name="adj" fmla="val 4848"/>
            </a:avLst>
          </a:prstGeom>
          <a:solidFill>
            <a:schemeClr val="bg2"/>
          </a:solidFill>
          <a:ln w="12700">
            <a:solidFill>
              <a:schemeClr val="bg2"/>
            </a:solidFill>
            <a:prstDash val="solid"/>
          </a:ln>
        </p:spPr>
      </p:sp>
      <p:sp>
        <p:nvSpPr>
          <p:cNvPr id="9" name="fg-icon-1-circle"/>
          <p:cNvSpPr/>
          <p:nvPr/>
        </p:nvSpPr>
        <p:spPr>
          <a:xfrm>
            <a:off x="6400800" y="1691640"/>
            <a:ext cx="777240" cy="777240"/>
          </a:xfrm>
          <a:prstGeom prst="ellipse">
            <a:avLst/>
          </a:prstGeom>
          <a:solidFill>
            <a:srgbClr val="2A78D6"/>
          </a:solidFill>
          <a:ln w="12700">
            <a:solidFill>
              <a:srgbClr val="2A78D6"/>
            </a:solidFill>
            <a:prstDash val="solid"/>
          </a:ln>
        </p:spPr>
      </p:sp>
      <p:pic>
        <p:nvPicPr>
          <p:cNvPr id="10" name="fg-icon-1-icon" descr="preencoded.png">    </p:cNvPr>
          <p:cNvPicPr>
            <a:picLocks noChangeAspect="1"/>
          </p:cNvPicPr>
          <p:nvPr/>
        </p:nvPicPr>
        <p:blipFill>
          <a:blip r:embed="rId2"/>
          <a:stretch>
            <a:fillRect/>
          </a:stretch>
        </p:blipFill>
        <p:spPr>
          <a:xfrm>
            <a:off x="6595110" y="1885950"/>
            <a:ext cx="388620" cy="388620"/>
          </a:xfrm>
          <a:prstGeom prst="rect">
            <a:avLst/>
          </a:prstGeom>
        </p:spPr>
      </p:pic>
      <p:sp>
        <p:nvSpPr>
          <p:cNvPr id="11" name="Text 7"/>
          <p:cNvSpPr txBox="1"/>
          <p:nvPr/>
        </p:nvSpPr>
        <p:spPr>
          <a:xfrm>
            <a:off x="7406640" y="1490472"/>
            <a:ext cx="4023360" cy="411480"/>
          </a:xfrm>
          <a:prstGeom prst="rect">
            <a:avLst/>
          </a:prstGeom>
          <a:noFill/>
          <a:ln/>
        </p:spPr>
        <p:txBody>
          <a:bodyPr wrap="square" lIns="0" tIns="0" rIns="0" bIns="0" rtlCol="0" anchor="ctr"/>
          <a:lstStyle/>
          <a:p>
            <a:pPr indent="0" marL="0">
              <a:buNone/>
            </a:pPr>
            <a:r>
              <a:rPr lang="en-US" sz="1800" b="1" dirty="0">
                <a:solidFill>
                  <a:schemeClr val="tx1"/>
                </a:solidFill>
              </a:rPr>
              <a:t>Flight and airline</a:t>
            </a:r>
            <a:endParaRPr lang="en-US" sz="1800" dirty="0"/>
          </a:p>
        </p:txBody>
      </p:sp>
      <p:sp>
        <p:nvSpPr>
          <p:cNvPr id="12" name="Text 8"/>
          <p:cNvSpPr txBox="1"/>
          <p:nvPr/>
        </p:nvSpPr>
        <p:spPr>
          <a:xfrm>
            <a:off x="7406640" y="1920240"/>
            <a:ext cx="4023360" cy="822960"/>
          </a:xfrm>
          <a:prstGeom prst="rect">
            <a:avLst/>
          </a:prstGeom>
          <a:noFill/>
          <a:ln/>
        </p:spPr>
        <p:txBody>
          <a:bodyPr wrap="square" lIns="0" tIns="0" rIns="0" bIns="0" rtlCol="0" anchor="ctr"/>
          <a:lstStyle/>
          <a:p>
            <a:pPr indent="0" marL="0">
              <a:buNone/>
            </a:pPr>
            <a:r>
              <a:rPr lang="en-US" sz="1400" dirty="0">
                <a:solidFill>
                  <a:schemeClr val="accent6"/>
                </a:solidFill>
              </a:rPr>
              <a:t>Scheduled duration, distance, airline (one-hot)</a:t>
            </a:r>
            <a:endParaRPr lang="en-US" sz="1400" dirty="0"/>
          </a:p>
        </p:txBody>
      </p:sp>
      <p:sp>
        <p:nvSpPr>
          <p:cNvPr id="13" name="fg-2"/>
          <p:cNvSpPr/>
          <p:nvPr/>
        </p:nvSpPr>
        <p:spPr>
          <a:xfrm>
            <a:off x="548640" y="3017520"/>
            <a:ext cx="5440680" cy="1508760"/>
          </a:xfrm>
          <a:prstGeom prst="roundRect">
            <a:avLst>
              <a:gd name="adj" fmla="val 4848"/>
            </a:avLst>
          </a:prstGeom>
          <a:solidFill>
            <a:schemeClr val="bg2"/>
          </a:solidFill>
          <a:ln w="12700">
            <a:solidFill>
              <a:schemeClr val="bg2"/>
            </a:solidFill>
            <a:prstDash val="solid"/>
          </a:ln>
        </p:spPr>
      </p:sp>
      <p:sp>
        <p:nvSpPr>
          <p:cNvPr id="14" name="fg-icon-2-circle"/>
          <p:cNvSpPr/>
          <p:nvPr/>
        </p:nvSpPr>
        <p:spPr>
          <a:xfrm>
            <a:off x="777240" y="3383280"/>
            <a:ext cx="777240" cy="777240"/>
          </a:xfrm>
          <a:prstGeom prst="ellipse">
            <a:avLst/>
          </a:prstGeom>
          <a:solidFill>
            <a:srgbClr val="2A78D6"/>
          </a:solidFill>
          <a:ln w="12700">
            <a:solidFill>
              <a:srgbClr val="2A78D6"/>
            </a:solidFill>
            <a:prstDash val="solid"/>
          </a:ln>
        </p:spPr>
      </p:sp>
      <p:pic>
        <p:nvPicPr>
          <p:cNvPr id="15" name="fg-icon-2-icon" descr="preencoded.png">    </p:cNvPr>
          <p:cNvPicPr>
            <a:picLocks noChangeAspect="1"/>
          </p:cNvPicPr>
          <p:nvPr/>
        </p:nvPicPr>
        <p:blipFill>
          <a:blip r:embed="rId3"/>
          <a:stretch>
            <a:fillRect/>
          </a:stretch>
        </p:blipFill>
        <p:spPr>
          <a:xfrm>
            <a:off x="971550" y="3577590"/>
            <a:ext cx="388620" cy="388620"/>
          </a:xfrm>
          <a:prstGeom prst="rect">
            <a:avLst/>
          </a:prstGeom>
        </p:spPr>
      </p:pic>
      <p:sp>
        <p:nvSpPr>
          <p:cNvPr id="16" name="Text 11"/>
          <p:cNvSpPr txBox="1"/>
          <p:nvPr/>
        </p:nvSpPr>
        <p:spPr>
          <a:xfrm>
            <a:off x="1783080" y="3182112"/>
            <a:ext cx="4023360" cy="411480"/>
          </a:xfrm>
          <a:prstGeom prst="rect">
            <a:avLst/>
          </a:prstGeom>
          <a:noFill/>
          <a:ln/>
        </p:spPr>
        <p:txBody>
          <a:bodyPr wrap="square" lIns="0" tIns="0" rIns="0" bIns="0" rtlCol="0" anchor="ctr"/>
          <a:lstStyle/>
          <a:p>
            <a:pPr indent="0" marL="0">
              <a:buNone/>
            </a:pPr>
            <a:r>
              <a:rPr lang="en-US" sz="1800" b="1" dirty="0">
                <a:solidFill>
                  <a:schemeClr val="tx1"/>
                </a:solidFill>
              </a:rPr>
              <a:t>Airport congestion</a:t>
            </a:r>
            <a:endParaRPr lang="en-US" sz="1800" dirty="0"/>
          </a:p>
        </p:txBody>
      </p:sp>
      <p:sp>
        <p:nvSpPr>
          <p:cNvPr id="17" name="Text 12"/>
          <p:cNvSpPr txBox="1"/>
          <p:nvPr/>
        </p:nvSpPr>
        <p:spPr>
          <a:xfrm>
            <a:off x="1783080" y="3611880"/>
            <a:ext cx="4023360" cy="822960"/>
          </a:xfrm>
          <a:prstGeom prst="rect">
            <a:avLst/>
          </a:prstGeom>
          <a:noFill/>
          <a:ln/>
        </p:spPr>
        <p:txBody>
          <a:bodyPr wrap="square" lIns="0" tIns="0" rIns="0" bIns="0" rtlCol="0" anchor="ctr"/>
          <a:lstStyle/>
          <a:p>
            <a:pPr indent="0" marL="0">
              <a:buNone/>
            </a:pPr>
            <a:r>
              <a:rPr lang="en-US" sz="1400" dirty="0">
                <a:solidFill>
                  <a:schemeClr val="accent6"/>
                </a:solidFill>
              </a:rPr>
              <a:t>Scheduled departures and arrivals at the airport that hour; daily airport and carrier volume</a:t>
            </a:r>
            <a:endParaRPr lang="en-US" sz="1400" dirty="0"/>
          </a:p>
        </p:txBody>
      </p:sp>
      <p:sp>
        <p:nvSpPr>
          <p:cNvPr id="18" name="fg-3"/>
          <p:cNvSpPr/>
          <p:nvPr/>
        </p:nvSpPr>
        <p:spPr>
          <a:xfrm>
            <a:off x="6172200" y="3017520"/>
            <a:ext cx="5440680" cy="1508760"/>
          </a:xfrm>
          <a:prstGeom prst="roundRect">
            <a:avLst>
              <a:gd name="adj" fmla="val 4848"/>
            </a:avLst>
          </a:prstGeom>
          <a:solidFill>
            <a:schemeClr val="bg2"/>
          </a:solidFill>
          <a:ln w="12700">
            <a:solidFill>
              <a:schemeClr val="bg2"/>
            </a:solidFill>
            <a:prstDash val="solid"/>
          </a:ln>
        </p:spPr>
      </p:sp>
      <p:sp>
        <p:nvSpPr>
          <p:cNvPr id="19" name="fg-icon-3-circle"/>
          <p:cNvSpPr/>
          <p:nvPr/>
        </p:nvSpPr>
        <p:spPr>
          <a:xfrm>
            <a:off x="6400800" y="3383280"/>
            <a:ext cx="777240" cy="777240"/>
          </a:xfrm>
          <a:prstGeom prst="ellipse">
            <a:avLst/>
          </a:prstGeom>
          <a:solidFill>
            <a:srgbClr val="EB6834"/>
          </a:solidFill>
          <a:ln w="12700">
            <a:solidFill>
              <a:srgbClr val="EB6834"/>
            </a:solidFill>
            <a:prstDash val="solid"/>
          </a:ln>
        </p:spPr>
      </p:sp>
      <p:pic>
        <p:nvPicPr>
          <p:cNvPr id="20" name="fg-icon-3-icon" descr="preencoded.png">    </p:cNvPr>
          <p:cNvPicPr>
            <a:picLocks noChangeAspect="1"/>
          </p:cNvPicPr>
          <p:nvPr/>
        </p:nvPicPr>
        <p:blipFill>
          <a:blip r:embed="rId4"/>
          <a:stretch>
            <a:fillRect/>
          </a:stretch>
        </p:blipFill>
        <p:spPr>
          <a:xfrm>
            <a:off x="6595110" y="3577590"/>
            <a:ext cx="388620" cy="388620"/>
          </a:xfrm>
          <a:prstGeom prst="rect">
            <a:avLst/>
          </a:prstGeom>
        </p:spPr>
      </p:pic>
      <p:sp>
        <p:nvSpPr>
          <p:cNvPr id="21" name="Text 15"/>
          <p:cNvSpPr txBox="1"/>
          <p:nvPr/>
        </p:nvSpPr>
        <p:spPr>
          <a:xfrm>
            <a:off x="7406640" y="3182112"/>
            <a:ext cx="4023360" cy="411480"/>
          </a:xfrm>
          <a:prstGeom prst="rect">
            <a:avLst/>
          </a:prstGeom>
          <a:noFill/>
          <a:ln/>
        </p:spPr>
        <p:txBody>
          <a:bodyPr wrap="square" lIns="0" tIns="0" rIns="0" bIns="0" rtlCol="0" anchor="ctr"/>
          <a:lstStyle/>
          <a:p>
            <a:pPr indent="0" marL="0">
              <a:buNone/>
            </a:pPr>
            <a:r>
              <a:rPr lang="en-US" sz="1800" b="1" dirty="0">
                <a:solidFill>
                  <a:schemeClr val="tx1"/>
                </a:solidFill>
              </a:rPr>
              <a:t>Aircraft rotation</a:t>
            </a:r>
            <a:endParaRPr lang="en-US" sz="1800" dirty="0"/>
          </a:p>
        </p:txBody>
      </p:sp>
      <p:sp>
        <p:nvSpPr>
          <p:cNvPr id="22" name="Text 16"/>
          <p:cNvSpPr txBox="1"/>
          <p:nvPr/>
        </p:nvSpPr>
        <p:spPr>
          <a:xfrm>
            <a:off x="7406640" y="3611880"/>
            <a:ext cx="4023360" cy="822960"/>
          </a:xfrm>
          <a:prstGeom prst="rect">
            <a:avLst/>
          </a:prstGeom>
          <a:noFill/>
          <a:ln/>
        </p:spPr>
        <p:txBody>
          <a:bodyPr wrap="square" lIns="0" tIns="0" rIns="0" bIns="0" rtlCol="0" anchor="ctr"/>
          <a:lstStyle/>
          <a:p>
            <a:pPr indent="0" marL="0">
              <a:buNone/>
            </a:pPr>
            <a:r>
              <a:rPr lang="en-US" sz="1400" dirty="0">
                <a:solidFill>
                  <a:schemeClr val="accent6"/>
                </a:solidFill>
              </a:rPr>
              <a:t>Leg of the day for this tail number and the scheduled turnaround since its last flight (window function)</a:t>
            </a:r>
            <a:endParaRPr lang="en-US" sz="1400" dirty="0"/>
          </a:p>
        </p:txBody>
      </p:sp>
      <p:sp>
        <p:nvSpPr>
          <p:cNvPr id="23" name="te-card"/>
          <p:cNvSpPr/>
          <p:nvPr/>
        </p:nvSpPr>
        <p:spPr>
          <a:xfrm>
            <a:off x="548640" y="4800600"/>
            <a:ext cx="11094415" cy="1051560"/>
          </a:xfrm>
          <a:prstGeom prst="roundRect">
            <a:avLst>
              <a:gd name="adj" fmla="val 6957"/>
            </a:avLst>
          </a:prstGeom>
          <a:solidFill>
            <a:srgbClr val="0B1F3A"/>
          </a:solidFill>
          <a:ln w="12700">
            <a:solidFill>
              <a:srgbClr val="0B1F3A"/>
            </a:solidFill>
            <a:prstDash val="solid"/>
          </a:ln>
        </p:spPr>
      </p:sp>
      <p:sp>
        <p:nvSpPr>
          <p:cNvPr id="24" name="Text 18"/>
          <p:cNvSpPr txBox="1"/>
          <p:nvPr/>
        </p:nvSpPr>
        <p:spPr>
          <a:xfrm>
            <a:off x="868680" y="4800600"/>
            <a:ext cx="10454335" cy="1051560"/>
          </a:xfrm>
          <a:prstGeom prst="rect">
            <a:avLst/>
          </a:prstGeom>
          <a:noFill/>
          <a:ln/>
        </p:spPr>
        <p:txBody>
          <a:bodyPr wrap="square" lIns="0" tIns="0" rIns="0" bIns="0" rtlCol="0" anchor="ctr"/>
          <a:lstStyle/>
          <a:p>
            <a:pPr indent="0" marL="0">
              <a:buNone/>
            </a:pPr>
            <a:r>
              <a:rPr lang="en-US" sz="1500" b="1" dirty="0">
                <a:solidFill>
                  <a:srgbClr val="FFFFFF"/>
                </a:solidFill>
              </a:rPr>
              <a:t>High-cardinality categories → smoothed target encoding.  </a:t>
            </a:r>
            <a:pPr indent="0" marL="0">
              <a:buNone/>
            </a:pPr>
            <a:r>
              <a:rPr lang="en-US" sz="1500" dirty="0">
                <a:solidFill>
                  <a:srgbClr val="C9D6E3"/>
                </a:solidFill>
              </a:rPr>
              <a:t>Origin, destination, route, origin×hour and carrier×origin become their historical delay rate, fitted on the training split only.</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Three Spark MLlib classifiers, one fair setup</a:t>
            </a:r>
            <a:endParaRPr lang="en-US" sz="3200" dirty="0"/>
          </a:p>
        </p:txBody>
      </p:sp>
      <p:sp>
        <p:nvSpPr>
          <p:cNvPr id="3" name="model-0"/>
          <p:cNvSpPr/>
          <p:nvPr/>
        </p:nvSpPr>
        <p:spPr>
          <a:xfrm>
            <a:off x="548640" y="1325880"/>
            <a:ext cx="3515258" cy="2926080"/>
          </a:xfrm>
          <a:prstGeom prst="roundRect">
            <a:avLst>
              <a:gd name="adj" fmla="val 2500"/>
            </a:avLst>
          </a:prstGeom>
          <a:solidFill>
            <a:schemeClr val="bg2"/>
          </a:solidFill>
          <a:ln w="12700">
            <a:solidFill>
              <a:schemeClr val="bg2"/>
            </a:solidFill>
            <a:prstDash val="solid"/>
          </a:ln>
        </p:spPr>
      </p:sp>
      <p:sp>
        <p:nvSpPr>
          <p:cNvPr id="4" name="model-icon-0-circle"/>
          <p:cNvSpPr/>
          <p:nvPr/>
        </p:nvSpPr>
        <p:spPr>
          <a:xfrm>
            <a:off x="822960" y="1554480"/>
            <a:ext cx="731520" cy="731520"/>
          </a:xfrm>
          <a:prstGeom prst="ellipse">
            <a:avLst/>
          </a:prstGeom>
          <a:solidFill>
            <a:srgbClr val="2A78D6"/>
          </a:solidFill>
          <a:ln w="12700">
            <a:solidFill>
              <a:srgbClr val="2A78D6"/>
            </a:solidFill>
            <a:prstDash val="solid"/>
          </a:ln>
        </p:spPr>
      </p:sp>
      <p:pic>
        <p:nvPicPr>
          <p:cNvPr id="5" name="model-icon-0-icon" descr="preencoded.png">    </p:cNvPr>
          <p:cNvPicPr>
            <a:picLocks noChangeAspect="1"/>
          </p:cNvPicPr>
          <p:nvPr/>
        </p:nvPicPr>
        <p:blipFill>
          <a:blip r:embed="rId1"/>
          <a:stretch>
            <a:fillRect/>
          </a:stretch>
        </p:blipFill>
        <p:spPr>
          <a:xfrm>
            <a:off x="1005840" y="1737360"/>
            <a:ext cx="365760" cy="365760"/>
          </a:xfrm>
          <a:prstGeom prst="rect">
            <a:avLst/>
          </a:prstGeom>
        </p:spPr>
      </p:pic>
      <p:sp>
        <p:nvSpPr>
          <p:cNvPr id="6" name="Text 3"/>
          <p:cNvSpPr txBox="1"/>
          <p:nvPr/>
        </p:nvSpPr>
        <p:spPr>
          <a:xfrm>
            <a:off x="1691640" y="1645920"/>
            <a:ext cx="2189378" cy="548640"/>
          </a:xfrm>
          <a:prstGeom prst="rect">
            <a:avLst/>
          </a:prstGeom>
          <a:noFill/>
          <a:ln/>
        </p:spPr>
        <p:txBody>
          <a:bodyPr wrap="square" lIns="0" tIns="0" rIns="0" bIns="0" rtlCol="0" anchor="ctr"/>
          <a:lstStyle/>
          <a:p>
            <a:pPr indent="0" marL="0">
              <a:buNone/>
            </a:pPr>
            <a:r>
              <a:rPr lang="en-US" sz="1900" b="1" dirty="0">
                <a:solidFill>
                  <a:schemeClr val="tx1"/>
                </a:solidFill>
              </a:rPr>
              <a:t>Logistic Regression</a:t>
            </a:r>
            <a:endParaRPr lang="en-US" sz="1900" dirty="0"/>
          </a:p>
        </p:txBody>
      </p:sp>
      <p:sp>
        <p:nvSpPr>
          <p:cNvPr id="7" name="Text 4"/>
          <p:cNvSpPr txBox="1"/>
          <p:nvPr/>
        </p:nvSpPr>
        <p:spPr>
          <a:xfrm>
            <a:off x="822960" y="2514600"/>
            <a:ext cx="2966618" cy="731520"/>
          </a:xfrm>
          <a:prstGeom prst="rect">
            <a:avLst/>
          </a:prstGeom>
          <a:noFill/>
          <a:ln/>
        </p:spPr>
        <p:txBody>
          <a:bodyPr wrap="square" lIns="0" tIns="0" rIns="0" bIns="0" rtlCol="0" anchor="ctr"/>
          <a:lstStyle/>
          <a:p>
            <a:pPr indent="0" marL="0">
              <a:buNone/>
            </a:pPr>
            <a:r>
              <a:rPr lang="en-US" sz="1500" dirty="0">
                <a:solidFill>
                  <a:schemeClr val="tx1"/>
                </a:solidFill>
              </a:rPr>
              <a:t>Linear baseline; interpretable coefficients</a:t>
            </a:r>
            <a:endParaRPr lang="en-US" sz="1500" dirty="0"/>
          </a:p>
        </p:txBody>
      </p:sp>
      <p:sp>
        <p:nvSpPr>
          <p:cNvPr id="8" name="Text 5"/>
          <p:cNvSpPr txBox="1"/>
          <p:nvPr/>
        </p:nvSpPr>
        <p:spPr>
          <a:xfrm>
            <a:off x="822960" y="3291840"/>
            <a:ext cx="2966618" cy="822960"/>
          </a:xfrm>
          <a:prstGeom prst="rect">
            <a:avLst/>
          </a:prstGeom>
          <a:noFill/>
          <a:ln/>
        </p:spPr>
        <p:txBody>
          <a:bodyPr wrap="square" lIns="0" tIns="0" rIns="0" bIns="0" rtlCol="0" anchor="ctr"/>
          <a:lstStyle/>
          <a:p>
            <a:pPr indent="0" marL="0">
              <a:buNone/>
            </a:pPr>
            <a:r>
              <a:rPr lang="en-US" sz="1300" i="1" dirty="0">
                <a:solidFill>
                  <a:schemeClr val="accent6"/>
                </a:solidFill>
              </a:rPr>
              <a:t>Gradients computed per partition: scales once each task has enough data</a:t>
            </a:r>
            <a:endParaRPr lang="en-US" sz="1300" dirty="0"/>
          </a:p>
        </p:txBody>
      </p:sp>
      <p:sp>
        <p:nvSpPr>
          <p:cNvPr id="9" name="model-1"/>
          <p:cNvSpPr/>
          <p:nvPr/>
        </p:nvSpPr>
        <p:spPr>
          <a:xfrm>
            <a:off x="4338218" y="1325880"/>
            <a:ext cx="3515258" cy="2926080"/>
          </a:xfrm>
          <a:prstGeom prst="roundRect">
            <a:avLst>
              <a:gd name="adj" fmla="val 2500"/>
            </a:avLst>
          </a:prstGeom>
          <a:solidFill>
            <a:schemeClr val="bg2"/>
          </a:solidFill>
          <a:ln w="12700">
            <a:solidFill>
              <a:schemeClr val="bg2"/>
            </a:solidFill>
            <a:prstDash val="solid"/>
          </a:ln>
        </p:spPr>
      </p:sp>
      <p:sp>
        <p:nvSpPr>
          <p:cNvPr id="10" name="model-icon-1-circle"/>
          <p:cNvSpPr/>
          <p:nvPr/>
        </p:nvSpPr>
        <p:spPr>
          <a:xfrm>
            <a:off x="4612538" y="1554480"/>
            <a:ext cx="731520" cy="731520"/>
          </a:xfrm>
          <a:prstGeom prst="ellipse">
            <a:avLst/>
          </a:prstGeom>
          <a:solidFill>
            <a:srgbClr val="EB6834"/>
          </a:solidFill>
          <a:ln w="12700">
            <a:solidFill>
              <a:srgbClr val="EB6834"/>
            </a:solidFill>
            <a:prstDash val="solid"/>
          </a:ln>
        </p:spPr>
      </p:sp>
      <p:pic>
        <p:nvPicPr>
          <p:cNvPr id="11" name="model-icon-1-icon" descr="preencoded.png">    </p:cNvPr>
          <p:cNvPicPr>
            <a:picLocks noChangeAspect="1"/>
          </p:cNvPicPr>
          <p:nvPr/>
        </p:nvPicPr>
        <p:blipFill>
          <a:blip r:embed="rId2"/>
          <a:stretch>
            <a:fillRect/>
          </a:stretch>
        </p:blipFill>
        <p:spPr>
          <a:xfrm>
            <a:off x="4795418" y="1737360"/>
            <a:ext cx="365760" cy="365760"/>
          </a:xfrm>
          <a:prstGeom prst="rect">
            <a:avLst/>
          </a:prstGeom>
        </p:spPr>
      </p:pic>
      <p:sp>
        <p:nvSpPr>
          <p:cNvPr id="12" name="Text 8"/>
          <p:cNvSpPr txBox="1"/>
          <p:nvPr/>
        </p:nvSpPr>
        <p:spPr>
          <a:xfrm>
            <a:off x="5481218" y="1645920"/>
            <a:ext cx="2189378" cy="548640"/>
          </a:xfrm>
          <a:prstGeom prst="rect">
            <a:avLst/>
          </a:prstGeom>
          <a:noFill/>
          <a:ln/>
        </p:spPr>
        <p:txBody>
          <a:bodyPr wrap="square" lIns="0" tIns="0" rIns="0" bIns="0" rtlCol="0" anchor="ctr"/>
          <a:lstStyle/>
          <a:p>
            <a:pPr indent="0" marL="0">
              <a:buNone/>
            </a:pPr>
            <a:r>
              <a:rPr lang="en-US" sz="1900" b="1" dirty="0">
                <a:solidFill>
                  <a:schemeClr val="tx1"/>
                </a:solidFill>
              </a:rPr>
              <a:t>Random Forest</a:t>
            </a:r>
            <a:endParaRPr lang="en-US" sz="1900" dirty="0"/>
          </a:p>
        </p:txBody>
      </p:sp>
      <p:sp>
        <p:nvSpPr>
          <p:cNvPr id="13" name="Text 9"/>
          <p:cNvSpPr txBox="1"/>
          <p:nvPr/>
        </p:nvSpPr>
        <p:spPr>
          <a:xfrm>
            <a:off x="4612538" y="2514600"/>
            <a:ext cx="2966618" cy="731520"/>
          </a:xfrm>
          <a:prstGeom prst="rect">
            <a:avLst/>
          </a:prstGeom>
          <a:noFill/>
          <a:ln/>
        </p:spPr>
        <p:txBody>
          <a:bodyPr wrap="square" lIns="0" tIns="0" rIns="0" bIns="0" rtlCol="0" anchor="ctr"/>
          <a:lstStyle/>
          <a:p>
            <a:pPr indent="0" marL="0">
              <a:buNone/>
            </a:pPr>
            <a:r>
              <a:rPr lang="en-US" sz="1500" dirty="0">
                <a:solidFill>
                  <a:schemeClr val="tx1"/>
                </a:solidFill>
              </a:rPr>
              <a:t>Many decorrelated trees, averaged</a:t>
            </a:r>
            <a:endParaRPr lang="en-US" sz="1500" dirty="0"/>
          </a:p>
        </p:txBody>
      </p:sp>
      <p:sp>
        <p:nvSpPr>
          <p:cNvPr id="14" name="Text 10"/>
          <p:cNvSpPr txBox="1"/>
          <p:nvPr/>
        </p:nvSpPr>
        <p:spPr>
          <a:xfrm>
            <a:off x="4612538" y="3291840"/>
            <a:ext cx="2966618" cy="822960"/>
          </a:xfrm>
          <a:prstGeom prst="rect">
            <a:avLst/>
          </a:prstGeom>
          <a:noFill/>
          <a:ln/>
        </p:spPr>
        <p:txBody>
          <a:bodyPr wrap="square" lIns="0" tIns="0" rIns="0" bIns="0" rtlCol="0" anchor="ctr"/>
          <a:lstStyle/>
          <a:p>
            <a:pPr indent="0" marL="0">
              <a:buNone/>
            </a:pPr>
            <a:r>
              <a:rPr lang="en-US" sz="1300" i="1" dirty="0">
                <a:solidFill>
                  <a:schemeClr val="accent6"/>
                </a:solidFill>
              </a:rPr>
              <a:t>Trees are independent: easy to parallelise</a:t>
            </a:r>
            <a:endParaRPr lang="en-US" sz="1300" dirty="0"/>
          </a:p>
        </p:txBody>
      </p:sp>
      <p:sp>
        <p:nvSpPr>
          <p:cNvPr id="15" name="model-2"/>
          <p:cNvSpPr/>
          <p:nvPr/>
        </p:nvSpPr>
        <p:spPr>
          <a:xfrm>
            <a:off x="8127797" y="1325880"/>
            <a:ext cx="3515258" cy="2926080"/>
          </a:xfrm>
          <a:prstGeom prst="roundRect">
            <a:avLst>
              <a:gd name="adj" fmla="val 2500"/>
            </a:avLst>
          </a:prstGeom>
          <a:solidFill>
            <a:schemeClr val="bg2"/>
          </a:solidFill>
          <a:ln w="12700">
            <a:solidFill>
              <a:schemeClr val="bg2"/>
            </a:solidFill>
            <a:prstDash val="solid"/>
          </a:ln>
        </p:spPr>
      </p:sp>
      <p:sp>
        <p:nvSpPr>
          <p:cNvPr id="16" name="model-icon-2-circle"/>
          <p:cNvSpPr/>
          <p:nvPr/>
        </p:nvSpPr>
        <p:spPr>
          <a:xfrm>
            <a:off x="8402117" y="1554480"/>
            <a:ext cx="731520" cy="731520"/>
          </a:xfrm>
          <a:prstGeom prst="ellipse">
            <a:avLst/>
          </a:prstGeom>
          <a:solidFill>
            <a:srgbClr val="1BAF7A"/>
          </a:solidFill>
          <a:ln w="12700">
            <a:solidFill>
              <a:srgbClr val="1BAF7A"/>
            </a:solidFill>
            <a:prstDash val="solid"/>
          </a:ln>
        </p:spPr>
      </p:sp>
      <p:pic>
        <p:nvPicPr>
          <p:cNvPr id="17" name="model-icon-2-icon" descr="preencoded.png">    </p:cNvPr>
          <p:cNvPicPr>
            <a:picLocks noChangeAspect="1"/>
          </p:cNvPicPr>
          <p:nvPr/>
        </p:nvPicPr>
        <p:blipFill>
          <a:blip r:embed="rId3"/>
          <a:stretch>
            <a:fillRect/>
          </a:stretch>
        </p:blipFill>
        <p:spPr>
          <a:xfrm>
            <a:off x="8584997" y="1737360"/>
            <a:ext cx="365760" cy="365760"/>
          </a:xfrm>
          <a:prstGeom prst="rect">
            <a:avLst/>
          </a:prstGeom>
        </p:spPr>
      </p:pic>
      <p:sp>
        <p:nvSpPr>
          <p:cNvPr id="18" name="Text 13"/>
          <p:cNvSpPr txBox="1"/>
          <p:nvPr/>
        </p:nvSpPr>
        <p:spPr>
          <a:xfrm>
            <a:off x="9270797" y="1645920"/>
            <a:ext cx="2189378" cy="548640"/>
          </a:xfrm>
          <a:prstGeom prst="rect">
            <a:avLst/>
          </a:prstGeom>
          <a:noFill/>
          <a:ln/>
        </p:spPr>
        <p:txBody>
          <a:bodyPr wrap="square" lIns="0" tIns="0" rIns="0" bIns="0" rtlCol="0" anchor="ctr"/>
          <a:lstStyle/>
          <a:p>
            <a:pPr indent="0" marL="0">
              <a:buNone/>
            </a:pPr>
            <a:r>
              <a:rPr lang="en-US" sz="1900" b="1" dirty="0">
                <a:solidFill>
                  <a:schemeClr val="tx1"/>
                </a:solidFill>
              </a:rPr>
              <a:t>Gradient-Boosted Trees</a:t>
            </a:r>
            <a:endParaRPr lang="en-US" sz="1900" dirty="0"/>
          </a:p>
        </p:txBody>
      </p:sp>
      <p:sp>
        <p:nvSpPr>
          <p:cNvPr id="19" name="Text 14"/>
          <p:cNvSpPr txBox="1"/>
          <p:nvPr/>
        </p:nvSpPr>
        <p:spPr>
          <a:xfrm>
            <a:off x="8402117" y="2514600"/>
            <a:ext cx="2966618" cy="731520"/>
          </a:xfrm>
          <a:prstGeom prst="rect">
            <a:avLst/>
          </a:prstGeom>
          <a:noFill/>
          <a:ln/>
        </p:spPr>
        <p:txBody>
          <a:bodyPr wrap="square" lIns="0" tIns="0" rIns="0" bIns="0" rtlCol="0" anchor="ctr"/>
          <a:lstStyle/>
          <a:p>
            <a:pPr indent="0" marL="0">
              <a:buNone/>
            </a:pPr>
            <a:r>
              <a:rPr lang="en-US" sz="1500" dirty="0">
                <a:solidFill>
                  <a:schemeClr val="tx1"/>
                </a:solidFill>
              </a:rPr>
              <a:t>Trees added in sequence, each fixing the last</a:t>
            </a:r>
            <a:endParaRPr lang="en-US" sz="1500" dirty="0"/>
          </a:p>
        </p:txBody>
      </p:sp>
      <p:sp>
        <p:nvSpPr>
          <p:cNvPr id="20" name="Text 15"/>
          <p:cNvSpPr txBox="1"/>
          <p:nvPr/>
        </p:nvSpPr>
        <p:spPr>
          <a:xfrm>
            <a:off x="8402117" y="3291840"/>
            <a:ext cx="2966618" cy="822960"/>
          </a:xfrm>
          <a:prstGeom prst="rect">
            <a:avLst/>
          </a:prstGeom>
          <a:noFill/>
          <a:ln/>
        </p:spPr>
        <p:txBody>
          <a:bodyPr wrap="square" lIns="0" tIns="0" rIns="0" bIns="0" rtlCol="0" anchor="ctr"/>
          <a:lstStyle/>
          <a:p>
            <a:pPr indent="0" marL="0">
              <a:buNone/>
            </a:pPr>
            <a:r>
              <a:rPr lang="en-US" sz="1300" i="1" dirty="0">
                <a:solidFill>
                  <a:schemeClr val="accent6"/>
                </a:solidFill>
              </a:rPr>
              <a:t>Sequential rounds: hardest to scale</a:t>
            </a:r>
            <a:endParaRPr lang="en-US" sz="1300" dirty="0"/>
          </a:p>
        </p:txBody>
      </p:sp>
      <p:sp>
        <p:nvSpPr>
          <p:cNvPr id="21" name="Text 16"/>
          <p:cNvSpPr txBox="1"/>
          <p:nvPr/>
        </p:nvSpPr>
        <p:spPr>
          <a:xfrm>
            <a:off x="548640" y="4526280"/>
            <a:ext cx="1463040" cy="411480"/>
          </a:xfrm>
          <a:prstGeom prst="rect">
            <a:avLst/>
          </a:prstGeom>
          <a:noFill/>
          <a:ln/>
        </p:spPr>
        <p:txBody>
          <a:bodyPr wrap="square" lIns="0" tIns="0" rIns="0" bIns="0" rtlCol="0" anchor="ctr"/>
          <a:lstStyle/>
          <a:p>
            <a:pPr indent="0" marL="0">
              <a:buNone/>
            </a:pPr>
            <a:r>
              <a:rPr lang="en-US" sz="1500" b="1" dirty="0">
                <a:solidFill>
                  <a:schemeClr val="accent2"/>
                </a:solidFill>
              </a:rPr>
              <a:t>Split</a:t>
            </a:r>
            <a:endParaRPr lang="en-US" sz="1500" dirty="0"/>
          </a:p>
        </p:txBody>
      </p:sp>
      <p:sp>
        <p:nvSpPr>
          <p:cNvPr id="22" name="Text 17"/>
          <p:cNvSpPr txBox="1"/>
          <p:nvPr/>
        </p:nvSpPr>
        <p:spPr>
          <a:xfrm>
            <a:off x="2103120" y="4526280"/>
            <a:ext cx="9509760" cy="411480"/>
          </a:xfrm>
          <a:prstGeom prst="rect">
            <a:avLst/>
          </a:prstGeom>
          <a:noFill/>
          <a:ln/>
        </p:spPr>
        <p:txBody>
          <a:bodyPr wrap="square" lIns="0" tIns="0" rIns="0" bIns="0" rtlCol="0" anchor="ctr"/>
          <a:lstStyle/>
          <a:p>
            <a:pPr indent="0" marL="0">
              <a:buNone/>
            </a:pPr>
            <a:r>
              <a:rPr lang="en-US" sz="1500" dirty="0">
                <a:solidFill>
                  <a:schemeClr val="tx1"/>
                </a:solidFill>
              </a:rPr>
              <a:t>70 / 10 / 20 train, validation, test; plus a temporal test (Jan-Sep → Oct-Dec)</a:t>
            </a:r>
            <a:endParaRPr lang="en-US" sz="1500" dirty="0"/>
          </a:p>
        </p:txBody>
      </p:sp>
      <p:sp>
        <p:nvSpPr>
          <p:cNvPr id="23" name="Text 18"/>
          <p:cNvSpPr txBox="1"/>
          <p:nvPr/>
        </p:nvSpPr>
        <p:spPr>
          <a:xfrm>
            <a:off x="548640" y="4983480"/>
            <a:ext cx="1463040" cy="411480"/>
          </a:xfrm>
          <a:prstGeom prst="rect">
            <a:avLst/>
          </a:prstGeom>
          <a:noFill/>
          <a:ln/>
        </p:spPr>
        <p:txBody>
          <a:bodyPr wrap="square" lIns="0" tIns="0" rIns="0" bIns="0" rtlCol="0" anchor="ctr"/>
          <a:lstStyle/>
          <a:p>
            <a:pPr indent="0" marL="0">
              <a:buNone/>
            </a:pPr>
            <a:r>
              <a:rPr lang="en-US" sz="1500" b="1" dirty="0">
                <a:solidFill>
                  <a:schemeClr val="accent2"/>
                </a:solidFill>
              </a:rPr>
              <a:t>Imbalance</a:t>
            </a:r>
            <a:endParaRPr lang="en-US" sz="1500" dirty="0"/>
          </a:p>
        </p:txBody>
      </p:sp>
      <p:sp>
        <p:nvSpPr>
          <p:cNvPr id="24" name="Text 19"/>
          <p:cNvSpPr txBox="1"/>
          <p:nvPr/>
        </p:nvSpPr>
        <p:spPr>
          <a:xfrm>
            <a:off x="2103120" y="4983480"/>
            <a:ext cx="9509760" cy="411480"/>
          </a:xfrm>
          <a:prstGeom prst="rect">
            <a:avLst/>
          </a:prstGeom>
          <a:noFill/>
          <a:ln/>
        </p:spPr>
        <p:txBody>
          <a:bodyPr wrap="square" lIns="0" tIns="0" rIns="0" bIns="0" rtlCol="0" anchor="ctr"/>
          <a:lstStyle/>
          <a:p>
            <a:pPr indent="0" marL="0">
              <a:buNone/>
            </a:pPr>
            <a:r>
              <a:rPr lang="en-US" sz="1500" dirty="0">
                <a:solidFill>
                  <a:schemeClr val="tx1"/>
                </a:solidFill>
              </a:rPr>
              <a:t>Class weights via weightCol + decision threshold tuned on validation for F1</a:t>
            </a:r>
            <a:endParaRPr lang="en-US" sz="1500" dirty="0"/>
          </a:p>
        </p:txBody>
      </p:sp>
      <p:sp>
        <p:nvSpPr>
          <p:cNvPr id="25" name="Text 20"/>
          <p:cNvSpPr txBox="1"/>
          <p:nvPr/>
        </p:nvSpPr>
        <p:spPr>
          <a:xfrm>
            <a:off x="548640" y="5440680"/>
            <a:ext cx="1463040" cy="411480"/>
          </a:xfrm>
          <a:prstGeom prst="rect">
            <a:avLst/>
          </a:prstGeom>
          <a:noFill/>
          <a:ln/>
        </p:spPr>
        <p:txBody>
          <a:bodyPr wrap="square" lIns="0" tIns="0" rIns="0" bIns="0" rtlCol="0" anchor="ctr"/>
          <a:lstStyle/>
          <a:p>
            <a:pPr indent="0" marL="0">
              <a:buNone/>
            </a:pPr>
            <a:r>
              <a:rPr lang="en-US" sz="1500" b="1" dirty="0">
                <a:solidFill>
                  <a:schemeClr val="accent2"/>
                </a:solidFill>
              </a:rPr>
              <a:t>Tuning</a:t>
            </a:r>
            <a:endParaRPr lang="en-US" sz="1500" dirty="0"/>
          </a:p>
        </p:txBody>
      </p:sp>
      <p:sp>
        <p:nvSpPr>
          <p:cNvPr id="26" name="Text 21"/>
          <p:cNvSpPr txBox="1"/>
          <p:nvPr/>
        </p:nvSpPr>
        <p:spPr>
          <a:xfrm>
            <a:off x="2103120" y="5440680"/>
            <a:ext cx="9509760" cy="411480"/>
          </a:xfrm>
          <a:prstGeom prst="rect">
            <a:avLst/>
          </a:prstGeom>
          <a:noFill/>
          <a:ln/>
        </p:spPr>
        <p:txBody>
          <a:bodyPr wrap="square" lIns="0" tIns="0" rIns="0" bIns="0" rtlCol="0" anchor="ctr"/>
          <a:lstStyle/>
          <a:p>
            <a:pPr indent="0" marL="0">
              <a:buNone/>
            </a:pPr>
            <a:r>
              <a:rPr lang="en-US" sz="1500" dirty="0">
                <a:solidFill>
                  <a:schemeClr val="tx1"/>
                </a:solidFill>
              </a:rPr>
              <a:t>3-fold CrossValidator optimising PR-AUC; best settings refitted</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Results on the held-out test set</a:t>
            </a:r>
            <a:endParaRPr lang="en-US" sz="3200" dirty="0"/>
          </a:p>
        </p:txBody>
      </p:sp>
      <p:graphicFrame>
        <p:nvGraphicFramePr>
          <p:cNvPr id="3" name="chart-metrics" descr=""/>
          <p:cNvGraphicFramePr/>
          <p:nvPr/>
        </p:nvGraphicFramePr>
        <p:xfrm>
          <a:off x="548640" y="1280160"/>
          <a:ext cx="6675120" cy="457200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results-table"/>
          <p:cNvGraphicFramePr>
            <a:graphicFrameLocks noGrp="1"/>
          </p:cNvGraphicFramePr>
          <p:nvPr>
            <p:extLst>
              <p:ext uri="{D42A27DB-BD31-4B8C-83A1-F6EECF244321}">
                <p14:modId xmlns:p14="http://schemas.microsoft.com/office/powerpoint/2010/main" val="1579011935"/>
              </p:ext>
            </p:extLst>
          </p:nvPr>
        </p:nvGraphicFramePr>
        <p:xfrm>
          <a:off x="7452360" y="1371600"/>
          <a:ext cx="4187952" cy="914400"/>
        </p:xfrm>
        <a:graphic>
          <a:graphicData uri="http://schemas.openxmlformats.org/drawingml/2006/table">
            <a:tbl>
              <a:tblPr/>
              <a:tblGrid>
                <a:gridCol w="1737360"/>
                <a:gridCol w="621792"/>
                <a:gridCol w="603504"/>
                <a:gridCol w="603504"/>
                <a:gridCol w="621792"/>
              </a:tblGrid>
              <a:tr h="438912">
                <a:tc>
                  <a:txBody>
                    <a:bodyPr/>
                    <a:lstStyle/>
                    <a:p>
                      <a:pPr algn="l" indent="0" marL="0">
                        <a:buNone/>
                      </a:pP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0B1F3A"/>
                    </a:solidFill>
                  </a:tcPr>
                </a:tc>
                <a:tc>
                  <a:txBody>
                    <a:bodyPr/>
                    <a:lstStyle/>
                    <a:p>
                      <a:pPr algn="r" indent="0" marL="0">
                        <a:buNone/>
                      </a:pPr>
                      <a:r>
                        <a:rPr lang="en-US" sz="1300" b="1" dirty="0">
                          <a:solidFill>
                            <a:srgbClr val="FFFFFF"/>
                          </a:solidFill>
                        </a:rPr>
                        <a:t>Acc.</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0B1F3A"/>
                    </a:solidFill>
                  </a:tcPr>
                </a:tc>
                <a:tc>
                  <a:txBody>
                    <a:bodyPr/>
                    <a:lstStyle/>
                    <a:p>
                      <a:pPr algn="r" indent="0" marL="0">
                        <a:buNone/>
                      </a:pPr>
                      <a:r>
                        <a:rPr lang="en-US" sz="1300" b="1" dirty="0">
                          <a:solidFill>
                            <a:srgbClr val="FFFFFF"/>
                          </a:solidFill>
                        </a:rPr>
                        <a:t>F1</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0B1F3A"/>
                    </a:solidFill>
                  </a:tcPr>
                </a:tc>
                <a:tc>
                  <a:txBody>
                    <a:bodyPr/>
                    <a:lstStyle/>
                    <a:p>
                      <a:pPr algn="r" indent="0" marL="0">
                        <a:buNone/>
                      </a:pPr>
                      <a:r>
                        <a:rPr lang="en-US" sz="1300" b="1" dirty="0">
                          <a:solidFill>
                            <a:srgbClr val="FFFFFF"/>
                          </a:solidFill>
                        </a:rPr>
                        <a:t>AUC</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0B1F3A"/>
                    </a:solidFill>
                  </a:tcPr>
                </a:tc>
                <a:tc>
                  <a:txBody>
                    <a:bodyPr/>
                    <a:lstStyle/>
                    <a:p>
                      <a:pPr algn="r" indent="0" marL="0">
                        <a:buNone/>
                      </a:pPr>
                      <a:r>
                        <a:rPr lang="en-US" sz="1300" b="1" dirty="0">
                          <a:solidFill>
                            <a:srgbClr val="FFFFFF"/>
                          </a:solidFill>
                        </a:rPr>
                        <a:t>Train</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0B1F3A"/>
                    </a:solidFill>
                  </a:tcPr>
                </a:tc>
              </a:tr>
              <a:tr h="438912">
                <a:tc>
                  <a:txBody>
                    <a:bodyPr/>
                    <a:lstStyle/>
                    <a:p>
                      <a:pPr algn="l" indent="0" marL="0">
                        <a:buNone/>
                      </a:pPr>
                      <a:r>
                        <a:rPr lang="en-US" sz="1300" b="1" dirty="0">
                          <a:solidFill>
                            <a:srgbClr val="2A78D6"/>
                          </a:solidFill>
                        </a:rPr>
                        <a:t>Logistic Regression</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B1F3A"/>
                          </a:solidFill>
                        </a:rPr>
                        <a:t>0.624</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B1F3A"/>
                          </a:solidFill>
                        </a:rPr>
                        <a:t>0.431</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B1F3A"/>
                          </a:solidFill>
                        </a:rPr>
                        <a:t>0.676</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B1F3A"/>
                          </a:solidFill>
                        </a:rPr>
                        <a:t>47 s</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r>
              <a:tr h="438912">
                <a:tc>
                  <a:txBody>
                    <a:bodyPr/>
                    <a:lstStyle/>
                    <a:p>
                      <a:pPr algn="l" indent="0" marL="0">
                        <a:buNone/>
                      </a:pPr>
                      <a:r>
                        <a:rPr lang="en-US" sz="1300" b="1" dirty="0">
                          <a:solidFill>
                            <a:srgbClr val="EB6834"/>
                          </a:solidFill>
                        </a:rPr>
                        <a:t>Random Forest</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c>
                  <a:txBody>
                    <a:bodyPr/>
                    <a:lstStyle/>
                    <a:p>
                      <a:pPr algn="r" indent="0" marL="0">
                        <a:buNone/>
                      </a:pPr>
                      <a:r>
                        <a:rPr lang="en-US" sz="1300" dirty="0">
                          <a:solidFill>
                            <a:srgbClr val="0B1F3A"/>
                          </a:solidFill>
                        </a:rPr>
                        <a:t>0.669</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c>
                  <a:txBody>
                    <a:bodyPr/>
                    <a:lstStyle/>
                    <a:p>
                      <a:pPr algn="r" indent="0" marL="0">
                        <a:buNone/>
                      </a:pPr>
                      <a:r>
                        <a:rPr lang="en-US" sz="1300" dirty="0">
                          <a:solidFill>
                            <a:srgbClr val="0B1F3A"/>
                          </a:solidFill>
                        </a:rPr>
                        <a:t>0.460</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c>
                  <a:txBody>
                    <a:bodyPr/>
                    <a:lstStyle/>
                    <a:p>
                      <a:pPr algn="r" indent="0" marL="0">
                        <a:buNone/>
                      </a:pPr>
                      <a:r>
                        <a:rPr lang="en-US" sz="1300" dirty="0">
                          <a:solidFill>
                            <a:srgbClr val="0B1F3A"/>
                          </a:solidFill>
                        </a:rPr>
                        <a:t>0.715</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c>
                  <a:txBody>
                    <a:bodyPr/>
                    <a:lstStyle/>
                    <a:p>
                      <a:pPr algn="r" indent="0" marL="0">
                        <a:buNone/>
                      </a:pPr>
                      <a:r>
                        <a:rPr lang="en-US" sz="1300" dirty="0">
                          <a:solidFill>
                            <a:srgbClr val="0B1F3A"/>
                          </a:solidFill>
                        </a:rPr>
                        <a:t>2115 s</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r>
              <a:tr h="438912">
                <a:tc>
                  <a:txBody>
                    <a:bodyPr/>
                    <a:lstStyle/>
                    <a:p>
                      <a:pPr algn="l" indent="0" marL="0">
                        <a:buNone/>
                      </a:pPr>
                      <a:r>
                        <a:rPr lang="en-US" sz="1300" b="1" dirty="0">
                          <a:solidFill>
                            <a:srgbClr val="1BAF7A"/>
                          </a:solidFill>
                        </a:rPr>
                        <a:t>Gradient-Boosted Trees</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B1F3A"/>
                          </a:solidFill>
                        </a:rPr>
                        <a:t>0.710</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B1F3A"/>
                          </a:solidFill>
                        </a:rPr>
                        <a:t>0.479</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B1F3A"/>
                          </a:solidFill>
                        </a:rPr>
                        <a:t>0.735</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B1F3A"/>
                          </a:solidFill>
                        </a:rPr>
                        <a:t>465 s</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r>
              <a:tr h="438912">
                <a:tc>
                  <a:txBody>
                    <a:bodyPr/>
                    <a:lstStyle/>
                    <a:p>
                      <a:pPr algn="l" indent="0" marL="0">
                        <a:buNone/>
                      </a:pPr>
                      <a:r>
                        <a:rPr lang="en-US" sz="1300" b="1" dirty="0">
                          <a:solidFill>
                            <a:srgbClr val="0B1F3A"/>
                          </a:solidFill>
                        </a:rPr>
                        <a:t>Always 'on time'</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c>
                  <a:txBody>
                    <a:bodyPr/>
                    <a:lstStyle/>
                    <a:p>
                      <a:pPr algn="r" indent="0" marL="0">
                        <a:buNone/>
                      </a:pPr>
                      <a:r>
                        <a:rPr lang="en-US" sz="1300" dirty="0">
                          <a:solidFill>
                            <a:srgbClr val="0B1F3A"/>
                          </a:solidFill>
                        </a:rPr>
                        <a:t>77.70%</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c>
                  <a:txBody>
                    <a:bodyPr/>
                    <a:lstStyle/>
                    <a:p>
                      <a:pPr algn="r" indent="0" marL="0">
                        <a:buNone/>
                      </a:pPr>
                      <a:r>
                        <a:rPr lang="en-US" sz="1300" dirty="0">
                          <a:solidFill>
                            <a:srgbClr val="0B1F3A"/>
                          </a:solidFill>
                        </a:rPr>
                        <a:t>0.000</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c>
                  <a:txBody>
                    <a:bodyPr/>
                    <a:lstStyle/>
                    <a:p>
                      <a:pPr algn="r" indent="0" marL="0">
                        <a:buNone/>
                      </a:pPr>
                      <a:r>
                        <a:rPr lang="en-US" sz="1300" dirty="0">
                          <a:solidFill>
                            <a:srgbClr val="0B1F3A"/>
                          </a:solidFill>
                        </a:rPr>
                        <a:t>0.500</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c>
                  <a:txBody>
                    <a:bodyPr/>
                    <a:lstStyle/>
                    <a:p>
                      <a:pPr algn="r" indent="0" marL="0">
                        <a:buNone/>
                      </a:pPr>
                      <a:r>
                        <a:rPr lang="en-US" sz="1300" dirty="0">
                          <a:solidFill>
                            <a:srgbClr val="0B1F3A"/>
                          </a:solidFill>
                        </a:rPr>
                        <a:t>-</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r>
            </a:tbl>
          </a:graphicData>
        </a:graphic>
      </p:graphicFrame>
      <p:sp>
        <p:nvSpPr>
          <p:cNvPr id="5" name="Text 1"/>
          <p:cNvSpPr txBox="1"/>
          <p:nvPr/>
        </p:nvSpPr>
        <p:spPr>
          <a:xfrm>
            <a:off x="7452360" y="4343400"/>
            <a:ext cx="4187952" cy="1280160"/>
          </a:xfrm>
          <a:prstGeom prst="rect">
            <a:avLst/>
          </a:prstGeom>
          <a:noFill/>
          <a:ln/>
        </p:spPr>
        <p:txBody>
          <a:bodyPr wrap="square" lIns="0" tIns="0" rIns="0" bIns="0" rtlCol="0" anchor="t"/>
          <a:lstStyle/>
          <a:p>
            <a:pPr indent="0" marL="0">
              <a:buNone/>
            </a:pPr>
            <a:r>
              <a:rPr lang="en-US" sz="1500" b="1" dirty="0">
                <a:solidFill>
                  <a:schemeClr val="tx1"/>
                </a:solidFill>
              </a:rPr>
              <a:t>Best F1: </a:t>
            </a:r>
            <a:pPr indent="0" marL="0">
              <a:buNone/>
            </a:pPr>
            <a:r>
              <a:rPr lang="en-US" sz="1500" b="1" dirty="0">
                <a:solidFill>
                  <a:schemeClr val="tx1"/>
                </a:solidFill>
              </a:rPr>
              <a:t>Gradient-Boosted Trees</a:t>
            </a:r>
            <a:pPr indent="0" marL="0">
              <a:buNone/>
            </a:pPr>
            <a:r>
              <a:rPr lang="en-US" sz="1500" b="1" dirty="0">
                <a:solidFill>
                  <a:schemeClr val="tx1"/>
                </a:solidFill>
              </a:rPr>
              <a:t> (</a:t>
            </a:r>
            <a:pPr indent="0" marL="0">
              <a:buNone/>
            </a:pPr>
            <a:r>
              <a:rPr lang="en-US" sz="1500" b="1" dirty="0">
                <a:solidFill>
                  <a:schemeClr val="tx1"/>
                </a:solidFill>
              </a:rPr>
              <a:t>0.479</a:t>
            </a:r>
            <a:pPr indent="0" marL="0">
              <a:buNone/>
            </a:pPr>
            <a:r>
              <a:rPr lang="en-US" sz="1500" b="1" dirty="0">
                <a:solidFill>
                  <a:schemeClr val="tx1"/>
                </a:solidFill>
              </a:rPr>
              <a:t>)</a:t>
            </a:r>
            <a:endParaRPr lang="en-US" sz="1500" dirty="0"/>
          </a:p>
          <a:p>
            <a:pPr indent="0" marL="0">
              <a:buNone/>
            </a:pPr>
            <a:r>
              <a:rPr lang="en-US" sz="1500" b="1" dirty="0">
                <a:solidFill>
                  <a:schemeClr val="tx1"/>
                </a:solidFill>
              </a:rPr>
              <a:t>Fastest to train: </a:t>
            </a:r>
            <a:endParaRPr lang="en-US" sz="1500" dirty="0"/>
          </a:p>
          <a:p>
            <a:pPr indent="0" marL="0">
              <a:buNone/>
            </a:pPr>
            <a:r>
              <a:rPr lang="en-US" sz="1500" b="1" dirty="0">
                <a:solidFill>
                  <a:schemeClr val="tx1"/>
                </a:solidFill>
              </a:rPr>
              <a:t>Logistic Regression</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What drives the predictions, and do they hold up?</a:t>
            </a:r>
            <a:endParaRPr lang="en-US" sz="3200" dirty="0"/>
          </a:p>
        </p:txBody>
      </p:sp>
      <p:pic>
        <p:nvPicPr>
          <p:cNvPr id="3" name="fig-importance" descr="preencoded.png">    </p:cNvPr>
          <p:cNvPicPr>
            <a:picLocks noChangeAspect="1"/>
          </p:cNvPicPr>
          <p:nvPr/>
        </p:nvPicPr>
        <p:blipFill>
          <a:blip r:embed="rId1"/>
          <a:stretch>
            <a:fillRect/>
          </a:stretch>
        </p:blipFill>
        <p:spPr>
          <a:xfrm>
            <a:off x="548640" y="2131668"/>
            <a:ext cx="5577840" cy="2868985"/>
          </a:xfrm>
          <a:prstGeom prst="rect">
            <a:avLst/>
          </a:prstGeom>
        </p:spPr>
      </p:pic>
      <p:graphicFrame>
        <p:nvGraphicFramePr>
          <p:cNvPr id="4" name="chart-temporal" descr=""/>
          <p:cNvGraphicFramePr/>
          <p:nvPr/>
        </p:nvGraphicFramePr>
        <p:xfrm>
          <a:off x="6355080" y="1280160"/>
          <a:ext cx="5285232" cy="457200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Discussion</a:t>
            </a:r>
            <a:endParaRPr lang="en-US" sz="3200" dirty="0"/>
          </a:p>
        </p:txBody>
      </p:sp>
      <p:sp>
        <p:nvSpPr>
          <p:cNvPr id="3" name="disc-0"/>
          <p:cNvSpPr/>
          <p:nvPr/>
        </p:nvSpPr>
        <p:spPr>
          <a:xfrm>
            <a:off x="548640" y="1325880"/>
            <a:ext cx="3515258" cy="3246120"/>
          </a:xfrm>
          <a:prstGeom prst="roundRect">
            <a:avLst>
              <a:gd name="adj" fmla="val 2254"/>
            </a:avLst>
          </a:prstGeom>
          <a:solidFill>
            <a:schemeClr val="bg2"/>
          </a:solidFill>
          <a:ln w="12700">
            <a:solidFill>
              <a:schemeClr val="bg2"/>
            </a:solidFill>
            <a:prstDash val="solid"/>
          </a:ln>
        </p:spPr>
      </p:sp>
      <p:sp>
        <p:nvSpPr>
          <p:cNvPr id="4" name="disc-icon-0-circle"/>
          <p:cNvSpPr/>
          <p:nvPr/>
        </p:nvSpPr>
        <p:spPr>
          <a:xfrm>
            <a:off x="822960" y="1554480"/>
            <a:ext cx="731520" cy="731520"/>
          </a:xfrm>
          <a:prstGeom prst="ellipse">
            <a:avLst/>
          </a:prstGeom>
          <a:solidFill>
            <a:srgbClr val="EB6834"/>
          </a:solidFill>
          <a:ln w="12700">
            <a:solidFill>
              <a:srgbClr val="EB6834"/>
            </a:solidFill>
            <a:prstDash val="solid"/>
          </a:ln>
        </p:spPr>
      </p:sp>
      <p:pic>
        <p:nvPicPr>
          <p:cNvPr id="5" name="disc-icon-0-icon" descr="preencoded.png">    </p:cNvPr>
          <p:cNvPicPr>
            <a:picLocks noChangeAspect="1"/>
          </p:cNvPicPr>
          <p:nvPr/>
        </p:nvPicPr>
        <p:blipFill>
          <a:blip r:embed="rId1"/>
          <a:stretch>
            <a:fillRect/>
          </a:stretch>
        </p:blipFill>
        <p:spPr>
          <a:xfrm>
            <a:off x="1005840" y="1737360"/>
            <a:ext cx="365760" cy="365760"/>
          </a:xfrm>
          <a:prstGeom prst="rect">
            <a:avLst/>
          </a:prstGeom>
        </p:spPr>
      </p:pic>
      <p:sp>
        <p:nvSpPr>
          <p:cNvPr id="6" name="Text 3"/>
          <p:cNvSpPr txBox="1"/>
          <p:nvPr/>
        </p:nvSpPr>
        <p:spPr>
          <a:xfrm>
            <a:off x="822960" y="2468880"/>
            <a:ext cx="2966618" cy="502920"/>
          </a:xfrm>
          <a:prstGeom prst="rect">
            <a:avLst/>
          </a:prstGeom>
          <a:noFill/>
          <a:ln/>
        </p:spPr>
        <p:txBody>
          <a:bodyPr wrap="square" lIns="0" tIns="0" rIns="0" bIns="0" rtlCol="0" anchor="ctr"/>
          <a:lstStyle/>
          <a:p>
            <a:pPr indent="0" marL="0">
              <a:buNone/>
            </a:pPr>
            <a:r>
              <a:rPr lang="en-US" sz="1900" b="1" dirty="0">
                <a:solidFill>
                  <a:schemeClr val="tx1"/>
                </a:solidFill>
              </a:rPr>
              <a:t>The accuracy trap</a:t>
            </a:r>
            <a:endParaRPr lang="en-US" sz="1900" dirty="0"/>
          </a:p>
        </p:txBody>
      </p:sp>
      <p:sp>
        <p:nvSpPr>
          <p:cNvPr id="7" name="Text 4"/>
          <p:cNvSpPr txBox="1"/>
          <p:nvPr/>
        </p:nvSpPr>
        <p:spPr>
          <a:xfrm>
            <a:off x="822960" y="3017520"/>
            <a:ext cx="2966618" cy="1463040"/>
          </a:xfrm>
          <a:prstGeom prst="rect">
            <a:avLst/>
          </a:prstGeom>
          <a:noFill/>
          <a:ln/>
        </p:spPr>
        <p:txBody>
          <a:bodyPr wrap="square" lIns="0" tIns="0" rIns="0" bIns="0" rtlCol="0" anchor="t"/>
          <a:lstStyle/>
          <a:p>
            <a:pPr indent="0" marL="0">
              <a:buNone/>
            </a:pPr>
            <a:r>
              <a:rPr lang="en-US" sz="1500" dirty="0">
                <a:solidFill>
                  <a:schemeClr val="accent6"/>
                </a:solidFill>
              </a:rPr>
              <a:t>Doing nothing already scores </a:t>
            </a:r>
            <a:pPr indent="0" marL="0">
              <a:buNone/>
            </a:pPr>
            <a:r>
              <a:rPr lang="en-US" sz="1500" dirty="0">
                <a:solidFill>
                  <a:schemeClr val="accent6"/>
                </a:solidFill>
              </a:rPr>
              <a:t>77.70%</a:t>
            </a:r>
            <a:pPr indent="0" marL="0">
              <a:buNone/>
            </a:pPr>
            <a:r>
              <a:rPr lang="en-US" sz="1500" dirty="0">
                <a:solidFill>
                  <a:schemeClr val="accent6"/>
                </a:solidFill>
              </a:rPr>
              <a:t> accuracy. Recall, F1 and PR-AUC are what show real skill.</a:t>
            </a:r>
            <a:endParaRPr lang="en-US" sz="1500" dirty="0"/>
          </a:p>
        </p:txBody>
      </p:sp>
      <p:sp>
        <p:nvSpPr>
          <p:cNvPr id="8" name="disc-1"/>
          <p:cNvSpPr/>
          <p:nvPr/>
        </p:nvSpPr>
        <p:spPr>
          <a:xfrm>
            <a:off x="4338218" y="1325880"/>
            <a:ext cx="3515258" cy="3246120"/>
          </a:xfrm>
          <a:prstGeom prst="roundRect">
            <a:avLst>
              <a:gd name="adj" fmla="val 2254"/>
            </a:avLst>
          </a:prstGeom>
          <a:solidFill>
            <a:schemeClr val="bg2"/>
          </a:solidFill>
          <a:ln w="12700">
            <a:solidFill>
              <a:schemeClr val="bg2"/>
            </a:solidFill>
            <a:prstDash val="solid"/>
          </a:ln>
        </p:spPr>
      </p:sp>
      <p:sp>
        <p:nvSpPr>
          <p:cNvPr id="9" name="disc-icon-1-circle"/>
          <p:cNvSpPr/>
          <p:nvPr/>
        </p:nvSpPr>
        <p:spPr>
          <a:xfrm>
            <a:off x="4612538" y="1554480"/>
            <a:ext cx="731520" cy="731520"/>
          </a:xfrm>
          <a:prstGeom prst="ellipse">
            <a:avLst/>
          </a:prstGeom>
          <a:solidFill>
            <a:srgbClr val="2A78D6"/>
          </a:solidFill>
          <a:ln w="12700">
            <a:solidFill>
              <a:srgbClr val="2A78D6"/>
            </a:solidFill>
            <a:prstDash val="solid"/>
          </a:ln>
        </p:spPr>
      </p:sp>
      <p:pic>
        <p:nvPicPr>
          <p:cNvPr id="10" name="disc-icon-1-icon" descr="preencoded.png">    </p:cNvPr>
          <p:cNvPicPr>
            <a:picLocks noChangeAspect="1"/>
          </p:cNvPicPr>
          <p:nvPr/>
        </p:nvPicPr>
        <p:blipFill>
          <a:blip r:embed="rId2"/>
          <a:stretch>
            <a:fillRect/>
          </a:stretch>
        </p:blipFill>
        <p:spPr>
          <a:xfrm>
            <a:off x="4795418" y="1737360"/>
            <a:ext cx="365760" cy="365760"/>
          </a:xfrm>
          <a:prstGeom prst="rect">
            <a:avLst/>
          </a:prstGeom>
        </p:spPr>
      </p:pic>
      <p:sp>
        <p:nvSpPr>
          <p:cNvPr id="11" name="Text 7"/>
          <p:cNvSpPr txBox="1"/>
          <p:nvPr/>
        </p:nvSpPr>
        <p:spPr>
          <a:xfrm>
            <a:off x="4612538" y="2468880"/>
            <a:ext cx="2966618" cy="502920"/>
          </a:xfrm>
          <a:prstGeom prst="rect">
            <a:avLst/>
          </a:prstGeom>
          <a:noFill/>
          <a:ln/>
        </p:spPr>
        <p:txBody>
          <a:bodyPr wrap="square" lIns="0" tIns="0" rIns="0" bIns="0" rtlCol="0" anchor="ctr"/>
          <a:lstStyle/>
          <a:p>
            <a:pPr indent="0" marL="0">
              <a:buNone/>
            </a:pPr>
            <a:r>
              <a:rPr lang="en-US" sz="1900" b="1" dirty="0">
                <a:solidFill>
                  <a:schemeClr val="tx1"/>
                </a:solidFill>
              </a:rPr>
              <a:t>Threshold is a business choice</a:t>
            </a:r>
            <a:endParaRPr lang="en-US" sz="1900" dirty="0"/>
          </a:p>
        </p:txBody>
      </p:sp>
      <p:sp>
        <p:nvSpPr>
          <p:cNvPr id="12" name="Text 8"/>
          <p:cNvSpPr txBox="1"/>
          <p:nvPr/>
        </p:nvSpPr>
        <p:spPr>
          <a:xfrm>
            <a:off x="4612538" y="3017520"/>
            <a:ext cx="2966618" cy="1463040"/>
          </a:xfrm>
          <a:prstGeom prst="rect">
            <a:avLst/>
          </a:prstGeom>
          <a:noFill/>
          <a:ln/>
        </p:spPr>
        <p:txBody>
          <a:bodyPr wrap="square" lIns="0" tIns="0" rIns="0" bIns="0" rtlCol="0" anchor="t"/>
          <a:lstStyle/>
          <a:p>
            <a:pPr indent="0" marL="0">
              <a:buNone/>
            </a:pPr>
            <a:r>
              <a:rPr lang="en-US" sz="1500" dirty="0">
                <a:solidFill>
                  <a:schemeClr val="accent6"/>
                </a:solidFill>
              </a:rPr>
              <a:t>Spare-crew planning tolerates false alarms; passenger alerts need precision. Tune per use case.</a:t>
            </a:r>
            <a:endParaRPr lang="en-US" sz="1500" dirty="0"/>
          </a:p>
        </p:txBody>
      </p:sp>
      <p:sp>
        <p:nvSpPr>
          <p:cNvPr id="13" name="disc-2"/>
          <p:cNvSpPr/>
          <p:nvPr/>
        </p:nvSpPr>
        <p:spPr>
          <a:xfrm>
            <a:off x="8127797" y="1325880"/>
            <a:ext cx="3515258" cy="3246120"/>
          </a:xfrm>
          <a:prstGeom prst="roundRect">
            <a:avLst>
              <a:gd name="adj" fmla="val 2254"/>
            </a:avLst>
          </a:prstGeom>
          <a:solidFill>
            <a:schemeClr val="bg2"/>
          </a:solidFill>
          <a:ln w="12700">
            <a:solidFill>
              <a:schemeClr val="bg2"/>
            </a:solidFill>
            <a:prstDash val="solid"/>
          </a:ln>
        </p:spPr>
      </p:sp>
      <p:sp>
        <p:nvSpPr>
          <p:cNvPr id="14" name="disc-icon-2-circle"/>
          <p:cNvSpPr/>
          <p:nvPr/>
        </p:nvSpPr>
        <p:spPr>
          <a:xfrm>
            <a:off x="8402117" y="1554480"/>
            <a:ext cx="731520" cy="731520"/>
          </a:xfrm>
          <a:prstGeom prst="ellipse">
            <a:avLst/>
          </a:prstGeom>
          <a:solidFill>
            <a:srgbClr val="1BAF7A"/>
          </a:solidFill>
          <a:ln w="12700">
            <a:solidFill>
              <a:srgbClr val="1BAF7A"/>
            </a:solidFill>
            <a:prstDash val="solid"/>
          </a:ln>
        </p:spPr>
      </p:sp>
      <p:pic>
        <p:nvPicPr>
          <p:cNvPr id="15" name="disc-icon-2-icon" descr="preencoded.png">    </p:cNvPr>
          <p:cNvPicPr>
            <a:picLocks noChangeAspect="1"/>
          </p:cNvPicPr>
          <p:nvPr/>
        </p:nvPicPr>
        <p:blipFill>
          <a:blip r:embed="rId3"/>
          <a:stretch>
            <a:fillRect/>
          </a:stretch>
        </p:blipFill>
        <p:spPr>
          <a:xfrm>
            <a:off x="8584997" y="1737360"/>
            <a:ext cx="365760" cy="365760"/>
          </a:xfrm>
          <a:prstGeom prst="rect">
            <a:avLst/>
          </a:prstGeom>
        </p:spPr>
      </p:pic>
      <p:sp>
        <p:nvSpPr>
          <p:cNvPr id="16" name="Text 11"/>
          <p:cNvSpPr txBox="1"/>
          <p:nvPr/>
        </p:nvSpPr>
        <p:spPr>
          <a:xfrm>
            <a:off x="8402117" y="2468880"/>
            <a:ext cx="2966618" cy="502920"/>
          </a:xfrm>
          <a:prstGeom prst="rect">
            <a:avLst/>
          </a:prstGeom>
          <a:noFill/>
          <a:ln/>
        </p:spPr>
        <p:txBody>
          <a:bodyPr wrap="square" lIns="0" tIns="0" rIns="0" bIns="0" rtlCol="0" anchor="ctr"/>
          <a:lstStyle/>
          <a:p>
            <a:pPr indent="0" marL="0">
              <a:buNone/>
            </a:pPr>
            <a:r>
              <a:rPr lang="en-US" sz="1900" b="1" dirty="0">
                <a:solidFill>
                  <a:schemeClr val="tx1"/>
                </a:solidFill>
              </a:rPr>
              <a:t>Accuracy vs cost</a:t>
            </a:r>
            <a:endParaRPr lang="en-US" sz="1900" dirty="0"/>
          </a:p>
        </p:txBody>
      </p:sp>
      <p:sp>
        <p:nvSpPr>
          <p:cNvPr id="17" name="Text 12"/>
          <p:cNvSpPr txBox="1"/>
          <p:nvPr/>
        </p:nvSpPr>
        <p:spPr>
          <a:xfrm>
            <a:off x="8402117" y="3017520"/>
            <a:ext cx="2966618" cy="1463040"/>
          </a:xfrm>
          <a:prstGeom prst="rect">
            <a:avLst/>
          </a:prstGeom>
          <a:noFill/>
          <a:ln/>
        </p:spPr>
        <p:txBody>
          <a:bodyPr wrap="square" lIns="0" tIns="0" rIns="0" bIns="0" rtlCol="0" anchor="t"/>
          <a:lstStyle/>
          <a:p>
            <a:pPr indent="0" marL="0">
              <a:buNone/>
            </a:pPr>
            <a:r>
              <a:rPr lang="en-US" sz="1500" dirty="0">
                <a:solidFill>
                  <a:schemeClr val="accent6"/>
                </a:solidFill>
              </a:rPr>
              <a:t>Logistic Regression</a:t>
            </a:r>
            <a:pPr indent="0" marL="0">
              <a:buNone/>
            </a:pPr>
            <a:r>
              <a:rPr lang="en-US" sz="1500" dirty="0">
                <a:solidFill>
                  <a:schemeClr val="accent6"/>
                </a:solidFill>
              </a:rPr>
              <a:t> trains fastest; </a:t>
            </a:r>
            <a:pPr indent="0" marL="0">
              <a:buNone/>
            </a:pPr>
            <a:r>
              <a:rPr lang="en-US" sz="1500" dirty="0">
                <a:solidFill>
                  <a:schemeClr val="accent6"/>
                </a:solidFill>
              </a:rPr>
              <a:t>Random Forest</a:t>
            </a:r>
            <a:pPr indent="0" marL="0">
              <a:buNone/>
            </a:pPr>
            <a:r>
              <a:rPr lang="en-US" sz="1500" dirty="0">
                <a:solidFill>
                  <a:schemeClr val="accent6"/>
                </a:solidFill>
              </a:rPr>
              <a:t> is slowest. Boosting is hardest to scale out.</a:t>
            </a:r>
            <a:endParaRPr lang="en-US" sz="1500" dirty="0"/>
          </a:p>
        </p:txBody>
      </p:sp>
      <p:sp>
        <p:nvSpPr>
          <p:cNvPr id="18" name="Text 13"/>
          <p:cNvSpPr txBox="1"/>
          <p:nvPr/>
        </p:nvSpPr>
        <p:spPr>
          <a:xfrm>
            <a:off x="548640" y="4800600"/>
            <a:ext cx="1828800" cy="365760"/>
          </a:xfrm>
          <a:prstGeom prst="rect">
            <a:avLst/>
          </a:prstGeom>
          <a:noFill/>
          <a:ln/>
        </p:spPr>
        <p:txBody>
          <a:bodyPr wrap="square" lIns="0" tIns="0" rIns="0" bIns="0" rtlCol="0" anchor="ctr"/>
          <a:lstStyle/>
          <a:p>
            <a:pPr indent="0" marL="0">
              <a:buNone/>
            </a:pPr>
            <a:r>
              <a:rPr lang="en-US" sz="1600" b="1" dirty="0">
                <a:solidFill>
                  <a:schemeClr val="accent2"/>
                </a:solidFill>
              </a:rPr>
              <a:t>Limitations</a:t>
            </a:r>
            <a:endParaRPr lang="en-US" sz="1600" dirty="0"/>
          </a:p>
        </p:txBody>
      </p:sp>
      <p:sp>
        <p:nvSpPr>
          <p:cNvPr id="19" name="Text 14"/>
          <p:cNvSpPr txBox="1"/>
          <p:nvPr/>
        </p:nvSpPr>
        <p:spPr>
          <a:xfrm>
            <a:off x="548640" y="5166360"/>
            <a:ext cx="11094415" cy="685800"/>
          </a:xfrm>
          <a:prstGeom prst="rect">
            <a:avLst/>
          </a:prstGeom>
          <a:noFill/>
          <a:ln/>
        </p:spPr>
        <p:txBody>
          <a:bodyPr wrap="square" lIns="0" tIns="0" rIns="0" bIns="0" rtlCol="0" anchor="ctr"/>
          <a:lstStyle/>
          <a:p>
            <a:pPr indent="0" marL="0">
              <a:buNone/>
            </a:pPr>
            <a:r>
              <a:rPr lang="en-US" sz="1400" dirty="0">
                <a:solidFill>
                  <a:schemeClr val="tx1"/>
                </a:solidFill>
              </a:rPr>
              <a:t>No weather data  ·  aircraft swaps on the day may leak slightly through tail numbers  ·  in-sample target encoding  ·  trained on a sample, 1 year, Colab-sized grids</a:t>
            </a:r>
            <a:endParaRPr lang="en-US" sz="14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bg1"/>
                </a:solidFill>
              </a:rPr>
              <a:t>Conclusion and future work</a:t>
            </a:r>
            <a:endParaRPr lang="en-US" sz="3200" dirty="0"/>
          </a:p>
        </p:txBody>
      </p:sp>
      <p:sp>
        <p:nvSpPr>
          <p:cNvPr id="3" name="Text 1"/>
          <p:cNvSpPr txBox="1"/>
          <p:nvPr/>
        </p:nvSpPr>
        <p:spPr>
          <a:xfrm>
            <a:off x="548640" y="1371600"/>
            <a:ext cx="5303520" cy="457200"/>
          </a:xfrm>
          <a:prstGeom prst="rect">
            <a:avLst/>
          </a:prstGeom>
          <a:noFill/>
          <a:ln/>
        </p:spPr>
        <p:txBody>
          <a:bodyPr wrap="square" lIns="0" tIns="0" rIns="0" bIns="0" rtlCol="0" anchor="ctr"/>
          <a:lstStyle/>
          <a:p>
            <a:pPr indent="0" marL="0">
              <a:buNone/>
            </a:pPr>
            <a:r>
              <a:rPr lang="en-US" sz="2000" b="1" dirty="0">
                <a:solidFill>
                  <a:srgbClr val="FFB48F"/>
                </a:solidFill>
              </a:rPr>
              <a:t>What I showed</a:t>
            </a:r>
            <a:endParaRPr lang="en-US" sz="2000" dirty="0"/>
          </a:p>
        </p:txBody>
      </p:sp>
      <p:sp>
        <p:nvSpPr>
          <p:cNvPr id="4" name="Text 2"/>
          <p:cNvSpPr txBox="1"/>
          <p:nvPr/>
        </p:nvSpPr>
        <p:spPr>
          <a:xfrm>
            <a:off x="548640" y="1920240"/>
            <a:ext cx="5303520" cy="3840480"/>
          </a:xfrm>
          <a:prstGeom prst="rect">
            <a:avLst/>
          </a:prstGeom>
          <a:noFill/>
          <a:ln/>
        </p:spPr>
        <p:txBody>
          <a:bodyPr wrap="square" lIns="0" tIns="0" rIns="0" bIns="0" rtlCol="0" anchor="t"/>
          <a:lstStyle/>
          <a:p>
            <a:pPr marL="203200" indent="-203200">
              <a:spcAft>
                <a:spcPts val="600"/>
              </a:spcAft>
              <a:buSzPct val="100000"/>
              <a:buChar char="•"/>
            </a:pPr>
            <a:r>
              <a:rPr lang="en-US" sz="1900" dirty="0">
                <a:solidFill>
                  <a:srgbClr val="FFFFFF"/>
                </a:solidFill>
              </a:rPr>
              <a:t>A leakage-free Spark pipeline over all 7,001,619 2025 flights</a:t>
            </a:r>
            <a:endParaRPr lang="en-US" sz="1900" dirty="0"/>
          </a:p>
          <a:p>
            <a:pPr marL="203200" indent="-203200">
              <a:spcAft>
                <a:spcPts val="600"/>
              </a:spcAft>
              <a:buSzPct val="100000"/>
              <a:buChar char="•"/>
            </a:pPr>
            <a:r>
              <a:rPr lang="en-US" sz="1900" dirty="0">
                <a:solidFill>
                  <a:srgbClr val="FFFFFF"/>
                </a:solidFill>
              </a:rPr>
              <a:t>Gradient-Boosted Trees gave the best F1 (0.479)</a:t>
            </a:r>
            <a:endParaRPr lang="en-US" sz="1900" dirty="0"/>
          </a:p>
          <a:p>
            <a:pPr marL="203200" indent="-203200">
              <a:spcAft>
                <a:spcPts val="600"/>
              </a:spcAft>
              <a:buSzPct val="100000"/>
              <a:buChar char="•"/>
            </a:pPr>
            <a:r>
              <a:rPr lang="en-US" sz="1900" dirty="0">
                <a:solidFill>
                  <a:srgbClr val="FFFFFF"/>
                </a:solidFill>
              </a:rPr>
              <a:t>Class weights + tuned threshold matter more than raw accuracy</a:t>
            </a:r>
            <a:endParaRPr lang="en-US" sz="1900" dirty="0"/>
          </a:p>
          <a:p>
            <a:pPr marL="203200" indent="-203200">
              <a:spcAft>
                <a:spcPts val="600"/>
              </a:spcAft>
              <a:buSzPct val="100000"/>
              <a:buChar char="•"/>
            </a:pPr>
            <a:r>
              <a:rPr lang="en-US" sz="1900" dirty="0">
                <a:solidFill>
                  <a:srgbClr val="FFFFFF"/>
                </a:solidFill>
              </a:rPr>
              <a:t>Parquet, broadcast joins and in-Spark evaluation made it run on free Colab</a:t>
            </a:r>
            <a:endParaRPr lang="en-US" sz="1900" dirty="0"/>
          </a:p>
        </p:txBody>
      </p:sp>
      <p:sp>
        <p:nvSpPr>
          <p:cNvPr id="5" name="Text 3"/>
          <p:cNvSpPr txBox="1"/>
          <p:nvPr/>
        </p:nvSpPr>
        <p:spPr>
          <a:xfrm>
            <a:off x="6583680" y="1371600"/>
            <a:ext cx="5029200" cy="457200"/>
          </a:xfrm>
          <a:prstGeom prst="rect">
            <a:avLst/>
          </a:prstGeom>
          <a:noFill/>
          <a:ln/>
        </p:spPr>
        <p:txBody>
          <a:bodyPr wrap="square" lIns="0" tIns="0" rIns="0" bIns="0" rtlCol="0" anchor="ctr"/>
          <a:lstStyle/>
          <a:p>
            <a:pPr indent="0" marL="0">
              <a:buNone/>
            </a:pPr>
            <a:r>
              <a:rPr lang="en-US" sz="2000" b="1" dirty="0">
                <a:solidFill>
                  <a:srgbClr val="FFB48F"/>
                </a:solidFill>
              </a:rPr>
              <a:t>Next steps</a:t>
            </a:r>
            <a:endParaRPr lang="en-US" sz="2000" dirty="0"/>
          </a:p>
        </p:txBody>
      </p:sp>
      <p:sp>
        <p:nvSpPr>
          <p:cNvPr id="6" name="fut-0-circle"/>
          <p:cNvSpPr/>
          <p:nvPr/>
        </p:nvSpPr>
        <p:spPr>
          <a:xfrm>
            <a:off x="6583680" y="1965960"/>
            <a:ext cx="548640" cy="548640"/>
          </a:xfrm>
          <a:prstGeom prst="ellipse">
            <a:avLst/>
          </a:prstGeom>
          <a:solidFill>
            <a:srgbClr val="13315C"/>
          </a:solidFill>
          <a:ln w="12700">
            <a:solidFill>
              <a:srgbClr val="13315C"/>
            </a:solidFill>
            <a:prstDash val="solid"/>
          </a:ln>
        </p:spPr>
      </p:sp>
      <p:pic>
        <p:nvPicPr>
          <p:cNvPr id="7" name="fut-0-icon" descr="preencoded.png">    </p:cNvPr>
          <p:cNvPicPr>
            <a:picLocks noChangeAspect="1"/>
          </p:cNvPicPr>
          <p:nvPr/>
        </p:nvPicPr>
        <p:blipFill>
          <a:blip r:embed="rId1"/>
          <a:stretch>
            <a:fillRect/>
          </a:stretch>
        </p:blipFill>
        <p:spPr>
          <a:xfrm>
            <a:off x="6720840" y="2103120"/>
            <a:ext cx="274320" cy="274320"/>
          </a:xfrm>
          <a:prstGeom prst="rect">
            <a:avLst/>
          </a:prstGeom>
        </p:spPr>
      </p:pic>
      <p:sp>
        <p:nvSpPr>
          <p:cNvPr id="8" name="Text 5"/>
          <p:cNvSpPr txBox="1"/>
          <p:nvPr/>
        </p:nvSpPr>
        <p:spPr>
          <a:xfrm>
            <a:off x="7315200" y="1965960"/>
            <a:ext cx="4297680" cy="548640"/>
          </a:xfrm>
          <a:prstGeom prst="rect">
            <a:avLst/>
          </a:prstGeom>
          <a:noFill/>
          <a:ln/>
        </p:spPr>
        <p:txBody>
          <a:bodyPr wrap="square" lIns="0" tIns="0" rIns="0" bIns="0" rtlCol="0" anchor="ctr"/>
          <a:lstStyle/>
          <a:p>
            <a:pPr indent="0" marL="0">
              <a:buNone/>
            </a:pPr>
            <a:r>
              <a:rPr lang="en-US" sz="1600" dirty="0">
                <a:solidFill>
                  <a:srgbClr val="FFFFFF"/>
                </a:solidFill>
              </a:rPr>
              <a:t>Join NOAA weather forecasts</a:t>
            </a:r>
            <a:endParaRPr lang="en-US" sz="1600" dirty="0"/>
          </a:p>
        </p:txBody>
      </p:sp>
      <p:sp>
        <p:nvSpPr>
          <p:cNvPr id="9" name="fut-1-circle"/>
          <p:cNvSpPr/>
          <p:nvPr/>
        </p:nvSpPr>
        <p:spPr>
          <a:xfrm>
            <a:off x="6583680" y="2715768"/>
            <a:ext cx="548640" cy="548640"/>
          </a:xfrm>
          <a:prstGeom prst="ellipse">
            <a:avLst/>
          </a:prstGeom>
          <a:solidFill>
            <a:srgbClr val="13315C"/>
          </a:solidFill>
          <a:ln w="12700">
            <a:solidFill>
              <a:srgbClr val="13315C"/>
            </a:solidFill>
            <a:prstDash val="solid"/>
          </a:ln>
        </p:spPr>
      </p:sp>
      <p:pic>
        <p:nvPicPr>
          <p:cNvPr id="10" name="fut-1-icon" descr="preencoded.png">    </p:cNvPr>
          <p:cNvPicPr>
            <a:picLocks noChangeAspect="1"/>
          </p:cNvPicPr>
          <p:nvPr/>
        </p:nvPicPr>
        <p:blipFill>
          <a:blip r:embed="rId2"/>
          <a:stretch>
            <a:fillRect/>
          </a:stretch>
        </p:blipFill>
        <p:spPr>
          <a:xfrm>
            <a:off x="6720840" y="2852928"/>
            <a:ext cx="274320" cy="274320"/>
          </a:xfrm>
          <a:prstGeom prst="rect">
            <a:avLst/>
          </a:prstGeom>
        </p:spPr>
      </p:pic>
      <p:sp>
        <p:nvSpPr>
          <p:cNvPr id="11" name="Text 7"/>
          <p:cNvSpPr txBox="1"/>
          <p:nvPr/>
        </p:nvSpPr>
        <p:spPr>
          <a:xfrm>
            <a:off x="7315200" y="2715768"/>
            <a:ext cx="4297680" cy="548640"/>
          </a:xfrm>
          <a:prstGeom prst="rect">
            <a:avLst/>
          </a:prstGeom>
          <a:noFill/>
          <a:ln/>
        </p:spPr>
        <p:txBody>
          <a:bodyPr wrap="square" lIns="0" tIns="0" rIns="0" bIns="0" rtlCol="0" anchor="ctr"/>
          <a:lstStyle/>
          <a:p>
            <a:pPr indent="0" marL="0">
              <a:buNone/>
            </a:pPr>
            <a:r>
              <a:rPr lang="en-US" sz="1600" dirty="0">
                <a:solidFill>
                  <a:srgbClr val="FFFFFF"/>
                </a:solidFill>
              </a:rPr>
              <a:t>XGBoost / LightGBM on Spark with GPUs</a:t>
            </a:r>
            <a:endParaRPr lang="en-US" sz="1600" dirty="0"/>
          </a:p>
        </p:txBody>
      </p:sp>
      <p:sp>
        <p:nvSpPr>
          <p:cNvPr id="12" name="fut-2-circle"/>
          <p:cNvSpPr/>
          <p:nvPr/>
        </p:nvSpPr>
        <p:spPr>
          <a:xfrm>
            <a:off x="6583680" y="3465576"/>
            <a:ext cx="548640" cy="548640"/>
          </a:xfrm>
          <a:prstGeom prst="ellipse">
            <a:avLst/>
          </a:prstGeom>
          <a:solidFill>
            <a:srgbClr val="13315C"/>
          </a:solidFill>
          <a:ln w="12700">
            <a:solidFill>
              <a:srgbClr val="13315C"/>
            </a:solidFill>
            <a:prstDash val="solid"/>
          </a:ln>
        </p:spPr>
      </p:sp>
      <p:pic>
        <p:nvPicPr>
          <p:cNvPr id="13" name="fut-2-icon" descr="preencoded.png">    </p:cNvPr>
          <p:cNvPicPr>
            <a:picLocks noChangeAspect="1"/>
          </p:cNvPicPr>
          <p:nvPr/>
        </p:nvPicPr>
        <p:blipFill>
          <a:blip r:embed="rId3"/>
          <a:stretch>
            <a:fillRect/>
          </a:stretch>
        </p:blipFill>
        <p:spPr>
          <a:xfrm>
            <a:off x="6720840" y="3602736"/>
            <a:ext cx="274320" cy="274320"/>
          </a:xfrm>
          <a:prstGeom prst="rect">
            <a:avLst/>
          </a:prstGeom>
        </p:spPr>
      </p:pic>
      <p:sp>
        <p:nvSpPr>
          <p:cNvPr id="14" name="Text 9"/>
          <p:cNvSpPr txBox="1"/>
          <p:nvPr/>
        </p:nvSpPr>
        <p:spPr>
          <a:xfrm>
            <a:off x="7315200" y="3465576"/>
            <a:ext cx="4297680" cy="548640"/>
          </a:xfrm>
          <a:prstGeom prst="rect">
            <a:avLst/>
          </a:prstGeom>
          <a:noFill/>
          <a:ln/>
        </p:spPr>
        <p:txBody>
          <a:bodyPr wrap="square" lIns="0" tIns="0" rIns="0" bIns="0" rtlCol="0" anchor="ctr"/>
          <a:lstStyle/>
          <a:p>
            <a:pPr indent="0" marL="0">
              <a:buNone/>
            </a:pPr>
            <a:r>
              <a:rPr lang="en-US" sz="1600" dirty="0">
                <a:solidFill>
                  <a:srgbClr val="FFFFFF"/>
                </a:solidFill>
              </a:rPr>
              <a:t>Full data on a Dataproc cluster, bigger grids</a:t>
            </a:r>
            <a:endParaRPr lang="en-US" sz="1600" dirty="0"/>
          </a:p>
        </p:txBody>
      </p:sp>
      <p:sp>
        <p:nvSpPr>
          <p:cNvPr id="15" name="fut-3-circle"/>
          <p:cNvSpPr/>
          <p:nvPr/>
        </p:nvSpPr>
        <p:spPr>
          <a:xfrm>
            <a:off x="6583680" y="4215384"/>
            <a:ext cx="548640" cy="548640"/>
          </a:xfrm>
          <a:prstGeom prst="ellipse">
            <a:avLst/>
          </a:prstGeom>
          <a:solidFill>
            <a:srgbClr val="13315C"/>
          </a:solidFill>
          <a:ln w="12700">
            <a:solidFill>
              <a:srgbClr val="13315C"/>
            </a:solidFill>
            <a:prstDash val="solid"/>
          </a:ln>
        </p:spPr>
      </p:sp>
      <p:pic>
        <p:nvPicPr>
          <p:cNvPr id="16" name="fut-3-icon" descr="preencoded.png">    </p:cNvPr>
          <p:cNvPicPr>
            <a:picLocks noChangeAspect="1"/>
          </p:cNvPicPr>
          <p:nvPr/>
        </p:nvPicPr>
        <p:blipFill>
          <a:blip r:embed="rId4"/>
          <a:stretch>
            <a:fillRect/>
          </a:stretch>
        </p:blipFill>
        <p:spPr>
          <a:xfrm>
            <a:off x="6720840" y="4352544"/>
            <a:ext cx="274320" cy="274320"/>
          </a:xfrm>
          <a:prstGeom prst="rect">
            <a:avLst/>
          </a:prstGeom>
        </p:spPr>
      </p:pic>
      <p:sp>
        <p:nvSpPr>
          <p:cNvPr id="17" name="Text 11"/>
          <p:cNvSpPr txBox="1"/>
          <p:nvPr/>
        </p:nvSpPr>
        <p:spPr>
          <a:xfrm>
            <a:off x="7315200" y="4215384"/>
            <a:ext cx="4297680" cy="548640"/>
          </a:xfrm>
          <a:prstGeom prst="rect">
            <a:avLst/>
          </a:prstGeom>
          <a:noFill/>
          <a:ln/>
        </p:spPr>
        <p:txBody>
          <a:bodyPr wrap="square" lIns="0" tIns="0" rIns="0" bIns="0" rtlCol="0" anchor="ctr"/>
          <a:lstStyle/>
          <a:p>
            <a:pPr indent="0" marL="0">
              <a:buNone/>
            </a:pPr>
            <a:r>
              <a:rPr lang="en-US" sz="1600" dirty="0">
                <a:solidFill>
                  <a:srgbClr val="FFFFFF"/>
                </a:solidFill>
              </a:rPr>
              <a:t>Structured Streaming for day-of updates</a:t>
            </a:r>
            <a:endParaRPr lang="en-US" sz="1600" dirty="0"/>
          </a:p>
        </p:txBody>
      </p:sp>
      <p:sp>
        <p:nvSpPr>
          <p:cNvPr id="18" name="fut-4-circle"/>
          <p:cNvSpPr/>
          <p:nvPr/>
        </p:nvSpPr>
        <p:spPr>
          <a:xfrm>
            <a:off x="6583680" y="4965192"/>
            <a:ext cx="548640" cy="548640"/>
          </a:xfrm>
          <a:prstGeom prst="ellipse">
            <a:avLst/>
          </a:prstGeom>
          <a:solidFill>
            <a:srgbClr val="13315C"/>
          </a:solidFill>
          <a:ln w="12700">
            <a:solidFill>
              <a:srgbClr val="13315C"/>
            </a:solidFill>
            <a:prstDash val="solid"/>
          </a:ln>
        </p:spPr>
      </p:sp>
      <p:pic>
        <p:nvPicPr>
          <p:cNvPr id="19" name="fut-4-icon" descr="preencoded.png">    </p:cNvPr>
          <p:cNvPicPr>
            <a:picLocks noChangeAspect="1"/>
          </p:cNvPicPr>
          <p:nvPr/>
        </p:nvPicPr>
        <p:blipFill>
          <a:blip r:embed="rId5"/>
          <a:stretch>
            <a:fillRect/>
          </a:stretch>
        </p:blipFill>
        <p:spPr>
          <a:xfrm>
            <a:off x="6720840" y="5102352"/>
            <a:ext cx="274320" cy="274320"/>
          </a:xfrm>
          <a:prstGeom prst="rect">
            <a:avLst/>
          </a:prstGeom>
        </p:spPr>
      </p:pic>
      <p:sp>
        <p:nvSpPr>
          <p:cNvPr id="20" name="Text 13"/>
          <p:cNvSpPr txBox="1"/>
          <p:nvPr/>
        </p:nvSpPr>
        <p:spPr>
          <a:xfrm>
            <a:off x="7315200" y="4965192"/>
            <a:ext cx="4297680" cy="548640"/>
          </a:xfrm>
          <a:prstGeom prst="rect">
            <a:avLst/>
          </a:prstGeom>
          <a:noFill/>
          <a:ln/>
        </p:spPr>
        <p:txBody>
          <a:bodyPr wrap="square" lIns="0" tIns="0" rIns="0" bIns="0" rtlCol="0" anchor="ctr"/>
          <a:lstStyle/>
          <a:p>
            <a:pPr indent="0" marL="0">
              <a:buNone/>
            </a:pPr>
            <a:r>
              <a:rPr lang="en-US" sz="1600" dirty="0">
                <a:solidFill>
                  <a:srgbClr val="FFFFFF"/>
                </a:solidFill>
              </a:rPr>
              <a:t>Out-of-fold target encoding</a:t>
            </a:r>
            <a:endParaRPr lang="en-US" sz="16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7498080" cy="1828800"/>
          </a:xfrm>
          <a:prstGeom prst="rect">
            <a:avLst/>
          </a:prstGeom>
          <a:noFill/>
          <a:ln/>
        </p:spPr>
        <p:txBody>
          <a:bodyPr wrap="square" lIns="0" tIns="0" rIns="0" bIns="0" rtlCol="0" anchor="b"/>
          <a:lstStyle/>
          <a:p>
            <a:pPr algn="l" indent="0" marL="0">
              <a:buNone/>
            </a:pPr>
            <a:r>
              <a:rPr lang="en-US" sz="4400" b="1" dirty="0">
                <a:solidFill>
                  <a:schemeClr val="bg1"/>
                </a:solidFill>
              </a:rPr>
              <a:t>Thank you. Questions?</a:t>
            </a:r>
            <a:endParaRPr lang="en-US" sz="4400" dirty="0"/>
          </a:p>
        </p:txBody>
      </p:sp>
      <p:sp>
        <p:nvSpPr>
          <p:cNvPr id="3" name="Text 0"/>
          <p:cNvSpPr/>
          <p:nvPr>
            <p:ph idx="101" type="body" hasCustomPrompt="1"/>
          </p:nvPr>
        </p:nvSpPr>
        <p:spPr>
          <a:xfrm>
            <a:off x="548640" y="3840480"/>
            <a:ext cx="7498080" cy="1463040"/>
          </a:xfrm>
          <a:prstGeom prst="rect">
            <a:avLst/>
          </a:prstGeom>
          <a:noFill/>
          <a:ln/>
        </p:spPr>
        <p:txBody>
          <a:bodyPr wrap="square" lIns="0" tIns="0" rIns="0" bIns="0" rtlCol="0" anchor="t"/>
          <a:lstStyle/>
          <a:p>
            <a:pPr algn="l" indent="0" marL="0">
              <a:buNone/>
            </a:pPr>
            <a:r>
              <a:rPr lang="en-US" sz="1800" b="1" dirty="0">
                <a:solidFill>
                  <a:srgbClr val="FFB48F"/>
                </a:solidFill>
              </a:rPr>
              <a:t>Key references</a:t>
            </a:r>
            <a:endParaRPr lang="en-US" sz="1800" dirty="0"/>
          </a:p>
          <a:p>
            <a:pPr algn="l" indent="0" marL="0">
              <a:buNone/>
            </a:pPr>
            <a:r>
              <a:rPr lang="en-US" sz="1200" dirty="0">
                <a:solidFill>
                  <a:srgbClr val="C9D6E3"/>
                </a:solidFill>
              </a:rPr>
              <a:t>Ball et al. (2010) Total delay impact study · Bureau of Transportation Statistics (2026) On-Time Performance data · Kaufman et al. (2012) Leakage in data mining · Meng et al. (2016) MLlib · Saito &amp; Rehmsmeier (2015) PR vs ROC · Zaharia et al. (2016) Apache Spark</a:t>
            </a:r>
            <a:endParaRPr lang="en-US" sz="1800" dirty="0"/>
          </a:p>
        </p:txBody>
      </p:sp>
      <p:sp>
        <p:nvSpPr>
          <p:cNvPr id="4" name="q-circle"/>
          <p:cNvSpPr/>
          <p:nvPr/>
        </p:nvSpPr>
        <p:spPr>
          <a:xfrm>
            <a:off x="9052560" y="2103120"/>
            <a:ext cx="2194560" cy="2194560"/>
          </a:xfrm>
          <a:prstGeom prst="ellipse">
            <a:avLst/>
          </a:prstGeom>
          <a:solidFill>
            <a:srgbClr val="EB6834"/>
          </a:solidFill>
          <a:ln w="12700">
            <a:solidFill>
              <a:srgbClr val="EB6834"/>
            </a:solidFill>
            <a:prstDash val="solid"/>
          </a:ln>
        </p:spPr>
      </p:sp>
      <p:pic>
        <p:nvPicPr>
          <p:cNvPr id="5" name="q-icon" descr="preencoded.png">    </p:cNvPr>
          <p:cNvPicPr>
            <a:picLocks noChangeAspect="1"/>
          </p:cNvPicPr>
          <p:nvPr/>
        </p:nvPicPr>
        <p:blipFill>
          <a:blip r:embed="rId1"/>
          <a:stretch>
            <a:fillRect/>
          </a:stretch>
        </p:blipFill>
        <p:spPr>
          <a:xfrm>
            <a:off x="9601200" y="2651760"/>
            <a:ext cx="1097280" cy="1097280"/>
          </a:xfrm>
          <a:prstGeom prst="rect">
            <a:avLst/>
          </a:prstGeom>
        </p:spPr>
      </p:pic>
    </p:spTree>
  </p:cSld>
  <p:clrMapOvr>
    <a:masterClrMapping/>
  </p:clrMapOvr>
</p:sld>
</file>

<file path=ppt/theme/theme1.xml><?xml version="1.0" encoding="utf-8"?>
<a:theme xmlns:a="http://schemas.openxmlformats.org/drawingml/2006/main" name="Flight Delay Spark">
  <a:themeElements>
    <a:clrScheme name="Flight Delay Spark">
      <a:dk1>
        <a:srgbClr val="0B1F3A"/>
      </a:dk1>
      <a:lt1>
        <a:srgbClr val="FFFFFF"/>
      </a:lt1>
      <a:dk2>
        <a:srgbClr val="13315C"/>
      </a:dk2>
      <a:lt2>
        <a:srgbClr val="EEF3F8"/>
      </a:lt2>
      <a:accent1>
        <a:srgbClr val="2A78D6"/>
      </a:accent1>
      <a:accent2>
        <a:srgbClr val="EB6834"/>
      </a:accent2>
      <a:accent3>
        <a:srgbClr val="1BAF7A"/>
      </a:accent3>
      <a:accent4>
        <a:srgbClr val="EDA100"/>
      </a:accent4>
      <a:accent5>
        <a:srgbClr val="8DA9C4"/>
      </a:accent5>
      <a:accent6>
        <a:srgbClr val="5C6B7A"/>
      </a:accent6>
      <a:hlink>
        <a:srgbClr val="2A78D6"/>
      </a:hlink>
      <a:folHlink>
        <a:srgbClr val="4A3AA7"/>
      </a:folHlink>
    </a:clrScheme>
    <a:fontScheme name="Flight Delay Spark">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Airline Flight Delays Using Apache Spark</dc:title>
  <dc:subject>PptxGenJS Presentation</dc:subject>
  <dc:creator>BDMLA student</dc:creator>
  <cp:lastModifiedBy>BDMLA student</cp:lastModifiedBy>
  <cp:revision>1</cp:revision>
  <dcterms:created xsi:type="dcterms:W3CDTF">2026-10-10T01:12:22Z</dcterms:created>
  <dcterms:modified xsi:type="dcterms:W3CDTF">2026-10-10T01:12:22Z</dcterms:modified>
</cp:coreProperties>
</file>