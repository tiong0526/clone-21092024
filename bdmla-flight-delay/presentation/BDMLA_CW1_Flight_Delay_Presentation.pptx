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Lst>
  <p:notesMasterIdLst>
    <p:notesMasterId r:id="rId19"/>
  </p:notesMasterIdLst>
  <p:handoutMasterIdLst>
    <p:handoutMasterId r:id="rId20"/>
  </p:handoutMasterIdLst>
  <p:sldIdLst>
    <p:sldId id="365" r:id="rId2"/>
    <p:sldId id="389" r:id="rId10"/>
    <p:sldId id="390" r:id="rId11"/>
    <p:sldId id="391" r:id="rId12"/>
    <p:sldId id="392" r:id="rId13"/>
    <p:sldId id="393" r:id="rId14"/>
    <p:sldId id="394" r:id="rId15"/>
    <p:sldId id="395" r:id="rId16"/>
    <p:sldId id="396" r:id="rId17"/>
    <p:sldId id="397" r:id="rId9"/>
    <p:sldId id="398" r:id="rId8"/>
    <p:sldId id="399" r:id="rId7"/>
    <p:sldId id="400" r:id="rId6"/>
    <p:sldId id="401" r:id="rId5"/>
    <p:sldId id="402" r:id="rId4"/>
    <p:sldId id="403" r:id="rId3"/>
    <p:sldId id="388"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791">
          <p15:clr>
            <a:srgbClr val="A4A3A4"/>
          </p15:clr>
        </p15:guide>
        <p15:guide id="3" orient="horz" pos="3870">
          <p15:clr>
            <a:srgbClr val="A4A3A4"/>
          </p15:clr>
        </p15:guide>
        <p15:guide id="4" orient="horz" pos="1069">
          <p15:clr>
            <a:srgbClr val="A4A3A4"/>
          </p15:clr>
        </p15:guide>
        <p15:guide id="5" orient="horz" pos="1955">
          <p15:clr>
            <a:srgbClr val="A4A3A4"/>
          </p15:clr>
        </p15:guide>
        <p15:guide id="6" orient="horz" pos="357">
          <p15:clr>
            <a:srgbClr val="A4A3A4"/>
          </p15:clr>
        </p15:guide>
        <p15:guide id="7" pos="5550">
          <p15:clr>
            <a:srgbClr val="A4A3A4"/>
          </p15:clr>
        </p15:guide>
        <p15:guide id="8" pos="3078">
          <p15:clr>
            <a:srgbClr val="A4A3A4"/>
          </p15:clr>
        </p15:guide>
        <p15:guide id="9" pos="2533">
          <p15:clr>
            <a:srgbClr val="A4A3A4"/>
          </p15:clr>
        </p15:guide>
        <p15:guide id="10" pos="3643">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73"/>
    <a:srgbClr val="F0F0F0"/>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84" autoAdjust="0"/>
    <p:restoredTop sz="91963" autoAdjust="0"/>
  </p:normalViewPr>
  <p:slideViewPr>
    <p:cSldViewPr snapToGrid="0">
      <p:cViewPr varScale="1">
        <p:scale>
          <a:sx n="58" d="100"/>
          <a:sy n="58" d="100"/>
        </p:scale>
        <p:origin x="1424" y="48"/>
      </p:cViewPr>
      <p:guideLst>
        <p:guide orient="horz" pos="2160"/>
        <p:guide orient="horz" pos="791"/>
        <p:guide orient="horz" pos="3870"/>
        <p:guide orient="horz" pos="1069"/>
        <p:guide orient="horz" pos="1955"/>
        <p:guide orient="horz" pos="357"/>
        <p:guide pos="5550"/>
        <p:guide pos="3078"/>
        <p:guide pos="2533"/>
        <p:guide pos="3643"/>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54"/>
    </p:cViewPr>
  </p:sorterViewPr>
  <p:notesViewPr>
    <p:cSldViewPr snapToGrid="0">
      <p:cViewPr varScale="1">
        <p:scale>
          <a:sx n="85" d="100"/>
          <a:sy n="85" d="100"/>
        </p:scale>
        <p:origin x="-3834"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17.xml"/><Relationship Id="rId4" Type="http://schemas.openxmlformats.org/officeDocument/2006/relationships/slide" Target="slides/slide16.xml"/><Relationship Id="rId5" Type="http://schemas.openxmlformats.org/officeDocument/2006/relationships/slide" Target="slides/slide15.xml"/><Relationship Id="rId6" Type="http://schemas.openxmlformats.org/officeDocument/2006/relationships/slide" Target="slides/slide14.xml"/><Relationship Id="rId7" Type="http://schemas.openxmlformats.org/officeDocument/2006/relationships/slide" Target="slides/slide13.xml"/><Relationship Id="rId8" Type="http://schemas.openxmlformats.org/officeDocument/2006/relationships/slide" Target="slides/slide12.xml"/><Relationship Id="rId9" Type="http://schemas.openxmlformats.org/officeDocument/2006/relationships/slide" Target="slides/slide1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2.xml"/><Relationship Id="rId19" Type="http://schemas.openxmlformats.org/officeDocument/2006/relationships/notesMaster" Target="notesMasters/notesMaster1.xml"/><Relationship Id="rId20" Type="http://schemas.openxmlformats.org/officeDocument/2006/relationships/handoutMaster" Target="handoutMasters/handout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1F1F1F"/>
                </a:solidFill>
              </a:rPr>
              <a:t>Class balance after cleaning</a:t>
            </a:r>
          </a:p>
        </c:rich>
      </c:tx>
      <c:layout/>
      <c:overlay val="0"/>
    </c:title>
    <c:autoTitleDeleted val="0"/>
    <c:plotArea>
      <c:barChart>
        <c:barDir val="col"/>
        <c:grouping val="clustered"/>
        <c:ser>
          <c:idx val="0"/>
          <c:order val="0"/>
          <c:tx>
            <c:strRef>
              <c:f>Sheet1!$B$1</c:f>
              <c:strCache>
                <c:ptCount val="1"/>
                <c:pt idx="0">
                  <c:v>Flights</c:v>
                </c:pt>
              </c:strCache>
            </c:strRef>
          </c:tx>
          <c:dPt>
            <c:idx val="0"/>
            <c:spPr>
              <a:solidFill>
                <a:srgbClr val="00A0FF"/>
              </a:solidFill>
            </c:spPr>
          </c:dPt>
          <c:dPt>
            <c:idx val="1"/>
            <c:spPr>
              <a:solidFill>
                <a:srgbClr val="621360"/>
              </a:solidFill>
            </c:spPr>
          </c:dPt>
          <c:cat>
            <c:strRef>
              <c:f>Sheet1!$A$2:$A$3</c:f>
              <c:strCache>
                <c:ptCount val="2"/>
                <c:pt idx="0">
                  <c:v>On time (&lt;15 min)</c:v>
                </c:pt>
                <c:pt idx="1">
                  <c:v>Delayed (≥15 min)</c:v>
                </c:pt>
              </c:strCache>
            </c:strRef>
          </c:cat>
          <c:val>
            <c:numRef>
              <c:f>Sheet1!$B$2:$B$3</c:f>
              <c:numCache>
                <c:formatCode>General</c:formatCode>
                <c:ptCount val="2"/>
                <c:pt idx="0">
                  <c:v>5344670</c:v>
                </c:pt>
                <c:pt idx="1">
                  <c:v>1534813</c:v>
                </c:pt>
              </c:numCache>
            </c:numRef>
          </c:val>
        </c:ser>
        <c:dLbls>
          <c:numFmt formatCode="#,##0" sourceLinked="0"/>
          <c:txPr>
            <a:bodyPr/>
            <a:lstStyle/>
            <a:p>
              <a:pPr>
                <a:defRPr sz="1100"/>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solidFill>
              <a:srgbClr val="D1D1D1"/>
            </a:solidFill>
          </a:ln>
        </c:spPr>
        <c:crossAx val="-2113994440"/>
        <c:crosses val="autoZero"/>
        <c:auto val="1"/>
        <c:lblAlgn val="ctr"/>
        <c:lblOffset val="100"/>
        <c:noMultiLvlLbl val="0"/>
      </c:catAx>
      <c:valAx>
        <c:axId val="-2113994440"/>
        <c:scaling/>
        <c:delete val="0"/>
        <c:axPos val="l"/>
        <c:majorGridlines>
          <c:spPr>
            <a:ln w="6350">
              <a:solidFill>
                <a:srgbClr val="D1D1D1"/>
              </a:solidFill>
            </a:ln>
          </c:spPr>
        </c:majorGridlines>
        <c:numFmt formatCode="#,##0,,&quot;M&quot;"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100">
          <a:solidFill>
            <a:srgbClr val="5A5A5A"/>
          </a:solidFil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1F1F1F"/>
                </a:solidFill>
              </a:rPr>
              <a:t>Cleaning funnel (rows remaining)</a:t>
            </a:r>
          </a:p>
        </c:rich>
      </c:tx>
      <c:layout/>
      <c:overlay val="0"/>
    </c:title>
    <c:autoTitleDeleted val="0"/>
    <c:plotArea>
      <c:barChart>
        <c:barDir val="bar"/>
        <c:grouping val="clustered"/>
        <c:ser>
          <c:idx val="0"/>
          <c:order val="0"/>
          <c:tx>
            <c:strRef>
              <c:f>Sheet1!$B$1</c:f>
              <c:strCache>
                <c:ptCount val="1"/>
                <c:pt idx="0">
                  <c:v>Rows</c:v>
                </c:pt>
              </c:strCache>
            </c:strRef>
          </c:tx>
          <c:spPr>
            <a:solidFill>
              <a:srgbClr val="00A0FF"/>
            </a:solidFill>
          </c:spPr>
          <c:cat>
            <c:strRef>
              <c:f>Sheet1!$A$2:$A$7</c:f>
              <c:strCache>
                <c:ptCount val="6"/>
                <c:pt idx="0">
                  <c:v>Raw flights</c:v>
                </c:pt>
                <c:pt idx="1">
                  <c:v>− cancelled</c:v>
                </c:pt>
                <c:pt idx="2">
                  <c:v>− diverted</c:v>
                </c:pt>
                <c:pt idx="3">
                  <c:v>− null ARR_DELAY</c:v>
                </c:pt>
                <c:pt idx="4">
                  <c:v>− duplicates</c:v>
                </c:pt>
                <c:pt idx="5">
                  <c:v>− invalid values</c:v>
                </c:pt>
              </c:strCache>
            </c:strRef>
          </c:cat>
          <c:val>
            <c:numRef>
              <c:f>Sheet1!$B$2:$B$7</c:f>
              <c:numCache>
                <c:formatCode>General</c:formatCode>
                <c:ptCount val="6"/>
                <c:pt idx="0">
                  <c:v>7001619.0</c:v>
                </c:pt>
                <c:pt idx="1">
                  <c:v>6898743.0</c:v>
                </c:pt>
                <c:pt idx="2">
                  <c:v>6879485.0</c:v>
                </c:pt>
                <c:pt idx="3">
                  <c:v>6879484.0</c:v>
                </c:pt>
                <c:pt idx="4">
                  <c:v>6879484.0</c:v>
                </c:pt>
                <c:pt idx="5">
                  <c:v>6879483.0</c:v>
                </c:pt>
              </c:numCache>
            </c:numRef>
          </c:val>
        </c:ser>
        <c:dLbls>
          <c:numFmt formatCode="#,##0" sourceLinked="0"/>
          <c:txPr>
            <a:bodyPr/>
            <a:lstStyle/>
            <a:p>
              <a:pPr>
                <a:defRPr sz="1000"/>
              </a:pPr>
            </a:p>
          </c:txPr>
          <c:showLegendKey val="0"/>
          <c:showVal val="1"/>
          <c:showCatName val="0"/>
          <c:showSerName val="0"/>
          <c:showPercent val="0"/>
          <c:showBubbleSize val="0"/>
          <c:showLeaderLines val="1"/>
        </c:dLbls>
        <c:gapWidth val="50"/>
        <c:axId val="-2068027336"/>
        <c:axId val="-2113994440"/>
      </c:barChart>
      <c:catAx>
        <c:axId val="-2068027336"/>
        <c:scaling>
          <c:orientation val="maxMin"/>
        </c:scaling>
        <c:delete val="0"/>
        <c:axPos val="l"/>
        <c:majorTickMark val="out"/>
        <c:minorTickMark val="none"/>
        <c:tickLblPos val="nextTo"/>
        <c:spPr>
          <a:ln>
            <a:solidFill>
              <a:srgbClr val="D1D1D1"/>
            </a:solidFill>
          </a:ln>
        </c:spPr>
        <c:crossAx val="-2113994440"/>
        <c:crosses val="autoZero"/>
        <c:auto val="1"/>
        <c:lblAlgn val="ctr"/>
        <c:lblOffset val="100"/>
        <c:noMultiLvlLbl val="0"/>
      </c:catAx>
      <c:valAx>
        <c:axId val="-2113994440"/>
        <c:scaling>
          <c:min val="6000000.0"/>
        </c:scaling>
        <c:delete val="0"/>
        <c:axPos val="b"/>
        <c:majorGridlines>
          <c:spPr>
            <a:ln w="6350">
              <a:solidFill>
                <a:srgbClr val="D1D1D1"/>
              </a:solidFill>
            </a:ln>
          </c:spPr>
        </c:majorGridlines>
        <c:numFmt formatCode="0.0,,&quot;M&quot;"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100">
          <a:solidFill>
            <a:srgbClr val="5A5A5A"/>
          </a:solidFil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1F1F1F"/>
                </a:solidFill>
              </a:rPr>
              <a:t>Test-set metrics (delayed = positive class)</a:t>
            </a:r>
          </a:p>
        </c:rich>
      </c:tx>
      <c:layout/>
      <c:overlay val="0"/>
    </c:title>
    <c:autoTitleDeleted val="0"/>
    <c:plotArea>
      <c:barChart>
        <c:barDir val="col"/>
        <c:grouping val="clustered"/>
        <c:ser>
          <c:idx val="0"/>
          <c:order val="0"/>
          <c:tx>
            <c:strRef>
              <c:f>Sheet1!$B$1</c:f>
              <c:strCache>
                <c:ptCount val="1"/>
                <c:pt idx="0">
                  <c:v>Logistic Regression</c:v>
                </c:pt>
              </c:strCache>
            </c:strRef>
          </c:tx>
          <c:spPr>
            <a:solidFill>
              <a:srgbClr val="00A0FF"/>
            </a:solidFill>
          </c:spPr>
          <c:cat>
            <c:strRef>
              <c:f>Sheet1!$A$2:$A$6</c:f>
              <c:strCache>
                <c:ptCount val="5"/>
                <c:pt idx="0">
                  <c:v>Precision</c:v>
                </c:pt>
                <c:pt idx="1">
                  <c:v>Recall</c:v>
                </c:pt>
                <c:pt idx="2">
                  <c:v>F1</c:v>
                </c:pt>
                <c:pt idx="3">
                  <c:v>ROC-AUC</c:v>
                </c:pt>
                <c:pt idx="4">
                  <c:v>PR-AUC</c:v>
                </c:pt>
              </c:strCache>
            </c:strRef>
          </c:cat>
          <c:val>
            <c:numRef>
              <c:f>Sheet1!$B$2:$B$6</c:f>
              <c:numCache>
                <c:formatCode>General</c:formatCode>
                <c:ptCount val="5"/>
                <c:pt idx="0">
                  <c:v>0.325</c:v>
                </c:pt>
                <c:pt idx="1">
                  <c:v>0.638</c:v>
                </c:pt>
                <c:pt idx="2">
                  <c:v>0.431</c:v>
                </c:pt>
                <c:pt idx="3">
                  <c:v>0.676</c:v>
                </c:pt>
                <c:pt idx="4">
                  <c:v>0.368</c:v>
                </c:pt>
              </c:numCache>
            </c:numRef>
          </c:val>
        </c:ser>
        <c:ser>
          <c:idx val="1"/>
          <c:order val="1"/>
          <c:tx>
            <c:strRef>
              <c:f>Sheet1!$C$1</c:f>
              <c:strCache>
                <c:ptCount val="1"/>
                <c:pt idx="0">
                  <c:v>Random Forest</c:v>
                </c:pt>
              </c:strCache>
            </c:strRef>
          </c:tx>
          <c:spPr>
            <a:solidFill>
              <a:srgbClr val="621360"/>
            </a:solidFill>
          </c:spPr>
          <c:cat>
            <c:strRef>
              <c:f>Sheet1!$A$2:$A$6</c:f>
              <c:strCache>
                <c:ptCount val="5"/>
                <c:pt idx="0">
                  <c:v>Precision</c:v>
                </c:pt>
                <c:pt idx="1">
                  <c:v>Recall</c:v>
                </c:pt>
                <c:pt idx="2">
                  <c:v>F1</c:v>
                </c:pt>
                <c:pt idx="3">
                  <c:v>ROC-AUC</c:v>
                </c:pt>
                <c:pt idx="4">
                  <c:v>PR-AUC</c:v>
                </c:pt>
              </c:strCache>
            </c:strRef>
          </c:cat>
          <c:val>
            <c:numRef>
              <c:f>Sheet1!$C$2:$C$6</c:f>
              <c:numCache>
                <c:formatCode>General</c:formatCode>
                <c:ptCount val="5"/>
                <c:pt idx="0">
                  <c:v>0.362</c:v>
                </c:pt>
                <c:pt idx="1">
                  <c:v>0.63</c:v>
                </c:pt>
                <c:pt idx="2">
                  <c:v>0.46</c:v>
                </c:pt>
                <c:pt idx="3">
                  <c:v>0.715</c:v>
                </c:pt>
                <c:pt idx="4">
                  <c:v>0.457</c:v>
                </c:pt>
              </c:numCache>
            </c:numRef>
          </c:val>
        </c:ser>
        <c:ser>
          <c:idx val="2"/>
          <c:order val="2"/>
          <c:tx>
            <c:strRef>
              <c:f>Sheet1!$D$1</c:f>
              <c:strCache>
                <c:ptCount val="1"/>
                <c:pt idx="0">
                  <c:v>Gradient-Boosted Trees</c:v>
                </c:pt>
              </c:strCache>
            </c:strRef>
          </c:tx>
          <c:spPr>
            <a:solidFill>
              <a:srgbClr val="1BAF7A"/>
            </a:solidFill>
          </c:spPr>
          <c:cat>
            <c:strRef>
              <c:f>Sheet1!$A$2:$A$6</c:f>
              <c:strCache>
                <c:ptCount val="5"/>
                <c:pt idx="0">
                  <c:v>Precision</c:v>
                </c:pt>
                <c:pt idx="1">
                  <c:v>Recall</c:v>
                </c:pt>
                <c:pt idx="2">
                  <c:v>F1</c:v>
                </c:pt>
                <c:pt idx="3">
                  <c:v>ROC-AUC</c:v>
                </c:pt>
                <c:pt idx="4">
                  <c:v>PR-AUC</c:v>
                </c:pt>
              </c:strCache>
            </c:strRef>
          </c:cat>
          <c:val>
            <c:numRef>
              <c:f>Sheet1!$D$2:$D$6</c:f>
              <c:numCache>
                <c:formatCode>General</c:formatCode>
                <c:ptCount val="5"/>
                <c:pt idx="0">
                  <c:v>0.4</c:v>
                </c:pt>
                <c:pt idx="1">
                  <c:v>0.598</c:v>
                </c:pt>
                <c:pt idx="2">
                  <c:v>0.479</c:v>
                </c:pt>
                <c:pt idx="3">
                  <c:v>0.735</c:v>
                </c:pt>
                <c:pt idx="4">
                  <c:v>0.482</c:v>
                </c:pt>
              </c:numCache>
            </c:numRef>
          </c:val>
        </c:ser>
        <c:gapWidth val="60"/>
        <c:overlap val="-5"/>
        <c:axId val="-2068027336"/>
        <c:axId val="-2113994440"/>
      </c:barChart>
      <c:catAx>
        <c:axId val="-2068027336"/>
        <c:scaling>
          <c:orientation val="minMax"/>
        </c:scaling>
        <c:delete val="0"/>
        <c:axPos val="b"/>
        <c:majorTickMark val="out"/>
        <c:minorTickMark val="none"/>
        <c:tickLblPos val="nextTo"/>
        <c:spPr>
          <a:ln>
            <a:solidFill>
              <a:srgbClr val="D1D1D1"/>
            </a:solidFill>
          </a:ln>
        </c:spPr>
        <c:crossAx val="-2113994440"/>
        <c:crosses val="autoZero"/>
        <c:auto val="1"/>
        <c:lblAlgn val="ctr"/>
        <c:lblOffset val="100"/>
        <c:noMultiLvlLbl val="0"/>
      </c:catAx>
      <c:valAx>
        <c:axId val="-2113994440"/>
        <c:scaling>
          <c:max val="1.0"/>
          <c:min val="0.0"/>
        </c:scaling>
        <c:delete val="0"/>
        <c:axPos val="l"/>
        <c:majorGridlines>
          <c:spPr>
            <a:ln w="6350">
              <a:solidFill>
                <a:srgbClr val="D1D1D1"/>
              </a:solidFill>
            </a:ln>
          </c:spPr>
        </c:majorGridlines>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100"/>
          </a:pPr>
        </a:p>
      </c:txPr>
    </c:legend>
    <c:dispBlanksAs val="gap"/>
  </c:chart>
  <c:txPr>
    <a:bodyPr/>
    <a:lstStyle/>
    <a:p>
      <a:pPr>
        <a:defRPr sz="1100">
          <a:solidFill>
            <a:srgbClr val="5A5A5A"/>
          </a:solidFil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1F1F1F"/>
                </a:solidFill>
              </a:rPr>
              <a:t>ROC-AUC: random vs temporal test</a:t>
            </a:r>
          </a:p>
        </c:rich>
      </c:tx>
      <c:layout/>
      <c:overlay val="0"/>
    </c:title>
    <c:autoTitleDeleted val="0"/>
    <c:plotArea>
      <c:barChart>
        <c:barDir val="col"/>
        <c:grouping val="clustered"/>
        <c:ser>
          <c:idx val="0"/>
          <c:order val="0"/>
          <c:tx>
            <c:strRef>
              <c:f>Sheet1!$B$1</c:f>
              <c:strCache>
                <c:ptCount val="1"/>
                <c:pt idx="0">
                  <c:v>Random split</c:v>
                </c:pt>
              </c:strCache>
            </c:strRef>
          </c:tx>
          <c:spPr>
            <a:solidFill>
              <a:srgbClr val="621360"/>
            </a:solidFill>
          </c:spPr>
          <c:cat>
            <c:strRef>
              <c:f>Sheet1!$A$2:$A$4</c:f>
              <c:strCache>
                <c:ptCount val="3"/>
                <c:pt idx="0">
                  <c:v>LR</c:v>
                </c:pt>
                <c:pt idx="1">
                  <c:v>RF</c:v>
                </c:pt>
                <c:pt idx="2">
                  <c:v>GBT</c:v>
                </c:pt>
              </c:strCache>
            </c:strRef>
          </c:cat>
          <c:val>
            <c:numRef>
              <c:f>Sheet1!$B$2:$B$4</c:f>
              <c:numCache>
                <c:formatCode>General</c:formatCode>
                <c:ptCount val="3"/>
                <c:pt idx="0">
                  <c:v>0.676</c:v>
                </c:pt>
                <c:pt idx="1">
                  <c:v>0.715</c:v>
                </c:pt>
                <c:pt idx="2">
                  <c:v>0.735</c:v>
                </c:pt>
              </c:numCache>
            </c:numRef>
          </c:val>
        </c:ser>
        <c:ser>
          <c:idx val="1"/>
          <c:order val="1"/>
          <c:tx>
            <c:strRef>
              <c:f>Sheet1!$C$1</c:f>
              <c:strCache>
                <c:ptCount val="1"/>
                <c:pt idx="0">
                  <c:v>Temporal (Oct–Dec)</c:v>
                </c:pt>
              </c:strCache>
            </c:strRef>
          </c:tx>
          <c:spPr>
            <a:solidFill>
              <a:srgbClr val="AD84C6"/>
            </a:solidFill>
          </c:spPr>
          <c:cat>
            <c:strRef>
              <c:f>Sheet1!$A$2:$A$4</c:f>
              <c:strCache>
                <c:ptCount val="3"/>
                <c:pt idx="0">
                  <c:v>LR</c:v>
                </c:pt>
                <c:pt idx="1">
                  <c:v>RF</c:v>
                </c:pt>
                <c:pt idx="2">
                  <c:v>GBT</c:v>
                </c:pt>
              </c:strCache>
            </c:strRef>
          </c:cat>
          <c:val>
            <c:numRef>
              <c:f>Sheet1!$C$2:$C$4</c:f>
              <c:numCache>
                <c:formatCode>General</c:formatCode>
                <c:ptCount val="3"/>
                <c:pt idx="0">
                  <c:v>0.603</c:v>
                </c:pt>
                <c:pt idx="1">
                  <c:v>0.672</c:v>
                </c:pt>
                <c:pt idx="2">
                  <c:v>0.679</c:v>
                </c:pt>
              </c:numCache>
            </c:numRef>
          </c:val>
        </c:ser>
        <c:dLbls>
          <c:numFmt formatCode="0.000" sourceLinked="0"/>
          <c:txPr>
            <a:bodyPr/>
            <a:lstStyle/>
            <a:p>
              <a:pPr>
                <a:defRPr sz="9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1D1D1"/>
            </a:solidFill>
          </a:ln>
        </c:spPr>
        <c:crossAx val="-2113994440"/>
        <c:crosses val="autoZero"/>
        <c:auto val="1"/>
        <c:lblAlgn val="ctr"/>
        <c:lblOffset val="100"/>
        <c:noMultiLvlLbl val="0"/>
      </c:catAx>
      <c:valAx>
        <c:axId val="-2113994440"/>
        <c:scaling>
          <c:max val="0.8"/>
          <c:min val="0.5"/>
        </c:scaling>
        <c:delete val="0"/>
        <c:axPos val="l"/>
        <c:majorGridlines>
          <c:spPr>
            <a:ln w="6350">
              <a:solidFill>
                <a:srgbClr val="D1D1D1"/>
              </a:solidFill>
            </a:ln>
          </c:spPr>
        </c:majorGridlines>
        <c:majorTickMark val="out"/>
        <c:minorTickMark val="none"/>
        <c:tickLblPos val="nextTo"/>
        <c:spPr>
          <a:ln>
            <a:noFill/>
          </a:ln>
        </c:spPr>
        <c:txPr>
          <a:bodyPr/>
          <a:lstStyle/>
          <a:p>
            <a:pPr>
              <a:defRPr sz="900"/>
            </a:pPr>
          </a:p>
        </c:txPr>
        <c:crossAx val="-2068027336"/>
        <c:crosses val="autoZero"/>
      </c:valAx>
    </c:plotArea>
    <c:legend>
      <c:legendPos val="b"/>
      <c:overlay val="0"/>
      <c:txPr>
        <a:bodyPr/>
        <a:lstStyle/>
        <a:p>
          <a:pPr>
            <a:defRPr sz="1000"/>
          </a:pPr>
        </a:p>
      </c:txPr>
    </c:legend>
    <c:dispBlanksAs val="gap"/>
  </c:chart>
  <c:txPr>
    <a:bodyPr/>
    <a:lstStyle/>
    <a:p>
      <a:pPr>
        <a:defRPr sz="1000">
          <a:solidFill>
            <a:srgbClr val="5A5A5A"/>
          </a:solidFill>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a:extLst>
              <a:ext uri="{FF2B5EF4-FFF2-40B4-BE49-F238E27FC236}">
                <a16:creationId xmlns:a16="http://schemas.microsoft.com/office/drawing/2014/main" id="{0E4229BE-3042-445E-A20F-5C7D3641F6A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a:extLst>
              <a:ext uri="{FF2B5EF4-FFF2-40B4-BE49-F238E27FC236}">
                <a16:creationId xmlns:a16="http://schemas.microsoft.com/office/drawing/2014/main" id="{8E4FDFC6-9B57-4F21-A98F-E2EB361EAA5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C94FE1C-325C-4DC8-BBC1-0282F71A5968}" type="datetimeFigureOut">
              <a:rPr lang="en-GB" smtClean="0"/>
              <a:t>26/09/2026</a:t>
            </a:fld>
            <a:endParaRPr lang="en-GB"/>
          </a:p>
        </p:txBody>
      </p:sp>
      <p:sp>
        <p:nvSpPr>
          <p:cNvPr id="4" name="Tijdelijke aanduiding voor voettekst 3">
            <a:extLst>
              <a:ext uri="{FF2B5EF4-FFF2-40B4-BE49-F238E27FC236}">
                <a16:creationId xmlns:a16="http://schemas.microsoft.com/office/drawing/2014/main" id="{5A57F86A-4E50-47AC-8466-D6EC7B6B873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Tijdelijke aanduiding voor dianummer 4">
            <a:extLst>
              <a:ext uri="{FF2B5EF4-FFF2-40B4-BE49-F238E27FC236}">
                <a16:creationId xmlns:a16="http://schemas.microsoft.com/office/drawing/2014/main" id="{0A0FE093-C2FD-4CBB-9E23-E2A31EC0B3B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691801E-884E-4CFF-9FDA-DB575CD03544}" type="slidenum">
              <a:rPr lang="en-GB" smtClean="0"/>
              <a:t>‹#›</a:t>
            </a:fld>
            <a:endParaRPr lang="en-GB"/>
          </a:p>
        </p:txBody>
      </p:sp>
    </p:spTree>
    <p:extLst>
      <p:ext uri="{BB962C8B-B14F-4D97-AF65-F5344CB8AC3E}">
        <p14:creationId xmlns:p14="http://schemas.microsoft.com/office/powerpoint/2010/main" val="4234362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8AF676-6C75-4EB8-89B0-06311F1A4E75}" type="datetimeFigureOut">
              <a:rPr lang="en-GB" smtClean="0"/>
              <a:t>26/09/2026</a:t>
            </a:fld>
            <a:endParaRPr lang="en-GB"/>
          </a:p>
        </p:txBody>
      </p:sp>
      <p:sp>
        <p:nvSpPr>
          <p:cNvPr id="4" name="Tijdelijke aanduiding voor dia-afbeelding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AA84D8-D690-4E28-AF9C-7EC52C5D5E1A}" type="slidenum">
              <a:rPr lang="en-GB" smtClean="0"/>
              <a:t>‹#›</a:t>
            </a:fld>
            <a:endParaRPr lang="en-GB"/>
          </a:p>
        </p:txBody>
      </p:sp>
      <p:sp>
        <p:nvSpPr>
          <p:cNvPr id="8" name="Notes Placeholder"/>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lang="en-GB"/>
              <a:t>Click to edit Master text styles</a:t>
            </a:r>
          </a:p>
        </p:txBody>
      </p:sp>
    </p:spTree>
    <p:extLst>
      <p:ext uri="{BB962C8B-B14F-4D97-AF65-F5344CB8AC3E}">
        <p14:creationId xmlns:p14="http://schemas.microsoft.com/office/powerpoint/2010/main" val="39769233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[0:00-0:24]  Hello, my name is [your name], and this is my Big Data and Machine Learning Applications project: predicting airline flight delays with Apache Spark. I used every U.S. domestic flight from 2025, 7,001,619 of them, to test one practical question: can we tell, before a plane even leaves the gate, that it is going to arrive late?</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[0:24-1:03]  Delays matter because they are expensive. A major U.S. study estimated the cost at around 33 billion dollars in 2007 alone, shared between airlines, passengers and lost demand. The industry uses a simple rule: a flight that arrives 15 minutes or more after schedule counts as delayed. The Bureau of Transportation Statistics publishes a record for every domestic flight, which gives us millions of labelled examples. If risky flights can be flagged early, airlines can re-plan crews and spare aircraft, and passengers with tight connections can be warned.</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[1:03-1:41]  So the problem statement is: using only information known before departure, will this flight arrive 15 or more minutes late? That makes it a binary classification problem. The 'before departure' condition is the important part. Many online examples use the departure delay as an input, but you only know that once the plane has left, so the model looks accurate but is useless in practice. My approach is to process the whole year with Spark, build features from the schedule only, and compare three Spark MLlib classifiers fairly.</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[1:41-2:09]  I set five objectives: ingest and clean all twelve monthly files in Spark; engineer features with no target leakage; train Logistic Regression, Random Forest and Gradient-Boosted Trees; evaluate them with metrics that suit an imbalanced problem, plus training time; and show how the pipeline scales out. The scope is all 2025 U.S. domestic flights, using schedule information only, running on a free Google Colab machine.</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[2:09-2:44]  The data is the official BTS on-time performance table: twelve monthly CSV files, 3.17 gigabytes, and 7,001,619 flights. Each file has about 110 columns, but I only load 17 of them, for leakage reasons I'll come back to. After cleaning, 22.31% of flights are delayed. So the classes are imbalanced: a model that always says 'on time' would already score 77.70% accuracy. One early optimisation was converting the CSVs to Parquet once; after that, the same query ran 25.1x faster.</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[2:44-3:21]  Exploring the data showed two patterns that shaped my features. On the left, the delay rate by scheduled departure hour: only about 9 percent of 5am departures arrive late, but by 7pm it's around a third. On the right, the later the leg of the day for an aircraft, the more likely it is to be late, and very tight turnarounds under 40 minutes have a 38 percent delay rate. Delays roll forward through an aircraft's day, so I built features that capture exactly that.</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[3:21-3:54]  This is the whole pipeline. The twelve files sit in Google Drive. Spark reads each month, maps the column names, keeps only the allowed columns and unions them into one DataFrame. That is written once to Parquet, which also acts as a checkpoint. Then come the schedule features, cleaning and the label. The second row is the machine learning layer: split, encode, train, tune and evaluate, and finally export every chart and table used in my report.</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[3:54-4:11]  The technology stack is Apache Spark through PySpark, with MLlib for the models and Spark SQL with Parquet for the data processing, Python for plotting, and Google Colab for compute, with the data and checkpoints stored in Google Drive.</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[4:11-4:51]  Cleaning followed the brief: remove cancelled and diverted flights and rows with no arrival delay, then duplicates and impossible values, which leaves 6,879,483 flights. The bigger issue is leakage. Columns such as wheels-on time or the delay-cause minutes are only known after landing, so they are never loaded. I also excluded departure delay and taxi-out time. There's a subtle trap too: if you count flights per hour after removing cancellations, a stormy day looks quiet, and the feature leaks the outcome. So those counts are calculated on the full schedule first.</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[4:51-5:31]  I ended up with 39 features in four groups, all known in advance: calendar and time, including how close the date is to a public holiday; basic flight details; airport congestion, meaning how many flights are scheduled at the same airport in the same hour; and aircraft rotation, built with a Spark window function over each tail number. Airports and routes have thousands of values, which would explode the feature space and break Spark's tree limits, so I replaced each with its smoothed historical delay rate, fitted on the training data only.</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[5:31-6:10]  Here is the training pipeline. The data is split 70, 10 and 20 percent into train, validation and test sets. Because Colab only has two cores, models were trained on a 30% sample of the training set, but validation and test were always scored in full. Every model gets class weights, so delayed flights count as much as on-time ones. Each model is tuned with three-fold cross-validation on PR-AUC, the decision threshold is chosen on the validation set, and the test set is used only once, at the end.</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[6:10-6:51]  These are the test results. Gradient-Boosted Trees came out best, with an F1 of 0.479 and a ROC-AUC of 0.735. Notice the last row of the table: a 'model' that always says on time gets 77.70% accuracy and catches zero delays. That's why accuracy on its own is misleading here, and why I focus on recall, F1 and PR-AUC instead. Both tree models clearly beat Logistic Regression, so the non-linear interactions matter. Tuning improved Random Forest, but doubled its training time, and boosting still beat it while training in less than a quarter of the time.</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[6:51-7:35]  What is the model actually using? The left chart shows permutation importance: how much accuracy drops when one feature is shuffled. The two that matter most are the historical delay rate of that airport at that hour, and the scheduled turnaround time, which is the delay-propagation story again. On the right is my strictest test: train on January to September, then predict October to December. ROC-AUC drops from 0.735 to 0.679 for boosting. A random split lets the model learn specific storm days that also appear in the test set, so this temporal figure is the honest estimate for real use.</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[7:35-8:14]  The project had some real challenges. My first full run was disconnected by Colab after more than three hours, so I added Parquet checkpoints, saved results after every model, and a resume option that reuses the tuned settings. On Colab's Spark 4, the feature-importance labels were silently shifted; I only caught it because Logistic Regression claimed day-of-week was its strongest feature, which made no sense. I fixed it and added an assertion. And throughout, I had to control leakage, handle the imbalance, and fit three gigabytes into a twelve-gigabyte machine.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[8:14-8:42]  For future work, weather forecasts are the biggest missing signal, so joining NOAA data would come first. I'd also try XGBoost or LightGBM on Spark with GPU acceleration, train on the full data on a real Dataproc cluster, where the same code simply runs on more executors, and use Spark Structured Streaming to update predictions on the day as earlier flights report delays.</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[8:42-9:11]  To conclude: I built a complete, leakage-free Spark pipeline over every U.S. domestic flight in 2025, and Gradient-Boosted Trees performed best. The biggest lessons were about evaluation rather than algorithms: handling the imbalance, choosing the threshold for the business need, and testing honestly on future months. Schedule-only prediction works, but it has a ceiling, so weather data and on-the-day updates are where the next gains will come from.</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[9:11-9:19]  Thank you very much for watching. The full code, results and report are included in my submission.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a_Title slide">
    <p:spTree>
      <p:nvGrpSpPr>
        <p:cNvPr id="1" name=""/>
        <p:cNvGrpSpPr/>
        <p:nvPr/>
      </p:nvGrpSpPr>
      <p:grpSpPr>
        <a:xfrm>
          <a:off x="0" y="0"/>
          <a:ext cx="0" cy="0"/>
          <a:chOff x="0" y="0"/>
          <a:chExt cx="0" cy="0"/>
        </a:xfrm>
      </p:grpSpPr>
      <p:sp>
        <p:nvSpPr>
          <p:cNvPr id="8" name="Rechthoek 17">
            <a:extLst>
              <a:ext uri="{FF2B5EF4-FFF2-40B4-BE49-F238E27FC236}">
                <a16:creationId xmlns:a16="http://schemas.microsoft.com/office/drawing/2014/main" id="{552F9B91-4010-4562-9359-EED6891B29B8}"/>
              </a:ext>
            </a:extLst>
          </p:cNvPr>
          <p:cNvSpPr/>
          <p:nvPr userDrawn="1"/>
        </p:nvSpPr>
        <p:spPr>
          <a:xfrm>
            <a:off x="8810624" y="3415144"/>
            <a:ext cx="333376" cy="3442856"/>
          </a:xfrm>
          <a:prstGeom prst="rect">
            <a:avLst/>
          </a:prstGeom>
          <a:solidFill>
            <a:srgbClr val="3C023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1" name="Rechthoek 15">
            <a:extLst>
              <a:ext uri="{FF2B5EF4-FFF2-40B4-BE49-F238E27FC236}">
                <a16:creationId xmlns:a16="http://schemas.microsoft.com/office/drawing/2014/main" id="{1D820570-21E1-43AC-BE0D-02ADF7C4CF21}"/>
              </a:ext>
            </a:extLst>
          </p:cNvPr>
          <p:cNvSpPr/>
          <p:nvPr userDrawn="1"/>
        </p:nvSpPr>
        <p:spPr>
          <a:xfrm>
            <a:off x="8810624" y="0"/>
            <a:ext cx="336879" cy="342597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7" name="Afbeelding 22">
            <a:extLst>
              <a:ext uri="{FF2B5EF4-FFF2-40B4-BE49-F238E27FC236}">
                <a16:creationId xmlns:a16="http://schemas.microsoft.com/office/drawing/2014/main" id="{E63E3581-10E1-4073-944D-F8E146E1713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7330" y="546281"/>
            <a:ext cx="3919535" cy="1394901"/>
          </a:xfrm>
          <a:prstGeom prst="rect">
            <a:avLst/>
          </a:prstGeom>
          <a:noFill/>
          <a:ln>
            <a:noFill/>
          </a:ln>
        </p:spPr>
      </p:pic>
      <p:sp>
        <p:nvSpPr>
          <p:cNvPr id="9" name="Titel 1">
            <a:extLst>
              <a:ext uri="{FF2B5EF4-FFF2-40B4-BE49-F238E27FC236}">
                <a16:creationId xmlns:a16="http://schemas.microsoft.com/office/drawing/2014/main" id="{A199696C-1A0F-4C0D-85B6-89CC710B7380}"/>
              </a:ext>
            </a:extLst>
          </p:cNvPr>
          <p:cNvSpPr>
            <a:spLocks noGrp="1"/>
          </p:cNvSpPr>
          <p:nvPr>
            <p:ph type="ctrTitle" hasCustomPrompt="1"/>
          </p:nvPr>
        </p:nvSpPr>
        <p:spPr>
          <a:xfrm>
            <a:off x="704983" y="3991479"/>
            <a:ext cx="7632772" cy="1167973"/>
          </a:xfrm>
          <a:prstGeom prst="rect">
            <a:avLst/>
          </a:prstGeom>
        </p:spPr>
        <p:txBody>
          <a:bodyPr anchor="t">
            <a:noAutofit/>
          </a:bodyPr>
          <a:lstStyle>
            <a:lvl1pPr algn="l">
              <a:lnSpc>
                <a:spcPts val="4500"/>
              </a:lnSpc>
              <a:defRPr sz="4400" spc="70" baseline="0">
                <a:solidFill>
                  <a:schemeClr val="tx2"/>
                </a:solidFill>
                <a:latin typeface="Calibri bold" panose="020F0702030404030204" pitchFamily="34" charset="0"/>
                <a:cs typeface="Calibri bold" panose="020F0702030404030204" pitchFamily="34" charset="0"/>
              </a:defRPr>
            </a:lvl1pPr>
          </a:lstStyle>
          <a:p>
            <a:r>
              <a:rPr lang="nl-NL" dirty="0"/>
              <a:t>CLICK TO EDIT TITLE</a:t>
            </a:r>
            <a:endParaRPr lang="en-GB" dirty="0"/>
          </a:p>
        </p:txBody>
      </p:sp>
      <p:sp>
        <p:nvSpPr>
          <p:cNvPr id="12" name="Ondertitel 2">
            <a:extLst>
              <a:ext uri="{FF2B5EF4-FFF2-40B4-BE49-F238E27FC236}">
                <a16:creationId xmlns:a16="http://schemas.microsoft.com/office/drawing/2014/main" id="{7D927364-844D-4A85-B6EB-FBFEED2E4891}"/>
              </a:ext>
            </a:extLst>
          </p:cNvPr>
          <p:cNvSpPr>
            <a:spLocks noGrp="1"/>
          </p:cNvSpPr>
          <p:nvPr>
            <p:ph type="subTitle" idx="1" hasCustomPrompt="1"/>
          </p:nvPr>
        </p:nvSpPr>
        <p:spPr>
          <a:xfrm>
            <a:off x="713346" y="5228105"/>
            <a:ext cx="4172979" cy="351565"/>
          </a:xfrm>
          <a:prstGeom prst="rect">
            <a:avLst/>
          </a:prstGeom>
        </p:spPr>
        <p:txBody>
          <a:bodyPr>
            <a:noAutofit/>
          </a:bodyPr>
          <a:lstStyle>
            <a:lvl1pPr marL="0" indent="0" algn="l">
              <a:buNone/>
              <a:defRPr sz="2000" spc="50" baseline="0">
                <a:solidFill>
                  <a:schemeClr val="tx2"/>
                </a:solidFill>
                <a:latin typeface="+mn-lt"/>
                <a:ea typeface="Aero Light" pitchFamily="50" charset="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dirty="0"/>
              <a:t>Click to edit subtitle </a:t>
            </a:r>
            <a:endParaRPr lang="en-GB" dirty="0"/>
          </a:p>
        </p:txBody>
      </p:sp>
      <p:sp>
        <p:nvSpPr>
          <p:cNvPr id="13" name="Tijdelijke aanduiding voor tekst 9">
            <a:extLst>
              <a:ext uri="{FF2B5EF4-FFF2-40B4-BE49-F238E27FC236}">
                <a16:creationId xmlns:a16="http://schemas.microsoft.com/office/drawing/2014/main" id="{BFA6C715-12C9-4F92-B6DE-60323A6EC88F}"/>
              </a:ext>
            </a:extLst>
          </p:cNvPr>
          <p:cNvSpPr>
            <a:spLocks noGrp="1"/>
          </p:cNvSpPr>
          <p:nvPr>
            <p:ph type="body" sz="quarter" idx="11" hasCustomPrompt="1"/>
          </p:nvPr>
        </p:nvSpPr>
        <p:spPr>
          <a:xfrm>
            <a:off x="704983" y="5788551"/>
            <a:ext cx="5823635" cy="681075"/>
          </a:xfrm>
          <a:prstGeom prst="rect">
            <a:avLst/>
          </a:prstGeom>
        </p:spPr>
        <p:txBody>
          <a:bodyPr>
            <a:noAutofit/>
          </a:bodyPr>
          <a:lstStyle>
            <a:lvl1pPr marL="0" indent="0">
              <a:buNone/>
              <a:defRPr sz="2000" spc="50" baseline="0">
                <a:solidFill>
                  <a:schemeClr val="tx2"/>
                </a:solidFill>
                <a:latin typeface="+mj-lt"/>
                <a:ea typeface="Aero Light" pitchFamily="50" charset="2"/>
              </a:defRPr>
            </a:lvl1pPr>
          </a:lstStyle>
          <a:p>
            <a:pPr lvl="0"/>
            <a:r>
              <a:rPr lang="nl-NL" dirty="0"/>
              <a:t>Click to add presenter’s name and job title</a:t>
            </a:r>
          </a:p>
        </p:txBody>
      </p:sp>
      <p:sp>
        <p:nvSpPr>
          <p:cNvPr id="3" name="Picture Placeholder 2"/>
          <p:cNvSpPr>
            <a:spLocks noGrp="1"/>
          </p:cNvSpPr>
          <p:nvPr>
            <p:ph type="pic" sz="quarter" idx="12"/>
          </p:nvPr>
        </p:nvSpPr>
        <p:spPr>
          <a:xfrm>
            <a:off x="4886325" y="566738"/>
            <a:ext cx="3924300" cy="2862262"/>
          </a:xfrm>
          <a:prstGeom prst="rect">
            <a:avLst/>
          </a:prstGeom>
        </p:spPr>
        <p:txBody>
          <a:bodyPr/>
          <a:lstStyle/>
          <a:p>
            <a:endParaRPr lang="en-GB"/>
          </a:p>
        </p:txBody>
      </p:sp>
    </p:spTree>
    <p:extLst>
      <p:ext uri="{BB962C8B-B14F-4D97-AF65-F5344CB8AC3E}">
        <p14:creationId xmlns:p14="http://schemas.microsoft.com/office/powerpoint/2010/main" val="41548572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b_Title slide">
    <p:spTree>
      <p:nvGrpSpPr>
        <p:cNvPr id="1" name=""/>
        <p:cNvGrpSpPr/>
        <p:nvPr/>
      </p:nvGrpSpPr>
      <p:grpSpPr>
        <a:xfrm>
          <a:off x="0" y="0"/>
          <a:ext cx="0" cy="0"/>
          <a:chOff x="0" y="0"/>
          <a:chExt cx="0" cy="0"/>
        </a:xfrm>
      </p:grpSpPr>
      <p:sp>
        <p:nvSpPr>
          <p:cNvPr id="8" name="Rechthoek 17">
            <a:extLst>
              <a:ext uri="{FF2B5EF4-FFF2-40B4-BE49-F238E27FC236}">
                <a16:creationId xmlns:a16="http://schemas.microsoft.com/office/drawing/2014/main" id="{552F9B91-4010-4562-9359-EED6891B29B8}"/>
              </a:ext>
            </a:extLst>
          </p:cNvPr>
          <p:cNvSpPr/>
          <p:nvPr userDrawn="1"/>
        </p:nvSpPr>
        <p:spPr>
          <a:xfrm>
            <a:off x="8810624" y="3415144"/>
            <a:ext cx="333376" cy="3442856"/>
          </a:xfrm>
          <a:prstGeom prst="rect">
            <a:avLst/>
          </a:prstGeom>
          <a:solidFill>
            <a:srgbClr val="3C023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1" name="Rechthoek 15">
            <a:extLst>
              <a:ext uri="{FF2B5EF4-FFF2-40B4-BE49-F238E27FC236}">
                <a16:creationId xmlns:a16="http://schemas.microsoft.com/office/drawing/2014/main" id="{1D820570-21E1-43AC-BE0D-02ADF7C4CF21}"/>
              </a:ext>
            </a:extLst>
          </p:cNvPr>
          <p:cNvSpPr/>
          <p:nvPr userDrawn="1"/>
        </p:nvSpPr>
        <p:spPr>
          <a:xfrm>
            <a:off x="8810624" y="0"/>
            <a:ext cx="336879" cy="342597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7" name="Afbeelding 22">
            <a:extLst>
              <a:ext uri="{FF2B5EF4-FFF2-40B4-BE49-F238E27FC236}">
                <a16:creationId xmlns:a16="http://schemas.microsoft.com/office/drawing/2014/main" id="{E63E3581-10E1-4073-944D-F8E146E1713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7330" y="546281"/>
            <a:ext cx="3919535" cy="1394901"/>
          </a:xfrm>
          <a:prstGeom prst="rect">
            <a:avLst/>
          </a:prstGeom>
          <a:noFill/>
          <a:ln>
            <a:noFill/>
          </a:ln>
        </p:spPr>
      </p:pic>
      <p:sp>
        <p:nvSpPr>
          <p:cNvPr id="9" name="Titel 1">
            <a:extLst>
              <a:ext uri="{FF2B5EF4-FFF2-40B4-BE49-F238E27FC236}">
                <a16:creationId xmlns:a16="http://schemas.microsoft.com/office/drawing/2014/main" id="{A199696C-1A0F-4C0D-85B6-89CC710B7380}"/>
              </a:ext>
            </a:extLst>
          </p:cNvPr>
          <p:cNvSpPr>
            <a:spLocks noGrp="1"/>
          </p:cNvSpPr>
          <p:nvPr>
            <p:ph type="ctrTitle" hasCustomPrompt="1"/>
          </p:nvPr>
        </p:nvSpPr>
        <p:spPr>
          <a:xfrm>
            <a:off x="704983" y="3991479"/>
            <a:ext cx="4181342" cy="1167973"/>
          </a:xfrm>
          <a:prstGeom prst="rect">
            <a:avLst/>
          </a:prstGeom>
        </p:spPr>
        <p:txBody>
          <a:bodyPr anchor="t">
            <a:noAutofit/>
          </a:bodyPr>
          <a:lstStyle>
            <a:lvl1pPr algn="l">
              <a:lnSpc>
                <a:spcPts val="4500"/>
              </a:lnSpc>
              <a:defRPr sz="4400" spc="70" baseline="0">
                <a:solidFill>
                  <a:schemeClr val="tx2"/>
                </a:solidFill>
                <a:latin typeface="Calibri bold" panose="020F0702030404030204" pitchFamily="34" charset="0"/>
                <a:cs typeface="Calibri bold" panose="020F0702030404030204" pitchFamily="34" charset="0"/>
              </a:defRPr>
            </a:lvl1pPr>
          </a:lstStyle>
          <a:p>
            <a:r>
              <a:rPr lang="nl-NL" dirty="0"/>
              <a:t>CLICK TO EDIT TITLE</a:t>
            </a:r>
            <a:endParaRPr lang="en-GB" dirty="0"/>
          </a:p>
        </p:txBody>
      </p:sp>
      <p:sp>
        <p:nvSpPr>
          <p:cNvPr id="12" name="Ondertitel 2">
            <a:extLst>
              <a:ext uri="{FF2B5EF4-FFF2-40B4-BE49-F238E27FC236}">
                <a16:creationId xmlns:a16="http://schemas.microsoft.com/office/drawing/2014/main" id="{7D927364-844D-4A85-B6EB-FBFEED2E4891}"/>
              </a:ext>
            </a:extLst>
          </p:cNvPr>
          <p:cNvSpPr>
            <a:spLocks noGrp="1"/>
          </p:cNvSpPr>
          <p:nvPr>
            <p:ph type="subTitle" idx="1" hasCustomPrompt="1"/>
          </p:nvPr>
        </p:nvSpPr>
        <p:spPr>
          <a:xfrm>
            <a:off x="713346" y="5228105"/>
            <a:ext cx="4172979" cy="351565"/>
          </a:xfrm>
          <a:prstGeom prst="rect">
            <a:avLst/>
          </a:prstGeom>
        </p:spPr>
        <p:txBody>
          <a:bodyPr>
            <a:noAutofit/>
          </a:bodyPr>
          <a:lstStyle>
            <a:lvl1pPr marL="0" indent="0" algn="l">
              <a:buNone/>
              <a:defRPr sz="2000" spc="50" baseline="0">
                <a:solidFill>
                  <a:schemeClr val="tx2"/>
                </a:solidFill>
                <a:latin typeface="+mn-lt"/>
                <a:ea typeface="Aero Light" pitchFamily="50" charset="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dirty="0"/>
              <a:t>Click to edit subtitle </a:t>
            </a:r>
            <a:endParaRPr lang="en-GB" dirty="0"/>
          </a:p>
        </p:txBody>
      </p:sp>
      <p:sp>
        <p:nvSpPr>
          <p:cNvPr id="13" name="Tijdelijke aanduiding voor tekst 9">
            <a:extLst>
              <a:ext uri="{FF2B5EF4-FFF2-40B4-BE49-F238E27FC236}">
                <a16:creationId xmlns:a16="http://schemas.microsoft.com/office/drawing/2014/main" id="{BFA6C715-12C9-4F92-B6DE-60323A6EC88F}"/>
              </a:ext>
            </a:extLst>
          </p:cNvPr>
          <p:cNvSpPr>
            <a:spLocks noGrp="1"/>
          </p:cNvSpPr>
          <p:nvPr>
            <p:ph type="body" sz="quarter" idx="11" hasCustomPrompt="1"/>
          </p:nvPr>
        </p:nvSpPr>
        <p:spPr>
          <a:xfrm>
            <a:off x="704984" y="5788551"/>
            <a:ext cx="4181342" cy="681075"/>
          </a:xfrm>
          <a:prstGeom prst="rect">
            <a:avLst/>
          </a:prstGeom>
        </p:spPr>
        <p:txBody>
          <a:bodyPr>
            <a:noAutofit/>
          </a:bodyPr>
          <a:lstStyle>
            <a:lvl1pPr marL="0" indent="0">
              <a:buNone/>
              <a:defRPr sz="2000" spc="50" baseline="0">
                <a:solidFill>
                  <a:schemeClr val="tx2"/>
                </a:solidFill>
                <a:latin typeface="+mj-lt"/>
                <a:ea typeface="Aero Light" pitchFamily="50" charset="2"/>
              </a:defRPr>
            </a:lvl1pPr>
          </a:lstStyle>
          <a:p>
            <a:pPr lvl="0"/>
            <a:r>
              <a:rPr lang="nl-NL" dirty="0"/>
              <a:t>Click to add presenter’s name and job title</a:t>
            </a:r>
          </a:p>
        </p:txBody>
      </p:sp>
      <p:sp>
        <p:nvSpPr>
          <p:cNvPr id="3" name="Picture Placeholder 2"/>
          <p:cNvSpPr>
            <a:spLocks noGrp="1"/>
          </p:cNvSpPr>
          <p:nvPr>
            <p:ph type="pic" sz="quarter" idx="12"/>
          </p:nvPr>
        </p:nvSpPr>
        <p:spPr>
          <a:xfrm>
            <a:off x="4886325" y="546100"/>
            <a:ext cx="3924300" cy="5588000"/>
          </a:xfrm>
          <a:prstGeom prst="rect">
            <a:avLst/>
          </a:prstGeom>
        </p:spPr>
        <p:txBody>
          <a:bodyPr/>
          <a:lstStyle/>
          <a:p>
            <a:endParaRPr lang="en-GB"/>
          </a:p>
        </p:txBody>
      </p:sp>
    </p:spTree>
    <p:extLst>
      <p:ext uri="{BB962C8B-B14F-4D97-AF65-F5344CB8AC3E}">
        <p14:creationId xmlns:p14="http://schemas.microsoft.com/office/powerpoint/2010/main" val="22974640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c_Title slide">
    <p:spTree>
      <p:nvGrpSpPr>
        <p:cNvPr id="1" name=""/>
        <p:cNvGrpSpPr/>
        <p:nvPr/>
      </p:nvGrpSpPr>
      <p:grpSpPr>
        <a:xfrm>
          <a:off x="0" y="0"/>
          <a:ext cx="0" cy="0"/>
          <a:chOff x="0" y="0"/>
          <a:chExt cx="0" cy="0"/>
        </a:xfrm>
      </p:grpSpPr>
      <p:sp>
        <p:nvSpPr>
          <p:cNvPr id="8" name="Rechthoek 17">
            <a:extLst>
              <a:ext uri="{FF2B5EF4-FFF2-40B4-BE49-F238E27FC236}">
                <a16:creationId xmlns:a16="http://schemas.microsoft.com/office/drawing/2014/main" id="{552F9B91-4010-4562-9359-EED6891B29B8}"/>
              </a:ext>
            </a:extLst>
          </p:cNvPr>
          <p:cNvSpPr/>
          <p:nvPr userDrawn="1"/>
        </p:nvSpPr>
        <p:spPr>
          <a:xfrm>
            <a:off x="8810624" y="3415144"/>
            <a:ext cx="333376" cy="3442856"/>
          </a:xfrm>
          <a:prstGeom prst="rect">
            <a:avLst/>
          </a:prstGeom>
          <a:solidFill>
            <a:srgbClr val="3C023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1" name="Rechthoek 15">
            <a:extLst>
              <a:ext uri="{FF2B5EF4-FFF2-40B4-BE49-F238E27FC236}">
                <a16:creationId xmlns:a16="http://schemas.microsoft.com/office/drawing/2014/main" id="{1D820570-21E1-43AC-BE0D-02ADF7C4CF21}"/>
              </a:ext>
            </a:extLst>
          </p:cNvPr>
          <p:cNvSpPr/>
          <p:nvPr userDrawn="1"/>
        </p:nvSpPr>
        <p:spPr>
          <a:xfrm>
            <a:off x="8810624" y="0"/>
            <a:ext cx="336879" cy="342597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7" name="Afbeelding 22">
            <a:extLst>
              <a:ext uri="{FF2B5EF4-FFF2-40B4-BE49-F238E27FC236}">
                <a16:creationId xmlns:a16="http://schemas.microsoft.com/office/drawing/2014/main" id="{E63E3581-10E1-4073-944D-F8E146E1713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7330" y="546281"/>
            <a:ext cx="3919535" cy="1394901"/>
          </a:xfrm>
          <a:prstGeom prst="rect">
            <a:avLst/>
          </a:prstGeom>
          <a:noFill/>
          <a:ln>
            <a:noFill/>
          </a:ln>
        </p:spPr>
      </p:pic>
      <p:sp>
        <p:nvSpPr>
          <p:cNvPr id="9" name="Titel 1">
            <a:extLst>
              <a:ext uri="{FF2B5EF4-FFF2-40B4-BE49-F238E27FC236}">
                <a16:creationId xmlns:a16="http://schemas.microsoft.com/office/drawing/2014/main" id="{A199696C-1A0F-4C0D-85B6-89CC710B7380}"/>
              </a:ext>
            </a:extLst>
          </p:cNvPr>
          <p:cNvSpPr>
            <a:spLocks noGrp="1"/>
          </p:cNvSpPr>
          <p:nvPr>
            <p:ph type="ctrTitle" hasCustomPrompt="1"/>
          </p:nvPr>
        </p:nvSpPr>
        <p:spPr>
          <a:xfrm>
            <a:off x="704983" y="3991479"/>
            <a:ext cx="4181342" cy="1167973"/>
          </a:xfrm>
          <a:prstGeom prst="rect">
            <a:avLst/>
          </a:prstGeom>
        </p:spPr>
        <p:txBody>
          <a:bodyPr anchor="t">
            <a:noAutofit/>
          </a:bodyPr>
          <a:lstStyle>
            <a:lvl1pPr algn="l">
              <a:lnSpc>
                <a:spcPts val="4500"/>
              </a:lnSpc>
              <a:defRPr sz="4400" spc="70" baseline="0">
                <a:solidFill>
                  <a:schemeClr val="tx2"/>
                </a:solidFill>
                <a:latin typeface="Calibri bold" panose="020F0702030404030204" pitchFamily="34" charset="0"/>
                <a:cs typeface="Calibri bold" panose="020F0702030404030204" pitchFamily="34" charset="0"/>
              </a:defRPr>
            </a:lvl1pPr>
          </a:lstStyle>
          <a:p>
            <a:r>
              <a:rPr lang="nl-NL" dirty="0"/>
              <a:t>CLICK TO EDIT TITLE</a:t>
            </a:r>
            <a:endParaRPr lang="en-GB" dirty="0"/>
          </a:p>
        </p:txBody>
      </p:sp>
      <p:sp>
        <p:nvSpPr>
          <p:cNvPr id="12" name="Ondertitel 2">
            <a:extLst>
              <a:ext uri="{FF2B5EF4-FFF2-40B4-BE49-F238E27FC236}">
                <a16:creationId xmlns:a16="http://schemas.microsoft.com/office/drawing/2014/main" id="{7D927364-844D-4A85-B6EB-FBFEED2E4891}"/>
              </a:ext>
            </a:extLst>
          </p:cNvPr>
          <p:cNvSpPr>
            <a:spLocks noGrp="1"/>
          </p:cNvSpPr>
          <p:nvPr>
            <p:ph type="subTitle" idx="1" hasCustomPrompt="1"/>
          </p:nvPr>
        </p:nvSpPr>
        <p:spPr>
          <a:xfrm>
            <a:off x="713346" y="5228105"/>
            <a:ext cx="4172979" cy="351565"/>
          </a:xfrm>
          <a:prstGeom prst="rect">
            <a:avLst/>
          </a:prstGeom>
        </p:spPr>
        <p:txBody>
          <a:bodyPr>
            <a:noAutofit/>
          </a:bodyPr>
          <a:lstStyle>
            <a:lvl1pPr marL="0" indent="0" algn="l">
              <a:buNone/>
              <a:defRPr sz="2000" spc="50" baseline="0">
                <a:solidFill>
                  <a:schemeClr val="tx2"/>
                </a:solidFill>
                <a:latin typeface="+mn-lt"/>
                <a:ea typeface="Aero Light" pitchFamily="50" charset="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dirty="0"/>
              <a:t>Click to edit subtitle </a:t>
            </a:r>
            <a:endParaRPr lang="en-GB" dirty="0"/>
          </a:p>
        </p:txBody>
      </p:sp>
      <p:sp>
        <p:nvSpPr>
          <p:cNvPr id="13" name="Tijdelijke aanduiding voor tekst 9">
            <a:extLst>
              <a:ext uri="{FF2B5EF4-FFF2-40B4-BE49-F238E27FC236}">
                <a16:creationId xmlns:a16="http://schemas.microsoft.com/office/drawing/2014/main" id="{BFA6C715-12C9-4F92-B6DE-60323A6EC88F}"/>
              </a:ext>
            </a:extLst>
          </p:cNvPr>
          <p:cNvSpPr>
            <a:spLocks noGrp="1"/>
          </p:cNvSpPr>
          <p:nvPr>
            <p:ph type="body" sz="quarter" idx="11" hasCustomPrompt="1"/>
          </p:nvPr>
        </p:nvSpPr>
        <p:spPr>
          <a:xfrm>
            <a:off x="704984" y="5788551"/>
            <a:ext cx="4181342" cy="681075"/>
          </a:xfrm>
          <a:prstGeom prst="rect">
            <a:avLst/>
          </a:prstGeom>
        </p:spPr>
        <p:txBody>
          <a:bodyPr>
            <a:noAutofit/>
          </a:bodyPr>
          <a:lstStyle>
            <a:lvl1pPr marL="0" indent="0">
              <a:buNone/>
              <a:defRPr sz="2000" spc="50" baseline="0">
                <a:solidFill>
                  <a:schemeClr val="tx2"/>
                </a:solidFill>
                <a:latin typeface="+mj-lt"/>
                <a:ea typeface="Aero Light" pitchFamily="50" charset="2"/>
              </a:defRPr>
            </a:lvl1pPr>
          </a:lstStyle>
          <a:p>
            <a:pPr lvl="0"/>
            <a:r>
              <a:rPr lang="nl-NL" dirty="0"/>
              <a:t>Click to add presenter’s name </a:t>
            </a:r>
            <a:br>
              <a:rPr lang="nl-NL" dirty="0"/>
            </a:br>
            <a:r>
              <a:rPr lang="nl-NL" dirty="0"/>
              <a:t>Job title</a:t>
            </a:r>
          </a:p>
        </p:txBody>
      </p:sp>
      <p:sp>
        <p:nvSpPr>
          <p:cNvPr id="3" name="Picture Placeholder 2"/>
          <p:cNvSpPr>
            <a:spLocks noGrp="1"/>
          </p:cNvSpPr>
          <p:nvPr>
            <p:ph type="pic" sz="quarter" idx="12"/>
          </p:nvPr>
        </p:nvSpPr>
        <p:spPr>
          <a:xfrm>
            <a:off x="4886325" y="566738"/>
            <a:ext cx="3924300" cy="2862262"/>
          </a:xfrm>
          <a:prstGeom prst="rect">
            <a:avLst/>
          </a:prstGeom>
        </p:spPr>
        <p:txBody>
          <a:bodyPr/>
          <a:lstStyle/>
          <a:p>
            <a:endParaRPr lang="en-GB"/>
          </a:p>
        </p:txBody>
      </p:sp>
      <p:sp>
        <p:nvSpPr>
          <p:cNvPr id="5" name="Picture Placeholder 4"/>
          <p:cNvSpPr>
            <a:spLocks noGrp="1"/>
          </p:cNvSpPr>
          <p:nvPr>
            <p:ph type="pic" sz="quarter" idx="13"/>
          </p:nvPr>
        </p:nvSpPr>
        <p:spPr>
          <a:xfrm>
            <a:off x="4886325" y="3429000"/>
            <a:ext cx="3924300" cy="2705100"/>
          </a:xfrm>
          <a:prstGeom prst="rect">
            <a:avLst/>
          </a:prstGeom>
        </p:spPr>
        <p:txBody>
          <a:bodyPr/>
          <a:lstStyle/>
          <a:p>
            <a:endParaRPr lang="en-GB"/>
          </a:p>
        </p:txBody>
      </p:sp>
    </p:spTree>
    <p:extLst>
      <p:ext uri="{BB962C8B-B14F-4D97-AF65-F5344CB8AC3E}">
        <p14:creationId xmlns:p14="http://schemas.microsoft.com/office/powerpoint/2010/main" val="15559741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a_Title slide">
    <p:spTree>
      <p:nvGrpSpPr>
        <p:cNvPr id="1" name=""/>
        <p:cNvGrpSpPr/>
        <p:nvPr/>
      </p:nvGrpSpPr>
      <p:grpSpPr>
        <a:xfrm>
          <a:off x="0" y="0"/>
          <a:ext cx="0" cy="0"/>
          <a:chOff x="0" y="0"/>
          <a:chExt cx="0" cy="0"/>
        </a:xfrm>
      </p:grpSpPr>
      <p:sp>
        <p:nvSpPr>
          <p:cNvPr id="17" name="Rechthoek 16">
            <a:extLst>
              <a:ext uri="{FF2B5EF4-FFF2-40B4-BE49-F238E27FC236}">
                <a16:creationId xmlns:a16="http://schemas.microsoft.com/office/drawing/2014/main" id="{BE1EC009-1AB6-46B3-89FC-A2752A5CC63B}"/>
              </a:ext>
            </a:extLst>
          </p:cNvPr>
          <p:cNvSpPr/>
          <p:nvPr userDrawn="1"/>
        </p:nvSpPr>
        <p:spPr>
          <a:xfrm>
            <a:off x="3243741" y="2741424"/>
            <a:ext cx="5896843" cy="411657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Rechthoek 17">
            <a:extLst>
              <a:ext uri="{FF2B5EF4-FFF2-40B4-BE49-F238E27FC236}">
                <a16:creationId xmlns:a16="http://schemas.microsoft.com/office/drawing/2014/main" id="{552F9B91-4010-4562-9359-EED6891B29B8}"/>
              </a:ext>
            </a:extLst>
          </p:cNvPr>
          <p:cNvSpPr/>
          <p:nvPr userDrawn="1"/>
        </p:nvSpPr>
        <p:spPr>
          <a:xfrm>
            <a:off x="363785" y="3415144"/>
            <a:ext cx="8432223" cy="344285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Titel 1">
            <a:extLst>
              <a:ext uri="{FF2B5EF4-FFF2-40B4-BE49-F238E27FC236}">
                <a16:creationId xmlns:a16="http://schemas.microsoft.com/office/drawing/2014/main" id="{A199696C-1A0F-4C0D-85B6-89CC710B7380}"/>
              </a:ext>
            </a:extLst>
          </p:cNvPr>
          <p:cNvSpPr>
            <a:spLocks noGrp="1"/>
          </p:cNvSpPr>
          <p:nvPr>
            <p:ph type="ctrTitle" hasCustomPrompt="1"/>
          </p:nvPr>
        </p:nvSpPr>
        <p:spPr>
          <a:xfrm>
            <a:off x="704983" y="3991479"/>
            <a:ext cx="7632772" cy="1167973"/>
          </a:xfrm>
          <a:prstGeom prst="rect">
            <a:avLst/>
          </a:prstGeom>
        </p:spPr>
        <p:txBody>
          <a:bodyPr anchor="t">
            <a:noAutofit/>
          </a:bodyPr>
          <a:lstStyle>
            <a:lvl1pPr algn="l">
              <a:lnSpc>
                <a:spcPts val="4500"/>
              </a:lnSpc>
              <a:defRPr sz="4400" spc="70" baseline="0">
                <a:solidFill>
                  <a:schemeClr val="bg2"/>
                </a:solidFill>
                <a:latin typeface="Calibri bold" panose="020F0702030404030204" pitchFamily="34" charset="0"/>
                <a:cs typeface="Calibri bold" panose="020F0702030404030204" pitchFamily="34" charset="0"/>
              </a:defRPr>
            </a:lvl1pPr>
          </a:lstStyle>
          <a:p>
            <a:r>
              <a:rPr lang="nl-NL" dirty="0"/>
              <a:t>CLICK TO EDIT TITLE</a:t>
            </a:r>
            <a:endParaRPr lang="en-GB" dirty="0"/>
          </a:p>
        </p:txBody>
      </p:sp>
      <p:sp>
        <p:nvSpPr>
          <p:cNvPr id="20" name="Ondertitel 2">
            <a:extLst>
              <a:ext uri="{FF2B5EF4-FFF2-40B4-BE49-F238E27FC236}">
                <a16:creationId xmlns:a16="http://schemas.microsoft.com/office/drawing/2014/main" id="{7D927364-844D-4A85-B6EB-FBFEED2E4891}"/>
              </a:ext>
            </a:extLst>
          </p:cNvPr>
          <p:cNvSpPr>
            <a:spLocks noGrp="1"/>
          </p:cNvSpPr>
          <p:nvPr>
            <p:ph type="subTitle" idx="1" hasCustomPrompt="1"/>
          </p:nvPr>
        </p:nvSpPr>
        <p:spPr>
          <a:xfrm>
            <a:off x="713346" y="5228105"/>
            <a:ext cx="4172979" cy="351565"/>
          </a:xfrm>
          <a:prstGeom prst="rect">
            <a:avLst/>
          </a:prstGeom>
        </p:spPr>
        <p:txBody>
          <a:bodyPr>
            <a:noAutofit/>
          </a:bodyPr>
          <a:lstStyle>
            <a:lvl1pPr marL="0" indent="0" algn="l">
              <a:buNone/>
              <a:defRPr sz="2000" spc="50" baseline="0">
                <a:solidFill>
                  <a:schemeClr val="bg2"/>
                </a:solidFill>
                <a:latin typeface="+mn-lt"/>
                <a:ea typeface="Aero Light" pitchFamily="50" charset="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dirty="0"/>
              <a:t>Click to edit subtitle </a:t>
            </a:r>
            <a:endParaRPr lang="en-GB" dirty="0"/>
          </a:p>
        </p:txBody>
      </p:sp>
      <p:sp>
        <p:nvSpPr>
          <p:cNvPr id="21" name="Tijdelijke aanduiding voor tekst 9">
            <a:extLst>
              <a:ext uri="{FF2B5EF4-FFF2-40B4-BE49-F238E27FC236}">
                <a16:creationId xmlns:a16="http://schemas.microsoft.com/office/drawing/2014/main" id="{BFA6C715-12C9-4F92-B6DE-60323A6EC88F}"/>
              </a:ext>
            </a:extLst>
          </p:cNvPr>
          <p:cNvSpPr>
            <a:spLocks noGrp="1"/>
          </p:cNvSpPr>
          <p:nvPr>
            <p:ph type="body" sz="quarter" idx="11" hasCustomPrompt="1"/>
          </p:nvPr>
        </p:nvSpPr>
        <p:spPr>
          <a:xfrm>
            <a:off x="704983" y="5788551"/>
            <a:ext cx="5823635" cy="681075"/>
          </a:xfrm>
          <a:prstGeom prst="rect">
            <a:avLst/>
          </a:prstGeom>
        </p:spPr>
        <p:txBody>
          <a:bodyPr>
            <a:noAutofit/>
          </a:bodyPr>
          <a:lstStyle>
            <a:lvl1pPr marL="0" indent="0">
              <a:buNone/>
              <a:defRPr sz="2000" spc="50" baseline="0">
                <a:solidFill>
                  <a:schemeClr val="bg2"/>
                </a:solidFill>
                <a:latin typeface="+mj-lt"/>
                <a:ea typeface="Aero Light" pitchFamily="50" charset="2"/>
              </a:defRPr>
            </a:lvl1pPr>
          </a:lstStyle>
          <a:p>
            <a:pPr lvl="0"/>
            <a:r>
              <a:rPr lang="nl-NL" dirty="0"/>
              <a:t>Click to add presenter’s name and job title</a:t>
            </a:r>
          </a:p>
        </p:txBody>
      </p:sp>
      <p:pic>
        <p:nvPicPr>
          <p:cNvPr id="23" name="Afbeelding 22">
            <a:extLst>
              <a:ext uri="{FF2B5EF4-FFF2-40B4-BE49-F238E27FC236}">
                <a16:creationId xmlns:a16="http://schemas.microsoft.com/office/drawing/2014/main" id="{E63E3581-10E1-4073-944D-F8E146E1713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7330" y="546281"/>
            <a:ext cx="3919535" cy="1394901"/>
          </a:xfrm>
          <a:prstGeom prst="rect">
            <a:avLst/>
          </a:prstGeom>
          <a:noFill/>
          <a:ln>
            <a:noFill/>
          </a:ln>
        </p:spPr>
      </p:pic>
      <p:sp>
        <p:nvSpPr>
          <p:cNvPr id="3" name="Picture Placeholder 2"/>
          <p:cNvSpPr>
            <a:spLocks noGrp="1"/>
          </p:cNvSpPr>
          <p:nvPr>
            <p:ph type="pic" sz="quarter" idx="12"/>
          </p:nvPr>
        </p:nvSpPr>
        <p:spPr>
          <a:xfrm>
            <a:off x="4886325" y="546100"/>
            <a:ext cx="3924300" cy="2868613"/>
          </a:xfrm>
          <a:prstGeom prst="rect">
            <a:avLst/>
          </a:prstGeom>
        </p:spPr>
        <p:txBody>
          <a:bodyPr/>
          <a:lstStyle/>
          <a:p>
            <a:endParaRPr lang="en-GB"/>
          </a:p>
        </p:txBody>
      </p:sp>
    </p:spTree>
    <p:extLst>
      <p:ext uri="{BB962C8B-B14F-4D97-AF65-F5344CB8AC3E}">
        <p14:creationId xmlns:p14="http://schemas.microsoft.com/office/powerpoint/2010/main" val="38567834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b_Title slide">
    <p:spTree>
      <p:nvGrpSpPr>
        <p:cNvPr id="1" name=""/>
        <p:cNvGrpSpPr/>
        <p:nvPr/>
      </p:nvGrpSpPr>
      <p:grpSpPr>
        <a:xfrm>
          <a:off x="0" y="0"/>
          <a:ext cx="0" cy="0"/>
          <a:chOff x="0" y="0"/>
          <a:chExt cx="0" cy="0"/>
        </a:xfrm>
      </p:grpSpPr>
      <p:sp>
        <p:nvSpPr>
          <p:cNvPr id="17" name="Rechthoek 16">
            <a:extLst>
              <a:ext uri="{FF2B5EF4-FFF2-40B4-BE49-F238E27FC236}">
                <a16:creationId xmlns:a16="http://schemas.microsoft.com/office/drawing/2014/main" id="{BE1EC009-1AB6-46B3-89FC-A2752A5CC63B}"/>
              </a:ext>
            </a:extLst>
          </p:cNvPr>
          <p:cNvSpPr/>
          <p:nvPr userDrawn="1"/>
        </p:nvSpPr>
        <p:spPr>
          <a:xfrm>
            <a:off x="3243741" y="2741424"/>
            <a:ext cx="5896843" cy="411657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Rechthoek 17">
            <a:extLst>
              <a:ext uri="{FF2B5EF4-FFF2-40B4-BE49-F238E27FC236}">
                <a16:creationId xmlns:a16="http://schemas.microsoft.com/office/drawing/2014/main" id="{552F9B91-4010-4562-9359-EED6891B29B8}"/>
              </a:ext>
            </a:extLst>
          </p:cNvPr>
          <p:cNvSpPr/>
          <p:nvPr userDrawn="1"/>
        </p:nvSpPr>
        <p:spPr>
          <a:xfrm>
            <a:off x="363785" y="3415144"/>
            <a:ext cx="8432223" cy="344285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Titel 1">
            <a:extLst>
              <a:ext uri="{FF2B5EF4-FFF2-40B4-BE49-F238E27FC236}">
                <a16:creationId xmlns:a16="http://schemas.microsoft.com/office/drawing/2014/main" id="{A199696C-1A0F-4C0D-85B6-89CC710B7380}"/>
              </a:ext>
            </a:extLst>
          </p:cNvPr>
          <p:cNvSpPr>
            <a:spLocks noGrp="1"/>
          </p:cNvSpPr>
          <p:nvPr>
            <p:ph type="ctrTitle" hasCustomPrompt="1"/>
          </p:nvPr>
        </p:nvSpPr>
        <p:spPr>
          <a:xfrm>
            <a:off x="704983" y="3991479"/>
            <a:ext cx="4181342" cy="1167973"/>
          </a:xfrm>
          <a:prstGeom prst="rect">
            <a:avLst/>
          </a:prstGeom>
        </p:spPr>
        <p:txBody>
          <a:bodyPr anchor="t">
            <a:noAutofit/>
          </a:bodyPr>
          <a:lstStyle>
            <a:lvl1pPr algn="l">
              <a:lnSpc>
                <a:spcPts val="4500"/>
              </a:lnSpc>
              <a:defRPr sz="4400" spc="70" baseline="0">
                <a:solidFill>
                  <a:schemeClr val="bg2"/>
                </a:solidFill>
                <a:latin typeface="Calibri bold" panose="020F0702030404030204" pitchFamily="34" charset="0"/>
                <a:cs typeface="Calibri bold" panose="020F0702030404030204" pitchFamily="34" charset="0"/>
              </a:defRPr>
            </a:lvl1pPr>
          </a:lstStyle>
          <a:p>
            <a:r>
              <a:rPr lang="nl-NL" dirty="0"/>
              <a:t>CLICK TO EDIT</a:t>
            </a:r>
            <a:br>
              <a:rPr lang="nl-NL" dirty="0"/>
            </a:br>
            <a:r>
              <a:rPr lang="nl-NL" dirty="0"/>
              <a:t>TITLE</a:t>
            </a:r>
            <a:endParaRPr lang="en-GB" dirty="0"/>
          </a:p>
        </p:txBody>
      </p:sp>
      <p:sp>
        <p:nvSpPr>
          <p:cNvPr id="20" name="Ondertitel 2">
            <a:extLst>
              <a:ext uri="{FF2B5EF4-FFF2-40B4-BE49-F238E27FC236}">
                <a16:creationId xmlns:a16="http://schemas.microsoft.com/office/drawing/2014/main" id="{7D927364-844D-4A85-B6EB-FBFEED2E4891}"/>
              </a:ext>
            </a:extLst>
          </p:cNvPr>
          <p:cNvSpPr>
            <a:spLocks noGrp="1"/>
          </p:cNvSpPr>
          <p:nvPr>
            <p:ph type="subTitle" idx="1" hasCustomPrompt="1"/>
          </p:nvPr>
        </p:nvSpPr>
        <p:spPr>
          <a:xfrm>
            <a:off x="713346" y="5228105"/>
            <a:ext cx="4172979" cy="351565"/>
          </a:xfrm>
          <a:prstGeom prst="rect">
            <a:avLst/>
          </a:prstGeom>
        </p:spPr>
        <p:txBody>
          <a:bodyPr>
            <a:noAutofit/>
          </a:bodyPr>
          <a:lstStyle>
            <a:lvl1pPr marL="0" indent="0" algn="l">
              <a:buNone/>
              <a:defRPr sz="2000" spc="50" baseline="0">
                <a:solidFill>
                  <a:schemeClr val="bg2"/>
                </a:solidFill>
                <a:latin typeface="+mn-lt"/>
                <a:ea typeface="Aero Light" pitchFamily="50" charset="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dirty="0"/>
              <a:t>Click to edit subtitle </a:t>
            </a:r>
            <a:endParaRPr lang="en-GB" dirty="0"/>
          </a:p>
        </p:txBody>
      </p:sp>
      <p:sp>
        <p:nvSpPr>
          <p:cNvPr id="21" name="Tijdelijke aanduiding voor tekst 9">
            <a:extLst>
              <a:ext uri="{FF2B5EF4-FFF2-40B4-BE49-F238E27FC236}">
                <a16:creationId xmlns:a16="http://schemas.microsoft.com/office/drawing/2014/main" id="{BFA6C715-12C9-4F92-B6DE-60323A6EC88F}"/>
              </a:ext>
            </a:extLst>
          </p:cNvPr>
          <p:cNvSpPr>
            <a:spLocks noGrp="1"/>
          </p:cNvSpPr>
          <p:nvPr>
            <p:ph type="body" sz="quarter" idx="11" hasCustomPrompt="1"/>
          </p:nvPr>
        </p:nvSpPr>
        <p:spPr>
          <a:xfrm>
            <a:off x="704984" y="5788551"/>
            <a:ext cx="4181342" cy="602417"/>
          </a:xfrm>
          <a:prstGeom prst="rect">
            <a:avLst/>
          </a:prstGeom>
        </p:spPr>
        <p:txBody>
          <a:bodyPr>
            <a:noAutofit/>
          </a:bodyPr>
          <a:lstStyle>
            <a:lvl1pPr marL="0" indent="0">
              <a:buNone/>
              <a:defRPr sz="2000" spc="50" baseline="0">
                <a:solidFill>
                  <a:schemeClr val="bg2"/>
                </a:solidFill>
                <a:latin typeface="+mj-lt"/>
                <a:ea typeface="Aero Light" pitchFamily="50" charset="2"/>
              </a:defRPr>
            </a:lvl1pPr>
          </a:lstStyle>
          <a:p>
            <a:pPr lvl="0"/>
            <a:r>
              <a:rPr lang="nl-NL" dirty="0"/>
              <a:t>Click to add presenter’s name and </a:t>
            </a:r>
            <a:br>
              <a:rPr lang="nl-NL" dirty="0"/>
            </a:br>
            <a:r>
              <a:rPr lang="nl-NL" dirty="0"/>
              <a:t>job title</a:t>
            </a:r>
          </a:p>
        </p:txBody>
      </p:sp>
      <p:pic>
        <p:nvPicPr>
          <p:cNvPr id="23" name="Afbeelding 22">
            <a:extLst>
              <a:ext uri="{FF2B5EF4-FFF2-40B4-BE49-F238E27FC236}">
                <a16:creationId xmlns:a16="http://schemas.microsoft.com/office/drawing/2014/main" id="{E63E3581-10E1-4073-944D-F8E146E1713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7330" y="546281"/>
            <a:ext cx="3919535" cy="1394901"/>
          </a:xfrm>
          <a:prstGeom prst="rect">
            <a:avLst/>
          </a:prstGeom>
          <a:noFill/>
          <a:ln>
            <a:noFill/>
          </a:ln>
        </p:spPr>
      </p:pic>
      <p:sp>
        <p:nvSpPr>
          <p:cNvPr id="3" name="Picture Placeholder 2"/>
          <p:cNvSpPr>
            <a:spLocks noGrp="1"/>
          </p:cNvSpPr>
          <p:nvPr>
            <p:ph type="pic" sz="quarter" idx="12"/>
          </p:nvPr>
        </p:nvSpPr>
        <p:spPr>
          <a:xfrm>
            <a:off x="4886325" y="566738"/>
            <a:ext cx="3924300" cy="5567362"/>
          </a:xfrm>
          <a:prstGeom prst="rect">
            <a:avLst/>
          </a:prstGeom>
        </p:spPr>
        <p:txBody>
          <a:bodyPr/>
          <a:lstStyle/>
          <a:p>
            <a:endParaRPr lang="en-GB"/>
          </a:p>
        </p:txBody>
      </p:sp>
    </p:spTree>
    <p:extLst>
      <p:ext uri="{BB962C8B-B14F-4D97-AF65-F5344CB8AC3E}">
        <p14:creationId xmlns:p14="http://schemas.microsoft.com/office/powerpoint/2010/main" val="14013300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c_Title slide">
    <p:spTree>
      <p:nvGrpSpPr>
        <p:cNvPr id="1" name=""/>
        <p:cNvGrpSpPr/>
        <p:nvPr/>
      </p:nvGrpSpPr>
      <p:grpSpPr>
        <a:xfrm>
          <a:off x="0" y="0"/>
          <a:ext cx="0" cy="0"/>
          <a:chOff x="0" y="0"/>
          <a:chExt cx="0" cy="0"/>
        </a:xfrm>
      </p:grpSpPr>
      <p:sp>
        <p:nvSpPr>
          <p:cNvPr id="17" name="Rechthoek 16">
            <a:extLst>
              <a:ext uri="{FF2B5EF4-FFF2-40B4-BE49-F238E27FC236}">
                <a16:creationId xmlns:a16="http://schemas.microsoft.com/office/drawing/2014/main" id="{BE1EC009-1AB6-46B3-89FC-A2752A5CC63B}"/>
              </a:ext>
            </a:extLst>
          </p:cNvPr>
          <p:cNvSpPr/>
          <p:nvPr userDrawn="1"/>
        </p:nvSpPr>
        <p:spPr>
          <a:xfrm>
            <a:off x="3243741" y="2741424"/>
            <a:ext cx="5896843" cy="411657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Rechthoek 17">
            <a:extLst>
              <a:ext uri="{FF2B5EF4-FFF2-40B4-BE49-F238E27FC236}">
                <a16:creationId xmlns:a16="http://schemas.microsoft.com/office/drawing/2014/main" id="{552F9B91-4010-4562-9359-EED6891B29B8}"/>
              </a:ext>
            </a:extLst>
          </p:cNvPr>
          <p:cNvSpPr/>
          <p:nvPr userDrawn="1"/>
        </p:nvSpPr>
        <p:spPr>
          <a:xfrm>
            <a:off x="378402" y="3415144"/>
            <a:ext cx="8432223" cy="344285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Titel 1">
            <a:extLst>
              <a:ext uri="{FF2B5EF4-FFF2-40B4-BE49-F238E27FC236}">
                <a16:creationId xmlns:a16="http://schemas.microsoft.com/office/drawing/2014/main" id="{A199696C-1A0F-4C0D-85B6-89CC710B7380}"/>
              </a:ext>
            </a:extLst>
          </p:cNvPr>
          <p:cNvSpPr>
            <a:spLocks noGrp="1"/>
          </p:cNvSpPr>
          <p:nvPr>
            <p:ph type="ctrTitle" hasCustomPrompt="1"/>
          </p:nvPr>
        </p:nvSpPr>
        <p:spPr>
          <a:xfrm>
            <a:off x="704983" y="3991479"/>
            <a:ext cx="4181342" cy="1167973"/>
          </a:xfrm>
          <a:prstGeom prst="rect">
            <a:avLst/>
          </a:prstGeom>
        </p:spPr>
        <p:txBody>
          <a:bodyPr anchor="t">
            <a:noAutofit/>
          </a:bodyPr>
          <a:lstStyle>
            <a:lvl1pPr algn="l">
              <a:lnSpc>
                <a:spcPts val="4500"/>
              </a:lnSpc>
              <a:defRPr sz="4400" spc="70" baseline="0">
                <a:solidFill>
                  <a:schemeClr val="bg2"/>
                </a:solidFill>
                <a:latin typeface="Calibri bold" panose="020F0702030404030204" pitchFamily="34" charset="0"/>
                <a:cs typeface="Calibri bold" panose="020F0702030404030204" pitchFamily="34" charset="0"/>
              </a:defRPr>
            </a:lvl1pPr>
          </a:lstStyle>
          <a:p>
            <a:r>
              <a:rPr lang="nl-NL" dirty="0"/>
              <a:t>CLICK TO EDIT TITLE</a:t>
            </a:r>
            <a:endParaRPr lang="en-GB" dirty="0"/>
          </a:p>
        </p:txBody>
      </p:sp>
      <p:sp>
        <p:nvSpPr>
          <p:cNvPr id="20" name="Ondertitel 2">
            <a:extLst>
              <a:ext uri="{FF2B5EF4-FFF2-40B4-BE49-F238E27FC236}">
                <a16:creationId xmlns:a16="http://schemas.microsoft.com/office/drawing/2014/main" id="{7D927364-844D-4A85-B6EB-FBFEED2E4891}"/>
              </a:ext>
            </a:extLst>
          </p:cNvPr>
          <p:cNvSpPr>
            <a:spLocks noGrp="1"/>
          </p:cNvSpPr>
          <p:nvPr>
            <p:ph type="subTitle" idx="1" hasCustomPrompt="1"/>
          </p:nvPr>
        </p:nvSpPr>
        <p:spPr>
          <a:xfrm>
            <a:off x="713346" y="5228105"/>
            <a:ext cx="4172979" cy="351565"/>
          </a:xfrm>
          <a:prstGeom prst="rect">
            <a:avLst/>
          </a:prstGeom>
        </p:spPr>
        <p:txBody>
          <a:bodyPr>
            <a:noAutofit/>
          </a:bodyPr>
          <a:lstStyle>
            <a:lvl1pPr marL="0" indent="0" algn="l">
              <a:buNone/>
              <a:defRPr sz="2000" spc="50" baseline="0">
                <a:solidFill>
                  <a:schemeClr val="bg2"/>
                </a:solidFill>
                <a:latin typeface="+mn-lt"/>
                <a:ea typeface="Aero Light" pitchFamily="50" charset="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dirty="0"/>
              <a:t>Click to edit subtitle </a:t>
            </a:r>
            <a:endParaRPr lang="en-GB" dirty="0"/>
          </a:p>
        </p:txBody>
      </p:sp>
      <p:sp>
        <p:nvSpPr>
          <p:cNvPr id="21" name="Tijdelijke aanduiding voor tekst 9">
            <a:extLst>
              <a:ext uri="{FF2B5EF4-FFF2-40B4-BE49-F238E27FC236}">
                <a16:creationId xmlns:a16="http://schemas.microsoft.com/office/drawing/2014/main" id="{BFA6C715-12C9-4F92-B6DE-60323A6EC88F}"/>
              </a:ext>
            </a:extLst>
          </p:cNvPr>
          <p:cNvSpPr>
            <a:spLocks noGrp="1"/>
          </p:cNvSpPr>
          <p:nvPr>
            <p:ph type="body" sz="quarter" idx="11" hasCustomPrompt="1"/>
          </p:nvPr>
        </p:nvSpPr>
        <p:spPr>
          <a:xfrm>
            <a:off x="704984" y="5788551"/>
            <a:ext cx="4181342" cy="681075"/>
          </a:xfrm>
          <a:prstGeom prst="rect">
            <a:avLst/>
          </a:prstGeom>
        </p:spPr>
        <p:txBody>
          <a:bodyPr>
            <a:noAutofit/>
          </a:bodyPr>
          <a:lstStyle>
            <a:lvl1pPr marL="0" indent="0">
              <a:buNone/>
              <a:defRPr sz="2000" spc="50" baseline="0">
                <a:solidFill>
                  <a:schemeClr val="bg2"/>
                </a:solidFill>
                <a:latin typeface="+mj-lt"/>
                <a:ea typeface="Aero Light" pitchFamily="50" charset="2"/>
              </a:defRPr>
            </a:lvl1pPr>
          </a:lstStyle>
          <a:p>
            <a:pPr lvl="0"/>
            <a:r>
              <a:rPr lang="nl-NL" dirty="0"/>
              <a:t>Click to add presenter’s name and job title</a:t>
            </a:r>
          </a:p>
        </p:txBody>
      </p:sp>
      <p:pic>
        <p:nvPicPr>
          <p:cNvPr id="23" name="Afbeelding 22">
            <a:extLst>
              <a:ext uri="{FF2B5EF4-FFF2-40B4-BE49-F238E27FC236}">
                <a16:creationId xmlns:a16="http://schemas.microsoft.com/office/drawing/2014/main" id="{E63E3581-10E1-4073-944D-F8E146E1713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7330" y="546281"/>
            <a:ext cx="3919535" cy="1394901"/>
          </a:xfrm>
          <a:prstGeom prst="rect">
            <a:avLst/>
          </a:prstGeom>
          <a:noFill/>
          <a:ln>
            <a:noFill/>
          </a:ln>
        </p:spPr>
      </p:pic>
      <p:sp>
        <p:nvSpPr>
          <p:cNvPr id="14" name="Tijdelijke aanduiding voor afbeelding 4">
            <a:extLst>
              <a:ext uri="{FF2B5EF4-FFF2-40B4-BE49-F238E27FC236}">
                <a16:creationId xmlns:a16="http://schemas.microsoft.com/office/drawing/2014/main" id="{CF0C1C67-8795-4378-A1C9-7F9D220294C8}"/>
              </a:ext>
            </a:extLst>
          </p:cNvPr>
          <p:cNvSpPr>
            <a:spLocks noGrp="1"/>
          </p:cNvSpPr>
          <p:nvPr>
            <p:ph type="pic" sz="quarter" idx="16" hasCustomPrompt="1"/>
          </p:nvPr>
        </p:nvSpPr>
        <p:spPr>
          <a:xfrm>
            <a:off x="4886326" y="546281"/>
            <a:ext cx="3909682" cy="2868863"/>
          </a:xfrm>
          <a:prstGeom prst="rect">
            <a:avLst/>
          </a:prstGeom>
          <a:solidFill>
            <a:schemeClr val="bg1"/>
          </a:solidFill>
          <a:ln>
            <a:solidFill>
              <a:schemeClr val="tx1">
                <a:lumMod val="95000"/>
                <a:lumOff val="5000"/>
              </a:schemeClr>
            </a:solidFill>
            <a:prstDash val="sysDot"/>
          </a:ln>
        </p:spPr>
        <p:txBody>
          <a:bodyPr anchor="t" anchorCtr="0">
            <a:normAutofit/>
          </a:bodyPr>
          <a:lstStyle>
            <a:lvl1pPr marL="0" indent="0" algn="l">
              <a:buNone/>
              <a:defRPr sz="1200">
                <a:solidFill>
                  <a:schemeClr val="tx1"/>
                </a:solidFill>
                <a:latin typeface="+mj-lt"/>
                <a:ea typeface="Aero Light" pitchFamily="50" charset="2"/>
              </a:defRPr>
            </a:lvl1pPr>
          </a:lstStyle>
          <a:p>
            <a:r>
              <a:rPr lang="en-GB" dirty="0"/>
              <a:t>PICTURE</a:t>
            </a:r>
          </a:p>
        </p:txBody>
      </p:sp>
      <p:sp>
        <p:nvSpPr>
          <p:cNvPr id="9" name="Tijdelijke aanduiding voor afbeelding 4">
            <a:extLst>
              <a:ext uri="{FF2B5EF4-FFF2-40B4-BE49-F238E27FC236}">
                <a16:creationId xmlns:a16="http://schemas.microsoft.com/office/drawing/2014/main" id="{CF0C1C67-8795-4378-A1C9-7F9D220294C8}"/>
              </a:ext>
            </a:extLst>
          </p:cNvPr>
          <p:cNvSpPr>
            <a:spLocks noGrp="1"/>
          </p:cNvSpPr>
          <p:nvPr>
            <p:ph type="pic" sz="quarter" idx="17" hasCustomPrompt="1"/>
          </p:nvPr>
        </p:nvSpPr>
        <p:spPr>
          <a:xfrm>
            <a:off x="4891111" y="3424976"/>
            <a:ext cx="3909682" cy="2868863"/>
          </a:xfrm>
          <a:prstGeom prst="rect">
            <a:avLst/>
          </a:prstGeom>
          <a:solidFill>
            <a:schemeClr val="bg1"/>
          </a:solidFill>
          <a:ln>
            <a:solidFill>
              <a:schemeClr val="tx1">
                <a:lumMod val="95000"/>
                <a:lumOff val="5000"/>
              </a:schemeClr>
            </a:solidFill>
            <a:prstDash val="sysDot"/>
          </a:ln>
        </p:spPr>
        <p:txBody>
          <a:bodyPr anchor="t" anchorCtr="0">
            <a:normAutofit/>
          </a:bodyPr>
          <a:lstStyle>
            <a:lvl1pPr marL="0" indent="0" algn="l">
              <a:buNone/>
              <a:defRPr sz="1200">
                <a:solidFill>
                  <a:schemeClr val="tx1"/>
                </a:solidFill>
                <a:latin typeface="+mj-lt"/>
                <a:ea typeface="Aero Light" pitchFamily="50" charset="2"/>
              </a:defRPr>
            </a:lvl1pPr>
          </a:lstStyle>
          <a:p>
            <a:r>
              <a:rPr lang="en-GB" dirty="0"/>
              <a:t>PICTURE</a:t>
            </a:r>
          </a:p>
        </p:txBody>
      </p:sp>
    </p:spTree>
    <p:extLst>
      <p:ext uri="{BB962C8B-B14F-4D97-AF65-F5344CB8AC3E}">
        <p14:creationId xmlns:p14="http://schemas.microsoft.com/office/powerpoint/2010/main" val="14383116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Content slide_ Facts">
    <p:spTree>
      <p:nvGrpSpPr>
        <p:cNvPr id="1" name=""/>
        <p:cNvGrpSpPr/>
        <p:nvPr/>
      </p:nvGrpSpPr>
      <p:grpSpPr>
        <a:xfrm>
          <a:off x="0" y="0"/>
          <a:ext cx="0" cy="0"/>
          <a:chOff x="0" y="0"/>
          <a:chExt cx="0" cy="0"/>
        </a:xfrm>
      </p:grpSpPr>
      <p:pic>
        <p:nvPicPr>
          <p:cNvPr id="5" name="Afbeelding 13">
            <a:extLst>
              <a:ext uri="{FF2B5EF4-FFF2-40B4-BE49-F238E27FC236}">
                <a16:creationId xmlns:a16="http://schemas.microsoft.com/office/drawing/2014/main" id="{A6DEE0E1-E6DD-48F9-961A-927DFCE6748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1488" y="6225042"/>
            <a:ext cx="1298114" cy="461977"/>
          </a:xfrm>
          <a:prstGeom prst="rect">
            <a:avLst/>
          </a:prstGeom>
          <a:noFill/>
          <a:ln>
            <a:noFill/>
          </a:ln>
        </p:spPr>
      </p:pic>
      <p:sp>
        <p:nvSpPr>
          <p:cNvPr id="8" name="Rechthoek 17">
            <a:extLst>
              <a:ext uri="{FF2B5EF4-FFF2-40B4-BE49-F238E27FC236}">
                <a16:creationId xmlns:a16="http://schemas.microsoft.com/office/drawing/2014/main" id="{552F9B91-4010-4562-9359-EED6891B29B8}"/>
              </a:ext>
            </a:extLst>
          </p:cNvPr>
          <p:cNvSpPr/>
          <p:nvPr userDrawn="1"/>
        </p:nvSpPr>
        <p:spPr>
          <a:xfrm>
            <a:off x="4454013" y="3415144"/>
            <a:ext cx="4689987" cy="3442856"/>
          </a:xfrm>
          <a:prstGeom prst="rect">
            <a:avLst/>
          </a:prstGeom>
          <a:solidFill>
            <a:srgbClr val="3C023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1" name="Rechthoek 15">
            <a:extLst>
              <a:ext uri="{FF2B5EF4-FFF2-40B4-BE49-F238E27FC236}">
                <a16:creationId xmlns:a16="http://schemas.microsoft.com/office/drawing/2014/main" id="{1D820570-21E1-43AC-BE0D-02ADF7C4CF21}"/>
              </a:ext>
            </a:extLst>
          </p:cNvPr>
          <p:cNvSpPr/>
          <p:nvPr userDrawn="1"/>
        </p:nvSpPr>
        <p:spPr>
          <a:xfrm>
            <a:off x="6145162" y="0"/>
            <a:ext cx="3002342" cy="342597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ijdelijke aanduiding voor tekst 3">
            <a:extLst>
              <a:ext uri="{FF2B5EF4-FFF2-40B4-BE49-F238E27FC236}">
                <a16:creationId xmlns:a16="http://schemas.microsoft.com/office/drawing/2014/main" id="{87A365B2-30D8-46C0-9FAA-25F176FE6749}"/>
              </a:ext>
            </a:extLst>
          </p:cNvPr>
          <p:cNvSpPr txBox="1">
            <a:spLocks/>
          </p:cNvSpPr>
          <p:nvPr userDrawn="1"/>
        </p:nvSpPr>
        <p:spPr>
          <a:xfrm>
            <a:off x="346075" y="4184651"/>
            <a:ext cx="4530013" cy="1949450"/>
          </a:xfrm>
          <a:prstGeom prst="rect">
            <a:avLst/>
          </a:prstGeom>
          <a:solidFill>
            <a:schemeClr val="tx2"/>
          </a:solidFill>
        </p:spPr>
        <p:txBody>
          <a:bodyPr lIns="252000" tIns="252000" anchor="t">
            <a:normAutofit/>
          </a:bodyPr>
          <a:lstStyle>
            <a:lvl1pPr marL="0" indent="0" algn="ctr" defTabSz="914400" rtl="0" eaLnBrk="1" latinLnBrk="0" hangingPunct="1">
              <a:lnSpc>
                <a:spcPct val="90000"/>
              </a:lnSpc>
              <a:spcBef>
                <a:spcPts val="1000"/>
              </a:spcBef>
              <a:buFont typeface="Arial" panose="020B0604020202020204" pitchFamily="34" charset="0"/>
              <a:buNone/>
              <a:defRPr sz="1600" kern="1200">
                <a:solidFill>
                  <a:schemeClr val="bg1"/>
                </a:solidFill>
                <a:latin typeface="+mj-lt"/>
                <a:ea typeface="Aero Light" pitchFamily="50" charset="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3">
                    <a:lumMod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accent3">
                    <a:lumMod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accent3">
                    <a:lumMod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accent3">
                    <a:lumMod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l"/>
            <a:endParaRPr lang="en-GB" sz="2200" dirty="0"/>
          </a:p>
        </p:txBody>
      </p:sp>
      <p:pic>
        <p:nvPicPr>
          <p:cNvPr id="12"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34102" y="3247779"/>
            <a:ext cx="2537455" cy="582209"/>
          </a:xfrm>
          <a:prstGeom prst="rect">
            <a:avLst/>
          </a:prstGeom>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 name="Picture 3"/>
          <p:cNvPicPr>
            <a:picLocks noChangeAspect="1" noChangeArrowheads="1"/>
          </p:cNvPicPr>
          <p:nvPr userDrawn="1"/>
        </p:nvPicPr>
        <p:blipFill rotWithShape="1">
          <a:blip r:embed="rId4">
            <a:extLst>
              <a:ext uri="{28A0092B-C50C-407E-A947-70E740481C1C}">
                <a14:useLocalDpi xmlns:a14="http://schemas.microsoft.com/office/drawing/2010/main" val="0"/>
              </a:ext>
            </a:extLst>
          </a:blip>
          <a:srcRect t="9333" b="11158"/>
          <a:stretch/>
        </p:blipFill>
        <p:spPr bwMode="auto">
          <a:xfrm>
            <a:off x="1199898" y="1696762"/>
            <a:ext cx="957263" cy="387495"/>
          </a:xfrm>
          <a:prstGeom prst="rect">
            <a:avLst/>
          </a:prstGeom>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 name="TextBox 14"/>
          <p:cNvSpPr txBox="1"/>
          <p:nvPr userDrawn="1"/>
        </p:nvSpPr>
        <p:spPr>
          <a:xfrm>
            <a:off x="2677440" y="4949770"/>
            <a:ext cx="2191666" cy="950189"/>
          </a:xfrm>
          <a:prstGeom prst="rect">
            <a:avLst/>
          </a:prstGeom>
        </p:spPr>
        <p:txBody>
          <a:bodyPr vert="horz" wrap="square" lIns="91440" tIns="45720" rIns="91440" bIns="45720" rtlCol="0" anchor="b">
            <a:noAutofit/>
          </a:bodyPr>
          <a:lstStyle/>
          <a:p>
            <a:pPr algn="ctr"/>
            <a:r>
              <a:rPr lang="en-GB" sz="1600" dirty="0">
                <a:solidFill>
                  <a:schemeClr val="bg1"/>
                </a:solidFill>
                <a:latin typeface="+mj-lt"/>
              </a:rPr>
              <a:t>UK city for students</a:t>
            </a:r>
          </a:p>
          <a:p>
            <a:pPr algn="ctr"/>
            <a:r>
              <a:rPr lang="en-GB" sz="1600" dirty="0" err="1">
                <a:solidFill>
                  <a:schemeClr val="bg1"/>
                </a:solidFill>
                <a:latin typeface="+mj-lt"/>
              </a:rPr>
              <a:t>Natwest</a:t>
            </a:r>
            <a:r>
              <a:rPr lang="en-GB" sz="1600" dirty="0">
                <a:solidFill>
                  <a:schemeClr val="bg1"/>
                </a:solidFill>
                <a:latin typeface="+mj-lt"/>
              </a:rPr>
              <a:t> student living index 2016</a:t>
            </a:r>
          </a:p>
        </p:txBody>
      </p:sp>
      <p:sp>
        <p:nvSpPr>
          <p:cNvPr id="16" name="TextBox 15"/>
          <p:cNvSpPr txBox="1"/>
          <p:nvPr userDrawn="1"/>
        </p:nvSpPr>
        <p:spPr>
          <a:xfrm>
            <a:off x="6057035" y="5385545"/>
            <a:ext cx="2929007" cy="842243"/>
          </a:xfrm>
          <a:prstGeom prst="rect">
            <a:avLst/>
          </a:prstGeom>
        </p:spPr>
        <p:txBody>
          <a:bodyPr vert="horz" wrap="square" lIns="91440" tIns="45720" rIns="91440" bIns="45720" rtlCol="0" anchor="b">
            <a:noAutofit/>
          </a:bodyPr>
          <a:lstStyle/>
          <a:p>
            <a:pPr algn="ctr"/>
            <a:r>
              <a:rPr lang="en-GB" sz="1600" dirty="0">
                <a:solidFill>
                  <a:schemeClr val="bg1"/>
                </a:solidFill>
                <a:latin typeface="+mj-lt"/>
              </a:rPr>
              <a:t>University of Portsmouth in top 15% for student satisfaction</a:t>
            </a:r>
          </a:p>
          <a:p>
            <a:pPr algn="ctr"/>
            <a:r>
              <a:rPr lang="en-GB" sz="1600" dirty="0">
                <a:solidFill>
                  <a:schemeClr val="bg1"/>
                </a:solidFill>
                <a:latin typeface="+mj-lt"/>
              </a:rPr>
              <a:t>(National Student Survey 2017)</a:t>
            </a:r>
          </a:p>
        </p:txBody>
      </p:sp>
      <p:sp>
        <p:nvSpPr>
          <p:cNvPr id="17" name="TextBox 16"/>
          <p:cNvSpPr txBox="1"/>
          <p:nvPr userDrawn="1"/>
        </p:nvSpPr>
        <p:spPr>
          <a:xfrm>
            <a:off x="4450787" y="3973968"/>
            <a:ext cx="3395937" cy="954766"/>
          </a:xfrm>
          <a:prstGeom prst="rect">
            <a:avLst/>
          </a:prstGeom>
        </p:spPr>
        <p:txBody>
          <a:bodyPr vert="horz" wrap="square" lIns="91440" tIns="45720" rIns="91440" bIns="45720" rtlCol="0" anchor="b">
            <a:noAutofit/>
          </a:bodyPr>
          <a:lstStyle/>
          <a:p>
            <a:pPr algn="ctr"/>
            <a:r>
              <a:rPr lang="en-GB" sz="1600" dirty="0">
                <a:solidFill>
                  <a:schemeClr val="bg1"/>
                </a:solidFill>
                <a:latin typeface="+mj-lt"/>
              </a:rPr>
              <a:t>of </a:t>
            </a:r>
            <a:r>
              <a:rPr lang="en-GB" sz="1600" dirty="0">
                <a:solidFill>
                  <a:schemeClr val="bg1"/>
                </a:solidFill>
                <a:latin typeface="Calibri bold" panose="020F0702030404030204" pitchFamily="34" charset="0"/>
              </a:rPr>
              <a:t>GRADUATES WORKING </a:t>
            </a:r>
            <a:br>
              <a:rPr lang="en-GB" sz="1600" dirty="0">
                <a:solidFill>
                  <a:schemeClr val="bg1"/>
                </a:solidFill>
                <a:latin typeface="Calibri bold" panose="020F0702030404030204" pitchFamily="34" charset="0"/>
              </a:rPr>
            </a:br>
            <a:r>
              <a:rPr lang="en-GB" sz="1600" dirty="0">
                <a:solidFill>
                  <a:schemeClr val="bg1"/>
                </a:solidFill>
                <a:latin typeface="+mj-lt"/>
              </a:rPr>
              <a:t>or in </a:t>
            </a:r>
            <a:r>
              <a:rPr lang="en-GB" sz="1600" dirty="0">
                <a:solidFill>
                  <a:schemeClr val="bg1"/>
                </a:solidFill>
                <a:latin typeface="Calibri bold" panose="020F0702030404030204" pitchFamily="34" charset="0"/>
              </a:rPr>
              <a:t>FURTHER STUDY </a:t>
            </a:r>
            <a:br>
              <a:rPr lang="en-GB" sz="1600" dirty="0">
                <a:solidFill>
                  <a:schemeClr val="bg1"/>
                </a:solidFill>
              </a:rPr>
            </a:br>
            <a:r>
              <a:rPr lang="en-GB" sz="1600" dirty="0">
                <a:solidFill>
                  <a:schemeClr val="bg1"/>
                </a:solidFill>
              </a:rPr>
              <a:t>(</a:t>
            </a:r>
            <a:r>
              <a:rPr lang="en-GB" sz="1600" dirty="0" err="1">
                <a:solidFill>
                  <a:schemeClr val="bg1"/>
                </a:solidFill>
                <a:latin typeface="+mj-lt"/>
              </a:rPr>
              <a:t>DLHE</a:t>
            </a:r>
            <a:r>
              <a:rPr lang="en-GB" sz="1600" dirty="0">
                <a:solidFill>
                  <a:schemeClr val="bg1"/>
                </a:solidFill>
                <a:latin typeface="+mj-lt"/>
              </a:rPr>
              <a:t> 2016)</a:t>
            </a:r>
          </a:p>
        </p:txBody>
      </p:sp>
      <p:sp>
        <p:nvSpPr>
          <p:cNvPr id="18" name="TextBox 17"/>
          <p:cNvSpPr txBox="1"/>
          <p:nvPr userDrawn="1"/>
        </p:nvSpPr>
        <p:spPr>
          <a:xfrm>
            <a:off x="310632" y="4408668"/>
            <a:ext cx="2429356" cy="1500237"/>
          </a:xfrm>
          <a:prstGeom prst="rect">
            <a:avLst/>
          </a:prstGeom>
        </p:spPr>
        <p:txBody>
          <a:bodyPr vert="horz" wrap="square" lIns="91440" tIns="45720" rIns="91440" bIns="45720" rtlCol="0" anchor="b">
            <a:noAutofit/>
          </a:bodyPr>
          <a:lstStyle/>
          <a:p>
            <a:pPr algn="ctr"/>
            <a:r>
              <a:rPr lang="en-GB" sz="1700" dirty="0">
                <a:solidFill>
                  <a:schemeClr val="bg2"/>
                </a:solidFill>
                <a:latin typeface="Calibri bold" panose="020F0702030404030204" pitchFamily="34" charset="0"/>
              </a:rPr>
              <a:t>NEW UNIVERSITIES </a:t>
            </a:r>
            <a:br>
              <a:rPr lang="en-GB" sz="1700" dirty="0">
                <a:solidFill>
                  <a:schemeClr val="bg2"/>
                </a:solidFill>
                <a:latin typeface="+mj-lt"/>
              </a:rPr>
            </a:br>
            <a:r>
              <a:rPr lang="en-GB" sz="1600" dirty="0">
                <a:solidFill>
                  <a:schemeClr val="bg2"/>
                </a:solidFill>
                <a:latin typeface="+mj-lt"/>
              </a:rPr>
              <a:t>in the Times Higher Education Young</a:t>
            </a:r>
            <a:br>
              <a:rPr lang="en-GB" sz="1600" dirty="0">
                <a:solidFill>
                  <a:schemeClr val="bg2"/>
                </a:solidFill>
                <a:latin typeface="+mj-lt"/>
              </a:rPr>
            </a:br>
            <a:r>
              <a:rPr lang="en-GB" sz="1600" dirty="0">
                <a:solidFill>
                  <a:schemeClr val="bg2"/>
                </a:solidFill>
                <a:latin typeface="+mj-lt"/>
              </a:rPr>
              <a:t>University Rankings 2017</a:t>
            </a:r>
            <a:endParaRPr lang="en-GB" sz="1600" dirty="0">
              <a:solidFill>
                <a:schemeClr val="tx1">
                  <a:lumMod val="50000"/>
                  <a:lumOff val="50000"/>
                </a:schemeClr>
              </a:solidFill>
              <a:latin typeface="+mj-lt"/>
            </a:endParaRPr>
          </a:p>
        </p:txBody>
      </p:sp>
      <p:sp>
        <p:nvSpPr>
          <p:cNvPr id="19" name="TextBox 18"/>
          <p:cNvSpPr txBox="1"/>
          <p:nvPr userDrawn="1"/>
        </p:nvSpPr>
        <p:spPr>
          <a:xfrm>
            <a:off x="6174008" y="816535"/>
            <a:ext cx="2655668" cy="717033"/>
          </a:xfrm>
          <a:prstGeom prst="rect">
            <a:avLst/>
          </a:prstGeom>
        </p:spPr>
        <p:txBody>
          <a:bodyPr vert="horz" wrap="square" lIns="91440" tIns="45720" rIns="91440" bIns="45720" rtlCol="0" anchor="b">
            <a:noAutofit/>
          </a:bodyPr>
          <a:lstStyle/>
          <a:p>
            <a:pPr algn="ctr"/>
            <a:r>
              <a:rPr lang="en-GB" sz="1600" dirty="0">
                <a:solidFill>
                  <a:schemeClr val="bg2"/>
                </a:solidFill>
                <a:latin typeface="+mj-lt"/>
              </a:rPr>
              <a:t>in The Guardian’s </a:t>
            </a:r>
            <a:br>
              <a:rPr lang="en-GB" sz="1600" dirty="0">
                <a:solidFill>
                  <a:schemeClr val="bg2"/>
                </a:solidFill>
                <a:latin typeface="+mj-lt"/>
              </a:rPr>
            </a:br>
            <a:r>
              <a:rPr lang="en-GB" sz="1600" dirty="0">
                <a:solidFill>
                  <a:schemeClr val="bg2"/>
                </a:solidFill>
                <a:latin typeface="+mj-lt"/>
              </a:rPr>
              <a:t>University guide 2018</a:t>
            </a:r>
          </a:p>
        </p:txBody>
      </p:sp>
      <p:sp>
        <p:nvSpPr>
          <p:cNvPr id="20" name="TextBox 19"/>
          <p:cNvSpPr txBox="1"/>
          <p:nvPr userDrawn="1"/>
        </p:nvSpPr>
        <p:spPr>
          <a:xfrm>
            <a:off x="974093" y="1034054"/>
            <a:ext cx="2657475" cy="1712913"/>
          </a:xfrm>
          <a:prstGeom prst="rect">
            <a:avLst/>
          </a:prstGeom>
        </p:spPr>
        <p:txBody>
          <a:bodyPr vert="horz" wrap="square" lIns="91440" tIns="45720" rIns="91440" bIns="45720" rtlCol="0" anchor="b">
            <a:normAutofit/>
          </a:bodyPr>
          <a:lstStyle/>
          <a:p>
            <a:pPr algn="ctr"/>
            <a:r>
              <a:rPr lang="en-GB" dirty="0">
                <a:solidFill>
                  <a:schemeClr val="tx2"/>
                </a:solidFill>
                <a:latin typeface="+mj-lt"/>
              </a:rPr>
              <a:t>in the UK for </a:t>
            </a:r>
            <a:r>
              <a:rPr lang="en-GB" dirty="0">
                <a:solidFill>
                  <a:schemeClr val="tx2"/>
                </a:solidFill>
                <a:latin typeface="Calibri bold" panose="020F0702030404030204" pitchFamily="34" charset="0"/>
              </a:rPr>
              <a:t>BOOSTING GRADUATE SALARIES</a:t>
            </a:r>
          </a:p>
        </p:txBody>
      </p:sp>
      <p:sp>
        <p:nvSpPr>
          <p:cNvPr id="21" name="TextBox 20"/>
          <p:cNvSpPr txBox="1"/>
          <p:nvPr userDrawn="1"/>
        </p:nvSpPr>
        <p:spPr>
          <a:xfrm>
            <a:off x="2749513" y="4321325"/>
            <a:ext cx="1097280" cy="1082040"/>
          </a:xfrm>
          <a:prstGeom prst="rect">
            <a:avLst/>
          </a:prstGeom>
        </p:spPr>
        <p:txBody>
          <a:bodyPr vert="horz" wrap="square" lIns="91440" tIns="45720" rIns="91440" bIns="45720" rtlCol="0" anchor="b">
            <a:noAutofit/>
          </a:bodyPr>
          <a:lstStyle/>
          <a:p>
            <a:pPr algn="l"/>
            <a:r>
              <a:rPr lang="en-GB" sz="7200" b="1" spc="70" dirty="0">
                <a:solidFill>
                  <a:schemeClr val="accent1"/>
                </a:solidFill>
                <a:latin typeface="Vrinda" panose="020B0502040204020203" pitchFamily="34" charset="0"/>
                <a:ea typeface="Aero Bold" panose="02000000000000000000" pitchFamily="50" charset="2"/>
                <a:cs typeface="Vrinda" panose="020B0502040204020203" pitchFamily="34" charset="0"/>
              </a:rPr>
              <a:t>£</a:t>
            </a:r>
          </a:p>
        </p:txBody>
      </p:sp>
      <p:sp>
        <p:nvSpPr>
          <p:cNvPr id="22" name="TextBox 21"/>
          <p:cNvSpPr txBox="1"/>
          <p:nvPr userDrawn="1"/>
        </p:nvSpPr>
        <p:spPr>
          <a:xfrm>
            <a:off x="7182771" y="899412"/>
            <a:ext cx="1499357" cy="1455789"/>
          </a:xfrm>
          <a:prstGeom prst="rect">
            <a:avLst/>
          </a:prstGeom>
        </p:spPr>
        <p:txBody>
          <a:bodyPr vert="horz" wrap="square" lIns="91440" tIns="45720" rIns="91440" bIns="45720" rtlCol="0" anchor="b">
            <a:normAutofit/>
          </a:bodyPr>
          <a:lstStyle/>
          <a:p>
            <a:pPr algn="l"/>
            <a:r>
              <a:rPr lang="en-GB" sz="4000" spc="70" dirty="0">
                <a:solidFill>
                  <a:schemeClr val="bg2"/>
                </a:solidFill>
                <a:latin typeface="Calibri bold" panose="020F0702030404030204" pitchFamily="34" charset="0"/>
                <a:ea typeface="Aero Bold" panose="02000000000000000000" pitchFamily="50" charset="2"/>
                <a:cs typeface="Calibri bold" panose="020F0702030404030204" pitchFamily="34" charset="0"/>
                <a:sym typeface="Wingdings"/>
              </a:rPr>
              <a:t>5</a:t>
            </a:r>
            <a:endParaRPr lang="en-GB" sz="4000" spc="70" dirty="0">
              <a:solidFill>
                <a:schemeClr val="bg2"/>
              </a:solidFill>
              <a:latin typeface="Calibri bold" panose="020F0702030404030204" pitchFamily="34" charset="0"/>
              <a:ea typeface="Aero Bold" panose="02000000000000000000" pitchFamily="50" charset="2"/>
              <a:cs typeface="Calibri bold" panose="020F0702030404030204" pitchFamily="34" charset="0"/>
            </a:endParaRPr>
          </a:p>
        </p:txBody>
      </p:sp>
      <p:sp>
        <p:nvSpPr>
          <p:cNvPr id="23" name="Rectangle 22"/>
          <p:cNvSpPr/>
          <p:nvPr userDrawn="1"/>
        </p:nvSpPr>
        <p:spPr>
          <a:xfrm>
            <a:off x="6174008" y="443579"/>
            <a:ext cx="2655668" cy="707886"/>
          </a:xfrm>
          <a:prstGeom prst="rect">
            <a:avLst/>
          </a:prstGeom>
        </p:spPr>
        <p:txBody>
          <a:bodyPr wrap="square">
            <a:spAutoFit/>
          </a:bodyPr>
          <a:lstStyle/>
          <a:p>
            <a:pPr algn="ctr"/>
            <a:r>
              <a:rPr lang="en-GB" sz="4000" spc="70" dirty="0">
                <a:solidFill>
                  <a:schemeClr val="bg2"/>
                </a:solidFill>
                <a:latin typeface="Calibri bold" panose="020F0702030404030204" pitchFamily="34" charset="0"/>
                <a:ea typeface="Aero Bold" panose="02000000000000000000" pitchFamily="50" charset="2"/>
                <a:cs typeface="Calibri bold" panose="020F0702030404030204" pitchFamily="34" charset="0"/>
              </a:rPr>
              <a:t>TOP 40</a:t>
            </a:r>
          </a:p>
        </p:txBody>
      </p:sp>
      <p:sp>
        <p:nvSpPr>
          <p:cNvPr id="24" name="Rectangle 23"/>
          <p:cNvSpPr/>
          <p:nvPr userDrawn="1"/>
        </p:nvSpPr>
        <p:spPr>
          <a:xfrm>
            <a:off x="531320" y="4324688"/>
            <a:ext cx="2000228" cy="707886"/>
          </a:xfrm>
          <a:prstGeom prst="rect">
            <a:avLst/>
          </a:prstGeom>
        </p:spPr>
        <p:txBody>
          <a:bodyPr wrap="none">
            <a:spAutoFit/>
          </a:bodyPr>
          <a:lstStyle/>
          <a:p>
            <a:r>
              <a:rPr lang="en-GB" sz="4000" spc="70" dirty="0">
                <a:solidFill>
                  <a:schemeClr val="bg2"/>
                </a:solidFill>
                <a:latin typeface="Calibri bold" panose="020F0702030404030204" pitchFamily="34" charset="0"/>
                <a:ea typeface="Aero Bold" panose="02000000000000000000" pitchFamily="50" charset="2"/>
                <a:cs typeface="Calibri bold" panose="020F0702030404030204" pitchFamily="34" charset="0"/>
              </a:rPr>
              <a:t>TOP 100</a:t>
            </a:r>
          </a:p>
        </p:txBody>
      </p:sp>
      <p:sp>
        <p:nvSpPr>
          <p:cNvPr id="25" name="TextBox 24"/>
          <p:cNvSpPr txBox="1"/>
          <p:nvPr userDrawn="1"/>
        </p:nvSpPr>
        <p:spPr>
          <a:xfrm>
            <a:off x="7367090" y="1338869"/>
            <a:ext cx="1046763" cy="1073254"/>
          </a:xfrm>
          <a:prstGeom prst="rect">
            <a:avLst/>
          </a:prstGeom>
        </p:spPr>
        <p:txBody>
          <a:bodyPr vert="horz" wrap="square" lIns="91440" tIns="45720" rIns="91440" bIns="45720" rtlCol="0" anchor="b">
            <a:normAutofit/>
          </a:bodyPr>
          <a:lstStyle/>
          <a:p>
            <a:pPr algn="l"/>
            <a:r>
              <a:rPr lang="en-GB" sz="4800" spc="70" dirty="0">
                <a:solidFill>
                  <a:schemeClr val="accent1"/>
                </a:solidFill>
                <a:latin typeface="Berlin Sans FB Demi" panose="020E0802020502020306" pitchFamily="34" charset="0"/>
                <a:ea typeface="Aero Bold" panose="02000000000000000000" pitchFamily="50" charset="2"/>
                <a:cs typeface="Calibri bold" panose="020F0702030404030204" pitchFamily="34" charset="0"/>
                <a:sym typeface="Wingdings"/>
              </a:rPr>
              <a:t></a:t>
            </a:r>
            <a:endParaRPr lang="en-GB" sz="4800" spc="70" dirty="0">
              <a:solidFill>
                <a:schemeClr val="accent1"/>
              </a:solidFill>
              <a:latin typeface="Berlin Sans FB Demi" panose="020E0802020502020306" pitchFamily="34" charset="0"/>
              <a:ea typeface="Aero Bold" panose="02000000000000000000" pitchFamily="50" charset="2"/>
              <a:cs typeface="Calibri bold" panose="020F0702030404030204" pitchFamily="34" charset="0"/>
            </a:endParaRPr>
          </a:p>
        </p:txBody>
      </p:sp>
      <p:sp>
        <p:nvSpPr>
          <p:cNvPr id="26" name="TextBox 25"/>
          <p:cNvSpPr txBox="1"/>
          <p:nvPr userDrawn="1"/>
        </p:nvSpPr>
        <p:spPr>
          <a:xfrm>
            <a:off x="3001290" y="4272575"/>
            <a:ext cx="2017041" cy="745417"/>
          </a:xfrm>
          <a:prstGeom prst="rect">
            <a:avLst/>
          </a:prstGeom>
        </p:spPr>
        <p:txBody>
          <a:bodyPr vert="horz" wrap="square" lIns="91440" tIns="45720" rIns="91440" bIns="45720" rtlCol="0" anchor="b">
            <a:noAutofit/>
          </a:bodyPr>
          <a:lstStyle/>
          <a:p>
            <a:pPr algn="ctr"/>
            <a:r>
              <a:rPr lang="en-GB" sz="4000" dirty="0">
                <a:solidFill>
                  <a:schemeClr val="bg1"/>
                </a:solidFill>
                <a:latin typeface="Calibri bold" panose="020F0702030404030204" pitchFamily="34" charset="0"/>
              </a:rPr>
              <a:t>MOST</a:t>
            </a:r>
            <a:r>
              <a:rPr lang="en-GB" sz="1600" dirty="0">
                <a:solidFill>
                  <a:schemeClr val="bg1"/>
                </a:solidFill>
                <a:latin typeface="Calibri bold" panose="020F0702030404030204" pitchFamily="34" charset="0"/>
              </a:rPr>
              <a:t> </a:t>
            </a:r>
            <a:endParaRPr lang="en-GB" sz="1600" dirty="0">
              <a:solidFill>
                <a:schemeClr val="bg1"/>
              </a:solidFill>
              <a:latin typeface="+mj-lt"/>
            </a:endParaRPr>
          </a:p>
        </p:txBody>
      </p:sp>
      <p:sp>
        <p:nvSpPr>
          <p:cNvPr id="27" name="TextBox 26"/>
          <p:cNvSpPr txBox="1"/>
          <p:nvPr userDrawn="1"/>
        </p:nvSpPr>
        <p:spPr>
          <a:xfrm>
            <a:off x="2928377" y="4756148"/>
            <a:ext cx="2191666" cy="393643"/>
          </a:xfrm>
          <a:prstGeom prst="rect">
            <a:avLst/>
          </a:prstGeom>
        </p:spPr>
        <p:txBody>
          <a:bodyPr vert="horz" wrap="square" lIns="91440" tIns="45720" rIns="91440" bIns="45720" rtlCol="0" anchor="b">
            <a:noAutofit/>
          </a:bodyPr>
          <a:lstStyle/>
          <a:p>
            <a:pPr algn="ctr"/>
            <a:r>
              <a:rPr lang="en-GB" dirty="0">
                <a:solidFill>
                  <a:schemeClr val="bg1"/>
                </a:solidFill>
                <a:latin typeface="Calibri bold" panose="020F0702030404030204" pitchFamily="34" charset="0"/>
              </a:rPr>
              <a:t>AFFORDABLE</a:t>
            </a:r>
            <a:r>
              <a:rPr lang="en-GB" sz="1700" dirty="0">
                <a:solidFill>
                  <a:schemeClr val="bg1"/>
                </a:solidFill>
                <a:latin typeface="Calibri bold" panose="020F0702030404030204" pitchFamily="34" charset="0"/>
              </a:rPr>
              <a:t> </a:t>
            </a:r>
            <a:endParaRPr lang="en-GB" sz="1700" dirty="0">
              <a:solidFill>
                <a:schemeClr val="bg1"/>
              </a:solidFill>
              <a:latin typeface="+mj-lt"/>
            </a:endParaRPr>
          </a:p>
        </p:txBody>
      </p:sp>
      <p:sp>
        <p:nvSpPr>
          <p:cNvPr id="28" name="TextBox 27"/>
          <p:cNvSpPr txBox="1"/>
          <p:nvPr userDrawn="1"/>
        </p:nvSpPr>
        <p:spPr>
          <a:xfrm>
            <a:off x="5355568" y="4984039"/>
            <a:ext cx="2929007" cy="619125"/>
          </a:xfrm>
          <a:prstGeom prst="rect">
            <a:avLst/>
          </a:prstGeom>
        </p:spPr>
        <p:txBody>
          <a:bodyPr vert="horz" wrap="square" lIns="91440" tIns="45720" rIns="91440" bIns="45720" rtlCol="0" anchor="b">
            <a:noAutofit/>
          </a:bodyPr>
          <a:lstStyle/>
          <a:p>
            <a:pPr algn="ctr"/>
            <a:r>
              <a:rPr lang="en-GB" sz="4300" spc="70" dirty="0">
                <a:solidFill>
                  <a:schemeClr val="bg1"/>
                </a:solidFill>
                <a:latin typeface="Calibri bold" panose="020F0702030404030204" pitchFamily="34" charset="0"/>
                <a:ea typeface="Aero Bold" panose="02000000000000000000" pitchFamily="50" charset="2"/>
                <a:cs typeface="Calibri bold" panose="020F0702030404030204" pitchFamily="34" charset="0"/>
              </a:rPr>
              <a:t>88% </a:t>
            </a:r>
            <a:endParaRPr lang="en-GB" sz="4300" dirty="0">
              <a:solidFill>
                <a:schemeClr val="bg1"/>
              </a:solidFill>
              <a:latin typeface="+mj-lt"/>
            </a:endParaRPr>
          </a:p>
        </p:txBody>
      </p:sp>
      <p:sp>
        <p:nvSpPr>
          <p:cNvPr id="29" name="TextBox 28"/>
          <p:cNvSpPr txBox="1"/>
          <p:nvPr userDrawn="1"/>
        </p:nvSpPr>
        <p:spPr>
          <a:xfrm>
            <a:off x="4849322" y="3645637"/>
            <a:ext cx="2554123" cy="671512"/>
          </a:xfrm>
          <a:prstGeom prst="rect">
            <a:avLst/>
          </a:prstGeom>
        </p:spPr>
        <p:txBody>
          <a:bodyPr vert="horz" wrap="square" lIns="91440" tIns="45720" rIns="91440" bIns="45720" rtlCol="0" anchor="b">
            <a:normAutofit fontScale="92500" lnSpcReduction="10000"/>
          </a:bodyPr>
          <a:lstStyle/>
          <a:p>
            <a:pPr algn="ctr"/>
            <a:r>
              <a:rPr lang="en-GB" sz="4300" spc="70" dirty="0">
                <a:solidFill>
                  <a:schemeClr val="bg1"/>
                </a:solidFill>
                <a:latin typeface="Calibri bold" panose="020F0702030404030204" pitchFamily="34" charset="0"/>
                <a:ea typeface="Aero Bold" panose="02000000000000000000" pitchFamily="50" charset="2"/>
                <a:cs typeface="Calibri bold" panose="020F0702030404030204" pitchFamily="34" charset="0"/>
              </a:rPr>
              <a:t>96.5% </a:t>
            </a:r>
            <a:endParaRPr lang="en-GB" dirty="0">
              <a:solidFill>
                <a:schemeClr val="bg1"/>
              </a:solidFill>
              <a:latin typeface="+mj-lt"/>
            </a:endParaRPr>
          </a:p>
        </p:txBody>
      </p:sp>
      <p:sp>
        <p:nvSpPr>
          <p:cNvPr id="30" name="TextBox 29"/>
          <p:cNvSpPr txBox="1"/>
          <p:nvPr userDrawn="1"/>
        </p:nvSpPr>
        <p:spPr>
          <a:xfrm>
            <a:off x="6135908" y="2342544"/>
            <a:ext cx="2831083" cy="954766"/>
          </a:xfrm>
          <a:prstGeom prst="rect">
            <a:avLst/>
          </a:prstGeom>
        </p:spPr>
        <p:txBody>
          <a:bodyPr vert="horz" wrap="square" lIns="91440" tIns="45720" rIns="91440" bIns="45720" rtlCol="0" anchor="b">
            <a:noAutofit/>
          </a:bodyPr>
          <a:lstStyle/>
          <a:p>
            <a:pPr algn="ctr"/>
            <a:r>
              <a:rPr lang="en-GB" sz="1700" dirty="0">
                <a:solidFill>
                  <a:schemeClr val="bg2"/>
                </a:solidFill>
                <a:latin typeface="+mj-lt"/>
              </a:rPr>
              <a:t>Rating for </a:t>
            </a:r>
            <a:br>
              <a:rPr lang="en-GB" sz="1700" dirty="0">
                <a:solidFill>
                  <a:schemeClr val="bg2"/>
                </a:solidFill>
                <a:latin typeface="+mj-lt"/>
              </a:rPr>
            </a:br>
            <a:r>
              <a:rPr lang="en-GB" sz="1700" dirty="0">
                <a:solidFill>
                  <a:schemeClr val="bg2"/>
                </a:solidFill>
                <a:latin typeface="Calibri bold" panose="020F0702030404030204" pitchFamily="34" charset="0"/>
              </a:rPr>
              <a:t>TEACHING,  EMPLOYABILITY </a:t>
            </a:r>
            <a:br>
              <a:rPr lang="en-GB" sz="1700" dirty="0">
                <a:solidFill>
                  <a:schemeClr val="bg2"/>
                </a:solidFill>
                <a:latin typeface="Calibri bold" panose="020F0702030404030204" pitchFamily="34" charset="0"/>
              </a:rPr>
            </a:br>
            <a:r>
              <a:rPr lang="en-GB" sz="1700" dirty="0">
                <a:solidFill>
                  <a:schemeClr val="bg2"/>
                </a:solidFill>
                <a:latin typeface="+mj-lt"/>
              </a:rPr>
              <a:t>and </a:t>
            </a:r>
            <a:r>
              <a:rPr lang="en-GB" sz="1700" dirty="0">
                <a:solidFill>
                  <a:schemeClr val="bg2"/>
                </a:solidFill>
                <a:latin typeface="Calibri bold" panose="020F0702030404030204" pitchFamily="34" charset="0"/>
              </a:rPr>
              <a:t>FACILITIES</a:t>
            </a:r>
          </a:p>
          <a:p>
            <a:pPr algn="ctr"/>
            <a:r>
              <a:rPr lang="en-GB" sz="1600" dirty="0">
                <a:solidFill>
                  <a:schemeClr val="bg2"/>
                </a:solidFill>
                <a:latin typeface="+mj-lt"/>
              </a:rPr>
              <a:t>(QS World University Ranking)</a:t>
            </a:r>
          </a:p>
        </p:txBody>
      </p:sp>
      <p:sp>
        <p:nvSpPr>
          <p:cNvPr id="31" name="TextBox 30"/>
          <p:cNvSpPr txBox="1"/>
          <p:nvPr userDrawn="1"/>
        </p:nvSpPr>
        <p:spPr>
          <a:xfrm>
            <a:off x="1582605" y="546434"/>
            <a:ext cx="2657475" cy="1712913"/>
          </a:xfrm>
          <a:prstGeom prst="rect">
            <a:avLst/>
          </a:prstGeom>
        </p:spPr>
        <p:txBody>
          <a:bodyPr vert="horz" wrap="square" lIns="91440" tIns="45720" rIns="91440" bIns="45720" rtlCol="0" anchor="b">
            <a:normAutofit/>
          </a:bodyPr>
          <a:lstStyle/>
          <a:p>
            <a:pPr algn="ctr"/>
            <a:r>
              <a:rPr lang="en-GB" sz="4400" spc="70" dirty="0">
                <a:solidFill>
                  <a:schemeClr val="tx2"/>
                </a:solidFill>
                <a:latin typeface="Calibri bold" panose="020F0702030404030204" pitchFamily="34" charset="0"/>
                <a:ea typeface="Aero Bold" panose="02000000000000000000" pitchFamily="50" charset="2"/>
                <a:cs typeface="Calibri bold" panose="020F0702030404030204" pitchFamily="34" charset="0"/>
              </a:rPr>
              <a:t>NO.1</a:t>
            </a:r>
            <a:endParaRPr lang="en-GB" dirty="0">
              <a:solidFill>
                <a:schemeClr val="tx2"/>
              </a:solidFill>
              <a:latin typeface="Calibri bold" panose="020F0702030404030204" pitchFamily="34" charset="0"/>
            </a:endParaRPr>
          </a:p>
        </p:txBody>
      </p:sp>
      <p:sp>
        <p:nvSpPr>
          <p:cNvPr id="3" name="Text Placeholder 2"/>
          <p:cNvSpPr>
            <a:spLocks noGrp="1"/>
          </p:cNvSpPr>
          <p:nvPr>
            <p:ph type="body" sz="quarter" idx="10" hasCustomPrompt="1"/>
          </p:nvPr>
        </p:nvSpPr>
        <p:spPr>
          <a:xfrm>
            <a:off x="336621" y="583586"/>
            <a:ext cx="5812134" cy="1130300"/>
          </a:xfrm>
          <a:prstGeom prst="rect">
            <a:avLst/>
          </a:prstGeom>
        </p:spPr>
        <p:txBody>
          <a:bodyPr/>
          <a:lstStyle>
            <a:lvl1pPr marL="0" indent="0">
              <a:buNone/>
              <a:defRPr lang="en-GB" sz="4400" kern="1200" spc="70" baseline="0" dirty="0">
                <a:solidFill>
                  <a:schemeClr val="tx2"/>
                </a:solidFill>
                <a:latin typeface="Calibri bold" panose="020F0702030404030204" pitchFamily="34" charset="0"/>
                <a:ea typeface="Aero Bold" panose="02000000000000000000" pitchFamily="50" charset="2"/>
                <a:cs typeface="Calibri bold" panose="020F0702030404030204" pitchFamily="34" charset="0"/>
              </a:defRPr>
            </a:lvl1pPr>
          </a:lstStyle>
          <a:p>
            <a:pPr lvl="0"/>
            <a:r>
              <a:rPr lang="en-US" dirty="0"/>
              <a:t>CLICK TO ADD TITLE</a:t>
            </a:r>
            <a:endParaRPr lang="en-GB" dirty="0"/>
          </a:p>
        </p:txBody>
      </p:sp>
    </p:spTree>
    <p:extLst>
      <p:ext uri="{BB962C8B-B14F-4D97-AF65-F5344CB8AC3E}">
        <p14:creationId xmlns:p14="http://schemas.microsoft.com/office/powerpoint/2010/main" val="31581133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a_Content slide">
    <p:spTree>
      <p:nvGrpSpPr>
        <p:cNvPr id="1" name=""/>
        <p:cNvGrpSpPr/>
        <p:nvPr/>
      </p:nvGrpSpPr>
      <p:grpSpPr>
        <a:xfrm>
          <a:off x="0" y="0"/>
          <a:ext cx="0" cy="0"/>
          <a:chOff x="0" y="0"/>
          <a:chExt cx="0" cy="0"/>
        </a:xfrm>
      </p:grpSpPr>
      <p:sp>
        <p:nvSpPr>
          <p:cNvPr id="10" name="Titel 1">
            <a:extLst>
              <a:ext uri="{FF2B5EF4-FFF2-40B4-BE49-F238E27FC236}">
                <a16:creationId xmlns:a16="http://schemas.microsoft.com/office/drawing/2014/main" id="{4F078DCB-93EE-4BE7-A995-4A147D8579B4}"/>
              </a:ext>
            </a:extLst>
          </p:cNvPr>
          <p:cNvSpPr>
            <a:spLocks noGrp="1"/>
          </p:cNvSpPr>
          <p:nvPr>
            <p:ph type="title" hasCustomPrompt="1"/>
          </p:nvPr>
        </p:nvSpPr>
        <p:spPr>
          <a:xfrm>
            <a:off x="362904" y="560367"/>
            <a:ext cx="8358309" cy="1136672"/>
          </a:xfrm>
          <a:prstGeom prst="rect">
            <a:avLst/>
          </a:prstGeom>
        </p:spPr>
        <p:txBody>
          <a:bodyPr anchor="t">
            <a:noAutofit/>
          </a:bodyPr>
          <a:lstStyle>
            <a:lvl1pPr algn="l">
              <a:lnSpc>
                <a:spcPts val="3600"/>
              </a:lnSpc>
              <a:defRPr sz="4400" spc="70" baseline="0">
                <a:solidFill>
                  <a:schemeClr val="tx2"/>
                </a:solidFill>
                <a:latin typeface="Calibri bold" panose="020F0702030404030204" pitchFamily="34" charset="0"/>
                <a:cs typeface="Calibri bold" panose="020F0702030404030204" pitchFamily="34" charset="0"/>
              </a:defRPr>
            </a:lvl1pPr>
          </a:lstStyle>
          <a:p>
            <a:r>
              <a:rPr lang="nl-NL" dirty="0"/>
              <a:t>CLICK TO ADD TITLE</a:t>
            </a:r>
            <a:endParaRPr lang="en-GB" dirty="0"/>
          </a:p>
        </p:txBody>
      </p:sp>
      <p:pic>
        <p:nvPicPr>
          <p:cNvPr id="5" name="Afbeelding 13">
            <a:extLst>
              <a:ext uri="{FF2B5EF4-FFF2-40B4-BE49-F238E27FC236}">
                <a16:creationId xmlns:a16="http://schemas.microsoft.com/office/drawing/2014/main" id="{A6DEE0E1-E6DD-48F9-961A-927DFCE6748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1488" y="6225042"/>
            <a:ext cx="1298114" cy="461977"/>
          </a:xfrm>
          <a:prstGeom prst="rect">
            <a:avLst/>
          </a:prstGeom>
          <a:noFill/>
          <a:ln>
            <a:noFill/>
          </a:ln>
        </p:spPr>
      </p:pic>
      <p:sp>
        <p:nvSpPr>
          <p:cNvPr id="8" name="Rechthoek 17">
            <a:extLst>
              <a:ext uri="{FF2B5EF4-FFF2-40B4-BE49-F238E27FC236}">
                <a16:creationId xmlns:a16="http://schemas.microsoft.com/office/drawing/2014/main" id="{552F9B91-4010-4562-9359-EED6891B29B8}"/>
              </a:ext>
            </a:extLst>
          </p:cNvPr>
          <p:cNvSpPr/>
          <p:nvPr userDrawn="1"/>
        </p:nvSpPr>
        <p:spPr>
          <a:xfrm>
            <a:off x="8810624" y="3415144"/>
            <a:ext cx="333376" cy="3442856"/>
          </a:xfrm>
          <a:prstGeom prst="rect">
            <a:avLst/>
          </a:prstGeom>
          <a:solidFill>
            <a:srgbClr val="3C023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1" name="Rechthoek 15">
            <a:extLst>
              <a:ext uri="{FF2B5EF4-FFF2-40B4-BE49-F238E27FC236}">
                <a16:creationId xmlns:a16="http://schemas.microsoft.com/office/drawing/2014/main" id="{1D820570-21E1-43AC-BE0D-02ADF7C4CF21}"/>
              </a:ext>
            </a:extLst>
          </p:cNvPr>
          <p:cNvSpPr/>
          <p:nvPr userDrawn="1"/>
        </p:nvSpPr>
        <p:spPr>
          <a:xfrm>
            <a:off x="8810624" y="0"/>
            <a:ext cx="336879" cy="342597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Content Placeholder 2"/>
          <p:cNvSpPr>
            <a:spLocks noGrp="1"/>
          </p:cNvSpPr>
          <p:nvPr>
            <p:ph idx="1"/>
          </p:nvPr>
        </p:nvSpPr>
        <p:spPr>
          <a:xfrm>
            <a:off x="368711" y="1708353"/>
            <a:ext cx="8373651" cy="442574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3508566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b_Content slide">
    <p:spTree>
      <p:nvGrpSpPr>
        <p:cNvPr id="1" name=""/>
        <p:cNvGrpSpPr/>
        <p:nvPr/>
      </p:nvGrpSpPr>
      <p:grpSpPr>
        <a:xfrm>
          <a:off x="0" y="0"/>
          <a:ext cx="0" cy="0"/>
          <a:chOff x="0" y="0"/>
          <a:chExt cx="0" cy="0"/>
        </a:xfrm>
      </p:grpSpPr>
      <p:sp>
        <p:nvSpPr>
          <p:cNvPr id="10" name="Titel 1">
            <a:extLst>
              <a:ext uri="{FF2B5EF4-FFF2-40B4-BE49-F238E27FC236}">
                <a16:creationId xmlns:a16="http://schemas.microsoft.com/office/drawing/2014/main" id="{4F078DCB-93EE-4BE7-A995-4A147D8579B4}"/>
              </a:ext>
            </a:extLst>
          </p:cNvPr>
          <p:cNvSpPr>
            <a:spLocks noGrp="1"/>
          </p:cNvSpPr>
          <p:nvPr>
            <p:ph type="title" hasCustomPrompt="1"/>
          </p:nvPr>
        </p:nvSpPr>
        <p:spPr>
          <a:xfrm>
            <a:off x="362904" y="560367"/>
            <a:ext cx="8447721" cy="1136672"/>
          </a:xfrm>
          <a:prstGeom prst="rect">
            <a:avLst/>
          </a:prstGeom>
        </p:spPr>
        <p:txBody>
          <a:bodyPr anchor="t">
            <a:noAutofit/>
          </a:bodyPr>
          <a:lstStyle>
            <a:lvl1pPr algn="l">
              <a:lnSpc>
                <a:spcPts val="3600"/>
              </a:lnSpc>
              <a:defRPr sz="4400" spc="70" baseline="0">
                <a:solidFill>
                  <a:schemeClr val="tx2"/>
                </a:solidFill>
                <a:latin typeface="Calibri bold" panose="020F0702030404030204" pitchFamily="34" charset="0"/>
                <a:cs typeface="Calibri bold" panose="020F0702030404030204" pitchFamily="34" charset="0"/>
              </a:defRPr>
            </a:lvl1pPr>
          </a:lstStyle>
          <a:p>
            <a:r>
              <a:rPr lang="nl-NL" dirty="0"/>
              <a:t>CLICK TO ADD TITLE</a:t>
            </a:r>
            <a:endParaRPr lang="en-GB" dirty="0"/>
          </a:p>
        </p:txBody>
      </p:sp>
      <p:pic>
        <p:nvPicPr>
          <p:cNvPr id="5" name="Afbeelding 13">
            <a:extLst>
              <a:ext uri="{FF2B5EF4-FFF2-40B4-BE49-F238E27FC236}">
                <a16:creationId xmlns:a16="http://schemas.microsoft.com/office/drawing/2014/main" id="{A6DEE0E1-E6DD-48F9-961A-927DFCE6748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1488" y="6225042"/>
            <a:ext cx="1298114" cy="461977"/>
          </a:xfrm>
          <a:prstGeom prst="rect">
            <a:avLst/>
          </a:prstGeom>
          <a:noFill/>
          <a:ln>
            <a:noFill/>
          </a:ln>
        </p:spPr>
      </p:pic>
      <p:sp>
        <p:nvSpPr>
          <p:cNvPr id="8" name="Rechthoek 17">
            <a:extLst>
              <a:ext uri="{FF2B5EF4-FFF2-40B4-BE49-F238E27FC236}">
                <a16:creationId xmlns:a16="http://schemas.microsoft.com/office/drawing/2014/main" id="{552F9B91-4010-4562-9359-EED6891B29B8}"/>
              </a:ext>
            </a:extLst>
          </p:cNvPr>
          <p:cNvSpPr/>
          <p:nvPr userDrawn="1"/>
        </p:nvSpPr>
        <p:spPr>
          <a:xfrm>
            <a:off x="8810624" y="3415144"/>
            <a:ext cx="333376" cy="3442856"/>
          </a:xfrm>
          <a:prstGeom prst="rect">
            <a:avLst/>
          </a:prstGeom>
          <a:solidFill>
            <a:srgbClr val="3C023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1" name="Rechthoek 15">
            <a:extLst>
              <a:ext uri="{FF2B5EF4-FFF2-40B4-BE49-F238E27FC236}">
                <a16:creationId xmlns:a16="http://schemas.microsoft.com/office/drawing/2014/main" id="{1D820570-21E1-43AC-BE0D-02ADF7C4CF21}"/>
              </a:ext>
            </a:extLst>
          </p:cNvPr>
          <p:cNvSpPr/>
          <p:nvPr userDrawn="1"/>
        </p:nvSpPr>
        <p:spPr>
          <a:xfrm>
            <a:off x="8810624" y="0"/>
            <a:ext cx="336879" cy="342597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Content Placeholder 2"/>
          <p:cNvSpPr>
            <a:spLocks noGrp="1"/>
          </p:cNvSpPr>
          <p:nvPr>
            <p:ph sz="half" idx="1"/>
          </p:nvPr>
        </p:nvSpPr>
        <p:spPr>
          <a:xfrm>
            <a:off x="368712" y="1708353"/>
            <a:ext cx="4038600" cy="4425748"/>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Content Placeholder 3"/>
          <p:cNvSpPr>
            <a:spLocks noGrp="1"/>
          </p:cNvSpPr>
          <p:nvPr>
            <p:ph sz="half" idx="2"/>
          </p:nvPr>
        </p:nvSpPr>
        <p:spPr>
          <a:xfrm>
            <a:off x="4766184" y="1708353"/>
            <a:ext cx="4038600" cy="4425748"/>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9959571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c_Content slide">
    <p:spTree>
      <p:nvGrpSpPr>
        <p:cNvPr id="1" name=""/>
        <p:cNvGrpSpPr/>
        <p:nvPr/>
      </p:nvGrpSpPr>
      <p:grpSpPr>
        <a:xfrm>
          <a:off x="0" y="0"/>
          <a:ext cx="0" cy="0"/>
          <a:chOff x="0" y="0"/>
          <a:chExt cx="0" cy="0"/>
        </a:xfrm>
      </p:grpSpPr>
      <p:sp>
        <p:nvSpPr>
          <p:cNvPr id="10" name="Titel 1">
            <a:extLst>
              <a:ext uri="{FF2B5EF4-FFF2-40B4-BE49-F238E27FC236}">
                <a16:creationId xmlns:a16="http://schemas.microsoft.com/office/drawing/2014/main" id="{4F078DCB-93EE-4BE7-A995-4A147D8579B4}"/>
              </a:ext>
            </a:extLst>
          </p:cNvPr>
          <p:cNvSpPr>
            <a:spLocks noGrp="1"/>
          </p:cNvSpPr>
          <p:nvPr>
            <p:ph type="title" hasCustomPrompt="1"/>
          </p:nvPr>
        </p:nvSpPr>
        <p:spPr>
          <a:xfrm>
            <a:off x="362904" y="560367"/>
            <a:ext cx="4523421" cy="1136672"/>
          </a:xfrm>
          <a:prstGeom prst="rect">
            <a:avLst/>
          </a:prstGeom>
        </p:spPr>
        <p:txBody>
          <a:bodyPr anchor="t">
            <a:noAutofit/>
          </a:bodyPr>
          <a:lstStyle>
            <a:lvl1pPr algn="l">
              <a:lnSpc>
                <a:spcPts val="3600"/>
              </a:lnSpc>
              <a:defRPr sz="4400" spc="70" baseline="0">
                <a:solidFill>
                  <a:schemeClr val="tx2"/>
                </a:solidFill>
                <a:latin typeface="Calibri bold" panose="020F0702030404030204" pitchFamily="34" charset="0"/>
                <a:cs typeface="Calibri bold" panose="020F0702030404030204" pitchFamily="34" charset="0"/>
              </a:defRPr>
            </a:lvl1pPr>
          </a:lstStyle>
          <a:p>
            <a:r>
              <a:rPr lang="nl-NL" dirty="0"/>
              <a:t>CLICK TO ADD TITLE</a:t>
            </a:r>
            <a:endParaRPr lang="en-GB" dirty="0"/>
          </a:p>
        </p:txBody>
      </p:sp>
      <p:pic>
        <p:nvPicPr>
          <p:cNvPr id="5" name="Afbeelding 13">
            <a:extLst>
              <a:ext uri="{FF2B5EF4-FFF2-40B4-BE49-F238E27FC236}">
                <a16:creationId xmlns:a16="http://schemas.microsoft.com/office/drawing/2014/main" id="{A6DEE0E1-E6DD-48F9-961A-927DFCE6748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1488" y="6225042"/>
            <a:ext cx="1298114" cy="461977"/>
          </a:xfrm>
          <a:prstGeom prst="rect">
            <a:avLst/>
          </a:prstGeom>
          <a:noFill/>
          <a:ln>
            <a:noFill/>
          </a:ln>
        </p:spPr>
      </p:pic>
      <p:sp>
        <p:nvSpPr>
          <p:cNvPr id="8" name="Rechthoek 17">
            <a:extLst>
              <a:ext uri="{FF2B5EF4-FFF2-40B4-BE49-F238E27FC236}">
                <a16:creationId xmlns:a16="http://schemas.microsoft.com/office/drawing/2014/main" id="{552F9B91-4010-4562-9359-EED6891B29B8}"/>
              </a:ext>
            </a:extLst>
          </p:cNvPr>
          <p:cNvSpPr/>
          <p:nvPr userDrawn="1"/>
        </p:nvSpPr>
        <p:spPr>
          <a:xfrm>
            <a:off x="8810624" y="3415144"/>
            <a:ext cx="333376" cy="3442856"/>
          </a:xfrm>
          <a:prstGeom prst="rect">
            <a:avLst/>
          </a:prstGeom>
          <a:solidFill>
            <a:srgbClr val="3C023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1" name="Rechthoek 15">
            <a:extLst>
              <a:ext uri="{FF2B5EF4-FFF2-40B4-BE49-F238E27FC236}">
                <a16:creationId xmlns:a16="http://schemas.microsoft.com/office/drawing/2014/main" id="{1D820570-21E1-43AC-BE0D-02ADF7C4CF21}"/>
              </a:ext>
            </a:extLst>
          </p:cNvPr>
          <p:cNvSpPr/>
          <p:nvPr userDrawn="1"/>
        </p:nvSpPr>
        <p:spPr>
          <a:xfrm>
            <a:off x="8810624" y="0"/>
            <a:ext cx="336879" cy="342597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Content Placeholder 2"/>
          <p:cNvSpPr>
            <a:spLocks noGrp="1"/>
          </p:cNvSpPr>
          <p:nvPr>
            <p:ph sz="half" idx="1"/>
          </p:nvPr>
        </p:nvSpPr>
        <p:spPr>
          <a:xfrm>
            <a:off x="368712" y="1708353"/>
            <a:ext cx="4038600" cy="4425748"/>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Picture Placeholder 2"/>
          <p:cNvSpPr>
            <a:spLocks noGrp="1"/>
          </p:cNvSpPr>
          <p:nvPr>
            <p:ph type="pic" sz="quarter" idx="10"/>
          </p:nvPr>
        </p:nvSpPr>
        <p:spPr>
          <a:xfrm>
            <a:off x="4886325" y="547689"/>
            <a:ext cx="3924300" cy="2881312"/>
          </a:xfrm>
          <a:prstGeom prst="rect">
            <a:avLst/>
          </a:prstGeom>
        </p:spPr>
        <p:txBody>
          <a:bodyPr/>
          <a:lstStyle/>
          <a:p>
            <a:endParaRPr lang="en-GB" dirty="0"/>
          </a:p>
        </p:txBody>
      </p:sp>
      <p:sp>
        <p:nvSpPr>
          <p:cNvPr id="12" name="Picture Placeholder 2"/>
          <p:cNvSpPr>
            <a:spLocks noGrp="1"/>
          </p:cNvSpPr>
          <p:nvPr>
            <p:ph type="pic" sz="quarter" idx="11"/>
          </p:nvPr>
        </p:nvSpPr>
        <p:spPr>
          <a:xfrm>
            <a:off x="4886325" y="3425979"/>
            <a:ext cx="3924300" cy="2708121"/>
          </a:xfrm>
          <a:prstGeom prst="rect">
            <a:avLst/>
          </a:prstGeom>
        </p:spPr>
        <p:txBody>
          <a:bodyPr/>
          <a:lstStyle/>
          <a:p>
            <a:endParaRPr lang="en-GB"/>
          </a:p>
        </p:txBody>
      </p:sp>
    </p:spTree>
    <p:extLst>
      <p:ext uri="{BB962C8B-B14F-4D97-AF65-F5344CB8AC3E}">
        <p14:creationId xmlns:p14="http://schemas.microsoft.com/office/powerpoint/2010/main" val="10740943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a_Content slide">
    <p:spTree>
      <p:nvGrpSpPr>
        <p:cNvPr id="1" name=""/>
        <p:cNvGrpSpPr/>
        <p:nvPr/>
      </p:nvGrpSpPr>
      <p:grpSpPr>
        <a:xfrm>
          <a:off x="0" y="0"/>
          <a:ext cx="0" cy="0"/>
          <a:chOff x="0" y="0"/>
          <a:chExt cx="0" cy="0"/>
        </a:xfrm>
      </p:grpSpPr>
      <p:sp>
        <p:nvSpPr>
          <p:cNvPr id="9" name="Rechthoek 17">
            <a:extLst>
              <a:ext uri="{FF2B5EF4-FFF2-40B4-BE49-F238E27FC236}">
                <a16:creationId xmlns:a16="http://schemas.microsoft.com/office/drawing/2014/main" id="{552F9B91-4010-4562-9359-EED6891B29B8}"/>
              </a:ext>
            </a:extLst>
          </p:cNvPr>
          <p:cNvSpPr/>
          <p:nvPr userDrawn="1"/>
        </p:nvSpPr>
        <p:spPr>
          <a:xfrm>
            <a:off x="4454013" y="3415144"/>
            <a:ext cx="4689987" cy="3442856"/>
          </a:xfrm>
          <a:prstGeom prst="rect">
            <a:avLst/>
          </a:prstGeom>
          <a:solidFill>
            <a:srgbClr val="3C023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2" name="Rechthoek 15">
            <a:extLst>
              <a:ext uri="{FF2B5EF4-FFF2-40B4-BE49-F238E27FC236}">
                <a16:creationId xmlns:a16="http://schemas.microsoft.com/office/drawing/2014/main" id="{1D820570-21E1-43AC-BE0D-02ADF7C4CF21}"/>
              </a:ext>
            </a:extLst>
          </p:cNvPr>
          <p:cNvSpPr/>
          <p:nvPr userDrawn="1"/>
        </p:nvSpPr>
        <p:spPr>
          <a:xfrm>
            <a:off x="6145162" y="0"/>
            <a:ext cx="3002342" cy="342597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Titel 1">
            <a:extLst>
              <a:ext uri="{FF2B5EF4-FFF2-40B4-BE49-F238E27FC236}">
                <a16:creationId xmlns:a16="http://schemas.microsoft.com/office/drawing/2014/main" id="{4F078DCB-93EE-4BE7-A995-4A147D8579B4}"/>
              </a:ext>
            </a:extLst>
          </p:cNvPr>
          <p:cNvSpPr>
            <a:spLocks noGrp="1"/>
          </p:cNvSpPr>
          <p:nvPr>
            <p:ph type="title" hasCustomPrompt="1"/>
          </p:nvPr>
        </p:nvSpPr>
        <p:spPr>
          <a:xfrm>
            <a:off x="362904" y="560367"/>
            <a:ext cx="8447720" cy="1136672"/>
          </a:xfrm>
          <a:prstGeom prst="rect">
            <a:avLst/>
          </a:prstGeom>
        </p:spPr>
        <p:txBody>
          <a:bodyPr anchor="t">
            <a:noAutofit/>
          </a:bodyPr>
          <a:lstStyle>
            <a:lvl1pPr algn="l">
              <a:lnSpc>
                <a:spcPts val="3600"/>
              </a:lnSpc>
              <a:defRPr sz="4400" spc="70" baseline="0">
                <a:solidFill>
                  <a:schemeClr val="tx2"/>
                </a:solidFill>
                <a:latin typeface="Calibri bold" panose="020F0702030404030204" pitchFamily="34" charset="0"/>
                <a:cs typeface="Calibri bold" panose="020F0702030404030204" pitchFamily="34" charset="0"/>
              </a:defRPr>
            </a:lvl1pPr>
          </a:lstStyle>
          <a:p>
            <a:r>
              <a:rPr lang="nl-NL" dirty="0"/>
              <a:t>CLICK TO ADD TITLE</a:t>
            </a:r>
            <a:endParaRPr lang="en-GB" dirty="0"/>
          </a:p>
        </p:txBody>
      </p:sp>
      <p:pic>
        <p:nvPicPr>
          <p:cNvPr id="5" name="Afbeelding 13">
            <a:extLst>
              <a:ext uri="{FF2B5EF4-FFF2-40B4-BE49-F238E27FC236}">
                <a16:creationId xmlns:a16="http://schemas.microsoft.com/office/drawing/2014/main" id="{A6DEE0E1-E6DD-48F9-961A-927DFCE6748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1488" y="6225042"/>
            <a:ext cx="1298114" cy="461977"/>
          </a:xfrm>
          <a:prstGeom prst="rect">
            <a:avLst/>
          </a:prstGeom>
          <a:noFill/>
          <a:ln>
            <a:noFill/>
          </a:ln>
        </p:spPr>
      </p:pic>
      <p:sp>
        <p:nvSpPr>
          <p:cNvPr id="8" name="Rechthoek 17">
            <a:extLst>
              <a:ext uri="{FF2B5EF4-FFF2-40B4-BE49-F238E27FC236}">
                <a16:creationId xmlns:a16="http://schemas.microsoft.com/office/drawing/2014/main" id="{552F9B91-4010-4562-9359-EED6891B29B8}"/>
              </a:ext>
            </a:extLst>
          </p:cNvPr>
          <p:cNvSpPr/>
          <p:nvPr userDrawn="1"/>
        </p:nvSpPr>
        <p:spPr>
          <a:xfrm>
            <a:off x="8810624" y="3415144"/>
            <a:ext cx="333376" cy="3442856"/>
          </a:xfrm>
          <a:prstGeom prst="rect">
            <a:avLst/>
          </a:prstGeom>
          <a:solidFill>
            <a:srgbClr val="3C023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1" name="Rechthoek 15">
            <a:extLst>
              <a:ext uri="{FF2B5EF4-FFF2-40B4-BE49-F238E27FC236}">
                <a16:creationId xmlns:a16="http://schemas.microsoft.com/office/drawing/2014/main" id="{1D820570-21E1-43AC-BE0D-02ADF7C4CF21}"/>
              </a:ext>
            </a:extLst>
          </p:cNvPr>
          <p:cNvSpPr/>
          <p:nvPr userDrawn="1"/>
        </p:nvSpPr>
        <p:spPr>
          <a:xfrm>
            <a:off x="8810624" y="0"/>
            <a:ext cx="336879" cy="342597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Content Placeholder 2"/>
          <p:cNvSpPr>
            <a:spLocks noGrp="1"/>
          </p:cNvSpPr>
          <p:nvPr>
            <p:ph idx="1"/>
          </p:nvPr>
        </p:nvSpPr>
        <p:spPr>
          <a:xfrm>
            <a:off x="368711" y="1708353"/>
            <a:ext cx="8441913" cy="442574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5046823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b_Content slide">
    <p:spTree>
      <p:nvGrpSpPr>
        <p:cNvPr id="1" name=""/>
        <p:cNvGrpSpPr/>
        <p:nvPr/>
      </p:nvGrpSpPr>
      <p:grpSpPr>
        <a:xfrm>
          <a:off x="0" y="0"/>
          <a:ext cx="0" cy="0"/>
          <a:chOff x="0" y="0"/>
          <a:chExt cx="0" cy="0"/>
        </a:xfrm>
      </p:grpSpPr>
      <p:sp>
        <p:nvSpPr>
          <p:cNvPr id="12" name="Rechthoek 17">
            <a:extLst>
              <a:ext uri="{FF2B5EF4-FFF2-40B4-BE49-F238E27FC236}">
                <a16:creationId xmlns:a16="http://schemas.microsoft.com/office/drawing/2014/main" id="{552F9B91-4010-4562-9359-EED6891B29B8}"/>
              </a:ext>
            </a:extLst>
          </p:cNvPr>
          <p:cNvSpPr/>
          <p:nvPr userDrawn="1"/>
        </p:nvSpPr>
        <p:spPr>
          <a:xfrm>
            <a:off x="4454013" y="3415144"/>
            <a:ext cx="4689987" cy="3442856"/>
          </a:xfrm>
          <a:prstGeom prst="rect">
            <a:avLst/>
          </a:prstGeom>
          <a:solidFill>
            <a:srgbClr val="3C023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3" name="Rechthoek 15">
            <a:extLst>
              <a:ext uri="{FF2B5EF4-FFF2-40B4-BE49-F238E27FC236}">
                <a16:creationId xmlns:a16="http://schemas.microsoft.com/office/drawing/2014/main" id="{1D820570-21E1-43AC-BE0D-02ADF7C4CF21}"/>
              </a:ext>
            </a:extLst>
          </p:cNvPr>
          <p:cNvSpPr/>
          <p:nvPr userDrawn="1"/>
        </p:nvSpPr>
        <p:spPr>
          <a:xfrm>
            <a:off x="6145162" y="0"/>
            <a:ext cx="3002342" cy="342597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Titel 1">
            <a:extLst>
              <a:ext uri="{FF2B5EF4-FFF2-40B4-BE49-F238E27FC236}">
                <a16:creationId xmlns:a16="http://schemas.microsoft.com/office/drawing/2014/main" id="{4F078DCB-93EE-4BE7-A995-4A147D8579B4}"/>
              </a:ext>
            </a:extLst>
          </p:cNvPr>
          <p:cNvSpPr>
            <a:spLocks noGrp="1"/>
          </p:cNvSpPr>
          <p:nvPr>
            <p:ph type="title" hasCustomPrompt="1"/>
          </p:nvPr>
        </p:nvSpPr>
        <p:spPr>
          <a:xfrm>
            <a:off x="362904" y="560367"/>
            <a:ext cx="8447720" cy="1136672"/>
          </a:xfrm>
          <a:prstGeom prst="rect">
            <a:avLst/>
          </a:prstGeom>
        </p:spPr>
        <p:txBody>
          <a:bodyPr anchor="t">
            <a:noAutofit/>
          </a:bodyPr>
          <a:lstStyle>
            <a:lvl1pPr algn="l">
              <a:lnSpc>
                <a:spcPts val="3600"/>
              </a:lnSpc>
              <a:defRPr sz="4400" spc="70" baseline="0">
                <a:solidFill>
                  <a:schemeClr val="tx2"/>
                </a:solidFill>
                <a:latin typeface="Calibri bold" panose="020F0702030404030204" pitchFamily="34" charset="0"/>
                <a:cs typeface="Calibri bold" panose="020F0702030404030204" pitchFamily="34" charset="0"/>
              </a:defRPr>
            </a:lvl1pPr>
          </a:lstStyle>
          <a:p>
            <a:r>
              <a:rPr lang="nl-NL" dirty="0"/>
              <a:t>CLICK TO ADD TITLE</a:t>
            </a:r>
            <a:endParaRPr lang="en-GB" dirty="0"/>
          </a:p>
        </p:txBody>
      </p:sp>
      <p:pic>
        <p:nvPicPr>
          <p:cNvPr id="5" name="Afbeelding 13">
            <a:extLst>
              <a:ext uri="{FF2B5EF4-FFF2-40B4-BE49-F238E27FC236}">
                <a16:creationId xmlns:a16="http://schemas.microsoft.com/office/drawing/2014/main" id="{A6DEE0E1-E6DD-48F9-961A-927DFCE6748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1488" y="6225042"/>
            <a:ext cx="1298114" cy="461977"/>
          </a:xfrm>
          <a:prstGeom prst="rect">
            <a:avLst/>
          </a:prstGeom>
          <a:noFill/>
          <a:ln>
            <a:noFill/>
          </a:ln>
        </p:spPr>
      </p:pic>
      <p:sp>
        <p:nvSpPr>
          <p:cNvPr id="8" name="Rechthoek 17">
            <a:extLst>
              <a:ext uri="{FF2B5EF4-FFF2-40B4-BE49-F238E27FC236}">
                <a16:creationId xmlns:a16="http://schemas.microsoft.com/office/drawing/2014/main" id="{552F9B91-4010-4562-9359-EED6891B29B8}"/>
              </a:ext>
            </a:extLst>
          </p:cNvPr>
          <p:cNvSpPr/>
          <p:nvPr userDrawn="1"/>
        </p:nvSpPr>
        <p:spPr>
          <a:xfrm>
            <a:off x="8810624" y="3415144"/>
            <a:ext cx="333376" cy="3442856"/>
          </a:xfrm>
          <a:prstGeom prst="rect">
            <a:avLst/>
          </a:prstGeom>
          <a:solidFill>
            <a:srgbClr val="3C023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1" name="Rechthoek 15">
            <a:extLst>
              <a:ext uri="{FF2B5EF4-FFF2-40B4-BE49-F238E27FC236}">
                <a16:creationId xmlns:a16="http://schemas.microsoft.com/office/drawing/2014/main" id="{1D820570-21E1-43AC-BE0D-02ADF7C4CF21}"/>
              </a:ext>
            </a:extLst>
          </p:cNvPr>
          <p:cNvSpPr/>
          <p:nvPr userDrawn="1"/>
        </p:nvSpPr>
        <p:spPr>
          <a:xfrm>
            <a:off x="8810624" y="0"/>
            <a:ext cx="336879" cy="342597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Content Placeholder 2"/>
          <p:cNvSpPr>
            <a:spLocks noGrp="1"/>
          </p:cNvSpPr>
          <p:nvPr>
            <p:ph sz="half" idx="1"/>
          </p:nvPr>
        </p:nvSpPr>
        <p:spPr>
          <a:xfrm>
            <a:off x="368712" y="1708353"/>
            <a:ext cx="4038600" cy="4425748"/>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Content Placeholder 3"/>
          <p:cNvSpPr>
            <a:spLocks noGrp="1"/>
          </p:cNvSpPr>
          <p:nvPr>
            <p:ph sz="half" idx="2"/>
          </p:nvPr>
        </p:nvSpPr>
        <p:spPr>
          <a:xfrm>
            <a:off x="4766184" y="1708353"/>
            <a:ext cx="4038600" cy="4425748"/>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2237992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c_Content slide">
    <p:spTree>
      <p:nvGrpSpPr>
        <p:cNvPr id="1" name=""/>
        <p:cNvGrpSpPr/>
        <p:nvPr/>
      </p:nvGrpSpPr>
      <p:grpSpPr>
        <a:xfrm>
          <a:off x="0" y="0"/>
          <a:ext cx="0" cy="0"/>
          <a:chOff x="0" y="0"/>
          <a:chExt cx="0" cy="0"/>
        </a:xfrm>
      </p:grpSpPr>
      <p:sp>
        <p:nvSpPr>
          <p:cNvPr id="9" name="Rechthoek 17">
            <a:extLst>
              <a:ext uri="{FF2B5EF4-FFF2-40B4-BE49-F238E27FC236}">
                <a16:creationId xmlns:a16="http://schemas.microsoft.com/office/drawing/2014/main" id="{552F9B91-4010-4562-9359-EED6891B29B8}"/>
              </a:ext>
            </a:extLst>
          </p:cNvPr>
          <p:cNvSpPr/>
          <p:nvPr userDrawn="1"/>
        </p:nvSpPr>
        <p:spPr>
          <a:xfrm>
            <a:off x="4454013" y="3415144"/>
            <a:ext cx="4689987" cy="3442856"/>
          </a:xfrm>
          <a:prstGeom prst="rect">
            <a:avLst/>
          </a:prstGeom>
          <a:solidFill>
            <a:srgbClr val="3C023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3" name="Rechthoek 15">
            <a:extLst>
              <a:ext uri="{FF2B5EF4-FFF2-40B4-BE49-F238E27FC236}">
                <a16:creationId xmlns:a16="http://schemas.microsoft.com/office/drawing/2014/main" id="{1D820570-21E1-43AC-BE0D-02ADF7C4CF21}"/>
              </a:ext>
            </a:extLst>
          </p:cNvPr>
          <p:cNvSpPr/>
          <p:nvPr userDrawn="1"/>
        </p:nvSpPr>
        <p:spPr>
          <a:xfrm>
            <a:off x="6145162" y="0"/>
            <a:ext cx="3002342" cy="342597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Titel 1">
            <a:extLst>
              <a:ext uri="{FF2B5EF4-FFF2-40B4-BE49-F238E27FC236}">
                <a16:creationId xmlns:a16="http://schemas.microsoft.com/office/drawing/2014/main" id="{4F078DCB-93EE-4BE7-A995-4A147D8579B4}"/>
              </a:ext>
            </a:extLst>
          </p:cNvPr>
          <p:cNvSpPr>
            <a:spLocks noGrp="1"/>
          </p:cNvSpPr>
          <p:nvPr>
            <p:ph type="title" hasCustomPrompt="1"/>
          </p:nvPr>
        </p:nvSpPr>
        <p:spPr>
          <a:xfrm>
            <a:off x="362904" y="560367"/>
            <a:ext cx="4523421" cy="1136672"/>
          </a:xfrm>
          <a:prstGeom prst="rect">
            <a:avLst/>
          </a:prstGeom>
        </p:spPr>
        <p:txBody>
          <a:bodyPr anchor="t">
            <a:noAutofit/>
          </a:bodyPr>
          <a:lstStyle>
            <a:lvl1pPr algn="l">
              <a:lnSpc>
                <a:spcPts val="3600"/>
              </a:lnSpc>
              <a:defRPr sz="4400" spc="70" baseline="0">
                <a:solidFill>
                  <a:schemeClr val="tx2"/>
                </a:solidFill>
                <a:latin typeface="Calibri bold" panose="020F0702030404030204" pitchFamily="34" charset="0"/>
                <a:cs typeface="Calibri bold" panose="020F0702030404030204" pitchFamily="34" charset="0"/>
              </a:defRPr>
            </a:lvl1pPr>
          </a:lstStyle>
          <a:p>
            <a:r>
              <a:rPr lang="nl-NL" dirty="0"/>
              <a:t>CLICK TO ADD TITLE</a:t>
            </a:r>
            <a:endParaRPr lang="en-GB" dirty="0"/>
          </a:p>
        </p:txBody>
      </p:sp>
      <p:pic>
        <p:nvPicPr>
          <p:cNvPr id="5" name="Afbeelding 13">
            <a:extLst>
              <a:ext uri="{FF2B5EF4-FFF2-40B4-BE49-F238E27FC236}">
                <a16:creationId xmlns:a16="http://schemas.microsoft.com/office/drawing/2014/main" id="{A6DEE0E1-E6DD-48F9-961A-927DFCE6748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1488" y="6225042"/>
            <a:ext cx="1298114" cy="461977"/>
          </a:xfrm>
          <a:prstGeom prst="rect">
            <a:avLst/>
          </a:prstGeom>
          <a:noFill/>
          <a:ln>
            <a:noFill/>
          </a:ln>
        </p:spPr>
      </p:pic>
      <p:sp>
        <p:nvSpPr>
          <p:cNvPr id="8" name="Rechthoek 17">
            <a:extLst>
              <a:ext uri="{FF2B5EF4-FFF2-40B4-BE49-F238E27FC236}">
                <a16:creationId xmlns:a16="http://schemas.microsoft.com/office/drawing/2014/main" id="{552F9B91-4010-4562-9359-EED6891B29B8}"/>
              </a:ext>
            </a:extLst>
          </p:cNvPr>
          <p:cNvSpPr/>
          <p:nvPr userDrawn="1"/>
        </p:nvSpPr>
        <p:spPr>
          <a:xfrm>
            <a:off x="8810624" y="3415144"/>
            <a:ext cx="333376" cy="3442856"/>
          </a:xfrm>
          <a:prstGeom prst="rect">
            <a:avLst/>
          </a:prstGeom>
          <a:solidFill>
            <a:srgbClr val="3C023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1" name="Rechthoek 15">
            <a:extLst>
              <a:ext uri="{FF2B5EF4-FFF2-40B4-BE49-F238E27FC236}">
                <a16:creationId xmlns:a16="http://schemas.microsoft.com/office/drawing/2014/main" id="{1D820570-21E1-43AC-BE0D-02ADF7C4CF21}"/>
              </a:ext>
            </a:extLst>
          </p:cNvPr>
          <p:cNvSpPr/>
          <p:nvPr userDrawn="1"/>
        </p:nvSpPr>
        <p:spPr>
          <a:xfrm>
            <a:off x="8810624" y="0"/>
            <a:ext cx="336879" cy="342597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Content Placeholder 2"/>
          <p:cNvSpPr>
            <a:spLocks noGrp="1"/>
          </p:cNvSpPr>
          <p:nvPr>
            <p:ph sz="half" idx="1"/>
          </p:nvPr>
        </p:nvSpPr>
        <p:spPr>
          <a:xfrm>
            <a:off x="368712" y="1708353"/>
            <a:ext cx="4038600" cy="4425748"/>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Picture Placeholder 2"/>
          <p:cNvSpPr>
            <a:spLocks noGrp="1"/>
          </p:cNvSpPr>
          <p:nvPr>
            <p:ph type="pic" sz="quarter" idx="10"/>
          </p:nvPr>
        </p:nvSpPr>
        <p:spPr>
          <a:xfrm>
            <a:off x="4886325" y="547689"/>
            <a:ext cx="3924300" cy="2881312"/>
          </a:xfrm>
          <a:prstGeom prst="rect">
            <a:avLst/>
          </a:prstGeom>
        </p:spPr>
        <p:txBody>
          <a:bodyPr/>
          <a:lstStyle/>
          <a:p>
            <a:endParaRPr lang="en-GB" dirty="0"/>
          </a:p>
        </p:txBody>
      </p:sp>
      <p:sp>
        <p:nvSpPr>
          <p:cNvPr id="12" name="Picture Placeholder 2"/>
          <p:cNvSpPr>
            <a:spLocks noGrp="1"/>
          </p:cNvSpPr>
          <p:nvPr>
            <p:ph type="pic" sz="quarter" idx="11"/>
          </p:nvPr>
        </p:nvSpPr>
        <p:spPr>
          <a:xfrm>
            <a:off x="4886325" y="3425979"/>
            <a:ext cx="3924300" cy="2708121"/>
          </a:xfrm>
          <a:prstGeom prst="rect">
            <a:avLst/>
          </a:prstGeom>
        </p:spPr>
        <p:txBody>
          <a:bodyPr/>
          <a:lstStyle/>
          <a:p>
            <a:endParaRPr lang="en-GB"/>
          </a:p>
        </p:txBody>
      </p:sp>
    </p:spTree>
    <p:extLst>
      <p:ext uri="{BB962C8B-B14F-4D97-AF65-F5344CB8AC3E}">
        <p14:creationId xmlns:p14="http://schemas.microsoft.com/office/powerpoint/2010/main" val="312647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7_End slide">
    <p:spTree>
      <p:nvGrpSpPr>
        <p:cNvPr id="1" name=""/>
        <p:cNvGrpSpPr/>
        <p:nvPr/>
      </p:nvGrpSpPr>
      <p:grpSpPr>
        <a:xfrm>
          <a:off x="0" y="0"/>
          <a:ext cx="0" cy="0"/>
          <a:chOff x="0" y="0"/>
          <a:chExt cx="0" cy="0"/>
        </a:xfrm>
      </p:grpSpPr>
      <p:sp>
        <p:nvSpPr>
          <p:cNvPr id="10" name="Rechthoek 16">
            <a:extLst>
              <a:ext uri="{FF2B5EF4-FFF2-40B4-BE49-F238E27FC236}">
                <a16:creationId xmlns:a16="http://schemas.microsoft.com/office/drawing/2014/main" id="{BE1EC009-1AB6-46B3-89FC-A2752A5CC63B}"/>
              </a:ext>
            </a:extLst>
          </p:cNvPr>
          <p:cNvSpPr/>
          <p:nvPr userDrawn="1"/>
        </p:nvSpPr>
        <p:spPr>
          <a:xfrm>
            <a:off x="1071717" y="2841524"/>
            <a:ext cx="8072284" cy="4016478"/>
          </a:xfrm>
          <a:prstGeom prst="rect">
            <a:avLst/>
          </a:prstGeom>
          <a:solidFill>
            <a:srgbClr val="62136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11" name="Rechthoek 17">
            <a:extLst>
              <a:ext uri="{FF2B5EF4-FFF2-40B4-BE49-F238E27FC236}">
                <a16:creationId xmlns:a16="http://schemas.microsoft.com/office/drawing/2014/main" id="{552F9B91-4010-4562-9359-EED6891B29B8}"/>
              </a:ext>
            </a:extLst>
          </p:cNvPr>
          <p:cNvSpPr/>
          <p:nvPr userDrawn="1"/>
        </p:nvSpPr>
        <p:spPr>
          <a:xfrm>
            <a:off x="341199" y="3746090"/>
            <a:ext cx="8802801" cy="3111910"/>
          </a:xfrm>
          <a:prstGeom prst="rect">
            <a:avLst/>
          </a:prstGeom>
          <a:solidFill>
            <a:srgbClr val="3C023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7" name="Tijdelijke aanduiding voor tekst 12">
            <a:extLst>
              <a:ext uri="{FF2B5EF4-FFF2-40B4-BE49-F238E27FC236}">
                <a16:creationId xmlns:a16="http://schemas.microsoft.com/office/drawing/2014/main" id="{615C7DB6-2966-4805-BDB8-3CC368712F04}"/>
              </a:ext>
            </a:extLst>
          </p:cNvPr>
          <p:cNvSpPr>
            <a:spLocks noGrp="1"/>
          </p:cNvSpPr>
          <p:nvPr>
            <p:ph type="body" sz="quarter" idx="13" hasCustomPrompt="1"/>
          </p:nvPr>
        </p:nvSpPr>
        <p:spPr>
          <a:xfrm>
            <a:off x="697058" y="5486761"/>
            <a:ext cx="4189268" cy="447675"/>
          </a:xfrm>
          <a:prstGeom prst="rect">
            <a:avLst/>
          </a:prstGeom>
        </p:spPr>
        <p:txBody>
          <a:bodyPr>
            <a:noAutofit/>
          </a:bodyPr>
          <a:lstStyle>
            <a:lvl1pPr marL="0" indent="0">
              <a:lnSpc>
                <a:spcPts val="2900"/>
              </a:lnSpc>
              <a:buNone/>
              <a:defRPr sz="2400" spc="40" baseline="0">
                <a:solidFill>
                  <a:schemeClr val="bg1"/>
                </a:solidFill>
                <a:latin typeface="+mn-lt"/>
                <a:ea typeface="Aero Light" pitchFamily="50" charset="2"/>
              </a:defRPr>
            </a:lvl1pPr>
            <a:lvl2pPr marL="457200" indent="0">
              <a:buNone/>
              <a:defRPr sz="2000">
                <a:latin typeface="Aero Light" pitchFamily="50" charset="2"/>
                <a:ea typeface="Aero Light" pitchFamily="50" charset="2"/>
              </a:defRPr>
            </a:lvl2pPr>
            <a:lvl3pPr marL="914400" indent="0">
              <a:buNone/>
              <a:defRPr sz="1800">
                <a:latin typeface="Aero Light" pitchFamily="50" charset="2"/>
                <a:ea typeface="Aero Light" pitchFamily="50" charset="2"/>
              </a:defRPr>
            </a:lvl3pPr>
            <a:lvl4pPr marL="1371600" indent="0">
              <a:buNone/>
              <a:defRPr sz="1600">
                <a:latin typeface="Aero Light" pitchFamily="50" charset="2"/>
                <a:ea typeface="Aero Light" pitchFamily="50" charset="2"/>
              </a:defRPr>
            </a:lvl4pPr>
            <a:lvl5pPr marL="1828800" indent="0">
              <a:buNone/>
              <a:defRPr sz="1600">
                <a:latin typeface="Aero Light" pitchFamily="50" charset="2"/>
                <a:ea typeface="Aero Light" pitchFamily="50" charset="2"/>
              </a:defRPr>
            </a:lvl5pPr>
          </a:lstStyle>
          <a:p>
            <a:pPr lvl="0"/>
            <a:r>
              <a:rPr lang="nl-NL" dirty="0"/>
              <a:t>Click </a:t>
            </a:r>
            <a:r>
              <a:rPr lang="nl-NL" dirty="0" err="1"/>
              <a:t>to</a:t>
            </a:r>
            <a:r>
              <a:rPr lang="nl-NL" dirty="0"/>
              <a:t> </a:t>
            </a:r>
            <a:r>
              <a:rPr lang="nl-NL" dirty="0" err="1"/>
              <a:t>add</a:t>
            </a:r>
            <a:r>
              <a:rPr lang="nl-NL" dirty="0"/>
              <a:t> </a:t>
            </a:r>
            <a:r>
              <a:rPr lang="nl-NL" dirty="0" err="1"/>
              <a:t>subtitle</a:t>
            </a:r>
            <a:endParaRPr lang="en-GB" dirty="0"/>
          </a:p>
        </p:txBody>
      </p:sp>
      <p:pic>
        <p:nvPicPr>
          <p:cNvPr id="12" name="Afbeelding 11">
            <a:extLst>
              <a:ext uri="{FF2B5EF4-FFF2-40B4-BE49-F238E27FC236}">
                <a16:creationId xmlns:a16="http://schemas.microsoft.com/office/drawing/2014/main" id="{E5147CD9-9D85-4ED3-84D6-AA0AB22B9B7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7331" y="546281"/>
            <a:ext cx="4325121" cy="1539243"/>
          </a:xfrm>
          <a:prstGeom prst="rect">
            <a:avLst/>
          </a:prstGeom>
          <a:noFill/>
          <a:ln>
            <a:noFill/>
          </a:ln>
        </p:spPr>
      </p:pic>
      <p:sp>
        <p:nvSpPr>
          <p:cNvPr id="13" name="Text Placeholder 2"/>
          <p:cNvSpPr>
            <a:spLocks noGrp="1"/>
          </p:cNvSpPr>
          <p:nvPr>
            <p:ph type="body" sz="quarter" idx="10" hasCustomPrompt="1"/>
          </p:nvPr>
        </p:nvSpPr>
        <p:spPr>
          <a:xfrm>
            <a:off x="700422" y="4171745"/>
            <a:ext cx="4185903" cy="1304823"/>
          </a:xfrm>
          <a:prstGeom prst="rect">
            <a:avLst/>
          </a:prstGeom>
        </p:spPr>
        <p:txBody>
          <a:bodyPr/>
          <a:lstStyle>
            <a:lvl1pPr marL="0" indent="0">
              <a:buNone/>
              <a:defRPr lang="en-GB" sz="4400" kern="1200" spc="70" baseline="0" dirty="0">
                <a:solidFill>
                  <a:schemeClr val="bg1"/>
                </a:solidFill>
                <a:latin typeface="Calibri bold" panose="020F0702030404030204" pitchFamily="34" charset="0"/>
                <a:ea typeface="Aero Bold" panose="02000000000000000000" pitchFamily="50" charset="2"/>
                <a:cs typeface="Calibri bold" panose="020F0702030404030204" pitchFamily="34" charset="0"/>
              </a:defRPr>
            </a:lvl1pPr>
          </a:lstStyle>
          <a:p>
            <a:pPr lvl="0"/>
            <a:r>
              <a:rPr lang="en-US" dirty="0"/>
              <a:t>CLICK TO ADD </a:t>
            </a:r>
            <a:br>
              <a:rPr lang="en-US" dirty="0"/>
            </a:br>
            <a:r>
              <a:rPr lang="en-US" dirty="0"/>
              <a:t>TITLE</a:t>
            </a:r>
            <a:endParaRPr lang="en-GB" dirty="0"/>
          </a:p>
        </p:txBody>
      </p:sp>
      <p:sp>
        <p:nvSpPr>
          <p:cNvPr id="4" name="Picture Placeholder 3"/>
          <p:cNvSpPr>
            <a:spLocks noGrp="1"/>
          </p:cNvSpPr>
          <p:nvPr>
            <p:ph type="pic" sz="quarter" idx="14"/>
          </p:nvPr>
        </p:nvSpPr>
        <p:spPr>
          <a:xfrm>
            <a:off x="4886325" y="566738"/>
            <a:ext cx="3924300" cy="5567362"/>
          </a:xfrm>
          <a:prstGeom prst="rect">
            <a:avLst/>
          </a:prstGeom>
        </p:spPr>
        <p:txBody>
          <a:bodyPr/>
          <a:lstStyle/>
          <a:p>
            <a:endParaRPr lang="en-GB"/>
          </a:p>
        </p:txBody>
      </p:sp>
    </p:spTree>
    <p:extLst>
      <p:ext uri="{BB962C8B-B14F-4D97-AF65-F5344CB8AC3E}">
        <p14:creationId xmlns:p14="http://schemas.microsoft.com/office/powerpoint/2010/main" val="8403362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376909"/>
      </p:ext>
    </p:extLst>
  </p:cSld>
  <p:clrMap bg1="lt1" tx1="dk1" bg2="lt2" tx2="dk2" accent1="accent1" accent2="accent2" accent3="accent3" accent4="accent4" accent5="accent5" accent6="accent6" hlink="hlink" folHlink="folHlink"/>
  <p:sldLayoutIdLst>
    <p:sldLayoutId id="2147483868" r:id="rId1"/>
    <p:sldLayoutId id="2147483869" r:id="rId2"/>
    <p:sldLayoutId id="2147483870" r:id="rId3"/>
    <p:sldLayoutId id="2147483867" r:id="rId4"/>
    <p:sldLayoutId id="2147483836" r:id="rId5"/>
    <p:sldLayoutId id="2147483871" r:id="rId6"/>
    <p:sldLayoutId id="2147483866" r:id="rId7"/>
    <p:sldLayoutId id="2147483864" r:id="rId8"/>
    <p:sldLayoutId id="2147483875" r:id="rId9"/>
    <p:sldLayoutId id="2147483873" r:id="rId10"/>
    <p:sldLayoutId id="2147483874" r:id="rId11"/>
    <p:sldLayoutId id="2147483872" r:id="rId12"/>
    <p:sldLayoutId id="2147483876" r:id="rId13"/>
    <p:sldLayoutId id="2147483823" r:id="rId14"/>
  </p:sldLayoutIdLst>
  <p:hf sldNum="0" hdr="0" ftr="0" dt="0"/>
  <p:txStyles>
    <p:titleStyle>
      <a:lvl1pPr algn="l" defTabSz="914400" rtl="0" eaLnBrk="1" latinLnBrk="0" hangingPunct="1">
        <a:lnSpc>
          <a:spcPct val="90000"/>
        </a:lnSpc>
        <a:spcBef>
          <a:spcPct val="0"/>
        </a:spcBef>
        <a:buNone/>
        <a:defRPr sz="4400" kern="1200">
          <a:solidFill>
            <a:schemeClr val="bg1"/>
          </a:solidFill>
          <a:latin typeface="Aero Bold" panose="02000000000000000000" pitchFamily="50" charset="2"/>
          <a:ea typeface="Aero Bold" panose="02000000000000000000" pitchFamily="50" charset="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accent3">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accent3">
              <a:lumMod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accent3">
              <a:lumMod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accent3">
              <a:lumMod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accent3">
              <a:lumMod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2.jpeg"/><Relationship Id="rId3" Type="http://schemas.openxmlformats.org/officeDocument/2006/relationships/notesSlide" Target="../notesSlides/notesSlide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chart" Target="../charts/chart1.xml"/><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chart" Target="../charts/chart2.xml"/><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chart" Target="../charts/chart3.xml"/><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8.png"/><Relationship Id="rId3" Type="http://schemas.openxmlformats.org/officeDocument/2006/relationships/chart" Target="../charts/chart4.xml"/><Relationship Id="rId4"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a:xfrm>
            <a:off x="606866" y="5249734"/>
            <a:ext cx="4172979" cy="351565"/>
          </a:xfrm>
        </p:spPr>
        <p:txBody>
          <a:bodyPr/>
          <a:lstStyle/>
          <a:p>
            <a:endParaRPr lang="en-GB" dirty="0"/>
          </a:p>
        </p:txBody>
      </p:sp>
      <p:sp>
        <p:nvSpPr>
          <p:cNvPr id="8" name="Text Placeholder 7"/>
          <p:cNvSpPr>
            <a:spLocks noGrp="1"/>
          </p:cNvSpPr>
          <p:nvPr>
            <p:ph type="body" sz="quarter" idx="11"/>
          </p:nvPr>
        </p:nvSpPr>
        <p:spPr>
          <a:xfrm>
            <a:off x="704984" y="5648322"/>
            <a:ext cx="3976744" cy="1209677"/>
          </a:xfrm>
        </p:spPr>
        <p:txBody>
          <a:bodyPr/>
          <a:lstStyle/>
          <a:p>
            <a:r>
              <a:t>[Your name]  ·  [Student ID]  ·  M33877  ·  November 2026</a:t>
            </a:r>
          </a:p>
        </p:txBody>
      </p:sp>
      <p:sp>
        <p:nvSpPr>
          <p:cNvPr id="16" name="TextBox 15">
            <a:extLst>
              <a:ext uri="{FF2B5EF4-FFF2-40B4-BE49-F238E27FC236}">
                <a16:creationId xmlns:a16="http://schemas.microsoft.com/office/drawing/2014/main" id="{85FCB9E7-AC61-4351-B8CB-17480F3C0DBF}"/>
              </a:ext>
            </a:extLst>
          </p:cNvPr>
          <p:cNvSpPr txBox="1"/>
          <p:nvPr/>
        </p:nvSpPr>
        <p:spPr>
          <a:xfrm>
            <a:off x="497941" y="3748135"/>
            <a:ext cx="3414087" cy="914400"/>
          </a:xfrm>
          <a:prstGeom prst="rect">
            <a:avLst/>
          </a:prstGeom>
        </p:spPr>
        <p:txBody>
          <a:bodyPr vert="horz" wrap="none" lIns="91440" tIns="45720" rIns="91440" bIns="45720" rtlCol="0" anchor="b">
            <a:normAutofit/>
          </a:bodyPr>
          <a:lstStyle/>
          <a:p>
            <a:pPr algn="l"/>
            <a:endParaRPr lang="en-SG" dirty="0"/>
          </a:p>
        </p:txBody>
      </p:sp>
      <p:sp>
        <p:nvSpPr>
          <p:cNvPr id="18" name="TextBox 17">
            <a:extLst>
              <a:ext uri="{FF2B5EF4-FFF2-40B4-BE49-F238E27FC236}">
                <a16:creationId xmlns:a16="http://schemas.microsoft.com/office/drawing/2014/main" id="{A4B41C5A-0A89-47C3-90EB-3E1D0ABEA065}"/>
              </a:ext>
            </a:extLst>
          </p:cNvPr>
          <p:cNvSpPr txBox="1"/>
          <p:nvPr/>
        </p:nvSpPr>
        <p:spPr>
          <a:xfrm flipH="1">
            <a:off x="3241141" y="2909444"/>
            <a:ext cx="5902859" cy="1677382"/>
          </a:xfrm>
          <a:prstGeom prst="rect">
            <a:avLst/>
          </a:prstGeom>
          <a:noFill/>
        </p:spPr>
        <p:txBody>
          <a:bodyPr wrap="square">
            <a:spAutoFit/>
          </a:bodyPr>
          <a:lstStyle/>
          <a:p>
            <a:r>
              <a:rPr lang="en-US" sz="2400" dirty="0">
                <a:solidFill>
                  <a:schemeClr val="bg1"/>
                </a:solidFill>
                <a:latin typeface="Bahnschrift Condensed" panose="020B0502040204020203" pitchFamily="34" charset="0"/>
              </a:rPr>
              <a:t>– BDMLA Coursework 1</a:t>
            </a:r>
          </a:p>
          <a:p>
            <a:r>
              <a:rPr lang="en-US" sz="2400" dirty="0">
                <a:solidFill>
                  <a:schemeClr val="bg1"/>
                </a:solidFill>
                <a:latin typeface="Bahnschrift Condensed" panose="020B0502040204020203" pitchFamily="34" charset="0"/>
              </a:rPr>
              <a:t>Big Data and Machine Learning Application:</a:t>
            </a:r>
          </a:p>
          <a:p>
            <a:r>
              <a:rPr lang="en-SG" sz="3000" dirty="0">
                <a:solidFill>
                  <a:schemeClr val="bg1"/>
                </a:solidFill>
                <a:latin typeface="Bahnschrift Condensed" panose="020B0502040204020203" pitchFamily="34" charset="0"/>
              </a:rPr>
              <a:t>Predicting Airline Flight Delays with Apache Spark</a:t>
            </a:r>
          </a:p>
        </p:txBody>
      </p:sp>
      <p:sp>
        <p:nvSpPr>
          <p:cNvPr id="2" name="TextBox 1">
            <a:extLst>
              <a:ext uri="{FF2B5EF4-FFF2-40B4-BE49-F238E27FC236}">
                <a16:creationId xmlns:a16="http://schemas.microsoft.com/office/drawing/2014/main" id="{08D51E9F-88A1-6C85-981F-2E8E6435CA0B}"/>
              </a:ext>
            </a:extLst>
          </p:cNvPr>
          <p:cNvSpPr txBox="1"/>
          <p:nvPr/>
        </p:nvSpPr>
        <p:spPr>
          <a:xfrm>
            <a:off x="6205728" y="2901696"/>
            <a:ext cx="0" cy="0"/>
          </a:xfrm>
          <a:prstGeom prst="rect">
            <a:avLst/>
          </a:prstGeom>
        </p:spPr>
        <p:txBody>
          <a:bodyPr vert="horz" wrap="none" lIns="91440" tIns="45720" rIns="91440" bIns="45720" rtlCol="0" anchor="b">
            <a:normAutofit fontScale="25000" lnSpcReduction="20000"/>
          </a:bodyPr>
          <a:lstStyle/>
          <a:p>
            <a:pPr algn="l"/>
            <a:endParaRPr lang="en-US" dirty="0"/>
          </a:p>
        </p:txBody>
      </p:sp>
    </p:spTree>
    <p:extLst>
      <p:ext uri="{BB962C8B-B14F-4D97-AF65-F5344CB8AC3E}">
        <p14:creationId xmlns:p14="http://schemas.microsoft.com/office/powerpoint/2010/main" val="36237821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0"/>
          </p:nvPr>
        </p:nvSpPr>
        <p:spPr/>
        <p:txBody>
          <a:bodyPr/>
          <a:lstStyle/>
          <a:p>
            <a:r>
              <a:t>Thank you</a:t>
            </a:r>
          </a:p>
        </p:txBody>
      </p:sp>
      <p:pic>
        <p:nvPicPr>
          <p:cNvPr id="1026" name="Picture 2" descr="The University of Portsmouth Prospectus - Springpod">
            <a:extLst>
              <a:ext uri="{FF2B5EF4-FFF2-40B4-BE49-F238E27FC236}">
                <a16:creationId xmlns:a16="http://schemas.microsoft.com/office/drawing/2014/main" id="{D54B3BBE-6E8A-15D1-81CF-7A69FBE761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99430" y="2081161"/>
            <a:ext cx="4044570" cy="26956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9814502"/>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BACKGROUND</a:t>
            </a:r>
          </a:p>
        </p:txBody>
      </p:sp>
      <p:sp>
        <p:nvSpPr>
          <p:cNvPr id="3" name="TextBox 2"/>
          <p:cNvSpPr txBox="1"/>
          <p:nvPr/>
        </p:nvSpPr>
        <p:spPr>
          <a:xfrm>
            <a:off x="365760" y="1600200"/>
            <a:ext cx="4846320" cy="4206240"/>
          </a:xfrm>
          <a:prstGeom prst="rect">
            <a:avLst/>
          </a:prstGeom>
          <a:noFill/>
        </p:spPr>
        <p:txBody>
          <a:bodyPr wrap="square" anchor="t" lIns="0" rIns="0" tIns="0" bIns="0">
            <a:spAutoFit/>
          </a:bodyPr>
          <a:lstStyle/>
          <a:p>
            <a:pPr algn="l" marL="228600" indent="-182880">
              <a:spcAft>
                <a:spcPts val="800"/>
              </a:spcAft>
              <a:buChar char="•"/>
            </a:pPr>
            <a:r>
              <a:rPr sz="1500" b="1">
                <a:solidFill>
                  <a:srgbClr val="1F1F1F"/>
                </a:solidFill>
              </a:rPr>
              <a:t>Costly. </a:t>
            </a:r>
            <a:r>
              <a:rPr sz="1500" b="0">
                <a:solidFill>
                  <a:srgbClr val="1F1F1F"/>
                </a:solidFill>
              </a:rPr>
              <a:t>Flight delays cost the U.S. economy an estimated $32.9 billion in 2007, shared between airlines, passengers and lost demand (Ball et al., 2010).</a:t>
            </a:r>
          </a:p>
          <a:p>
            <a:pPr algn="l" marL="228600" indent="-182880">
              <a:spcAft>
                <a:spcPts val="800"/>
              </a:spcAft>
              <a:buChar char="•"/>
            </a:pPr>
            <a:r>
              <a:rPr sz="1500" b="1">
                <a:solidFill>
                  <a:srgbClr val="1F1F1F"/>
                </a:solidFill>
              </a:rPr>
              <a:t>Clearly defined. </a:t>
            </a:r>
            <a:r>
              <a:rPr sz="1500" b="0">
                <a:solidFill>
                  <a:srgbClr val="1F1F1F"/>
                </a:solidFill>
              </a:rPr>
              <a:t>The Bureau of Transportation Statistics (BTS) counts a flight as delayed when it arrives 15 or more minutes late.</a:t>
            </a:r>
          </a:p>
          <a:p>
            <a:pPr algn="l" marL="228600" indent="-182880">
              <a:spcAft>
                <a:spcPts val="800"/>
              </a:spcAft>
              <a:buChar char="•"/>
            </a:pPr>
            <a:r>
              <a:rPr sz="1500" b="1">
                <a:solidFill>
                  <a:srgbClr val="1F1F1F"/>
                </a:solidFill>
              </a:rPr>
              <a:t>Big data. </a:t>
            </a:r>
            <a:r>
              <a:rPr sz="1500" b="0">
                <a:solidFill>
                  <a:srgbClr val="1F1F1F"/>
                </a:solidFill>
              </a:rPr>
              <a:t>BTS publishes a record for every domestic flight of the larger U.S. carriers: millions of labelled rows every year.</a:t>
            </a:r>
          </a:p>
          <a:p>
            <a:pPr algn="l" marL="228600" indent="-182880">
              <a:spcAft>
                <a:spcPts val="800"/>
              </a:spcAft>
              <a:buChar char="•"/>
            </a:pPr>
            <a:r>
              <a:rPr sz="1500" b="1">
                <a:solidFill>
                  <a:srgbClr val="1F1F1F"/>
                </a:solidFill>
              </a:rPr>
              <a:t>Useful if predicted early. </a:t>
            </a:r>
            <a:r>
              <a:rPr sz="1500" b="0">
                <a:solidFill>
                  <a:srgbClr val="1F1F1F"/>
                </a:solidFill>
              </a:rPr>
              <a:t>Airlines can re-plan crews, gates and spare aircraft; passengers with tight connections can be warned.</a:t>
            </a:r>
          </a:p>
        </p:txBody>
      </p:sp>
      <p:sp>
        <p:nvSpPr>
          <p:cNvPr id="4" name="Rounded Rectangle 3"/>
          <p:cNvSpPr/>
          <p:nvPr/>
        </p:nvSpPr>
        <p:spPr>
          <a:xfrm>
            <a:off x="5486400" y="1600200"/>
            <a:ext cx="3108960" cy="1280160"/>
          </a:xfrm>
          <a:prstGeom prst="roundRect">
            <a:avLst>
              <a:gd name="adj" fmla="val 8000"/>
            </a:avLst>
          </a:prstGeom>
          <a:solidFill>
            <a:srgbClr val="F4EF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669280" y="1737360"/>
            <a:ext cx="2743200" cy="640080"/>
          </a:xfrm>
          <a:prstGeom prst="rect">
            <a:avLst/>
          </a:prstGeom>
          <a:noFill/>
        </p:spPr>
        <p:txBody>
          <a:bodyPr wrap="square" anchor="t" lIns="0" rIns="0" tIns="0" bIns="0">
            <a:spAutoFit/>
          </a:bodyPr>
          <a:lstStyle/>
          <a:p>
            <a:pPr algn="l">
              <a:spcAft>
                <a:spcPts val="400"/>
              </a:spcAft>
            </a:pPr>
            <a:r>
              <a:rPr sz="3000" b="1">
                <a:solidFill>
                  <a:srgbClr val="621360"/>
                </a:solidFill>
              </a:rPr>
              <a:t>$32.9B</a:t>
            </a:r>
          </a:p>
        </p:txBody>
      </p:sp>
      <p:sp>
        <p:nvSpPr>
          <p:cNvPr id="6" name="TextBox 5"/>
          <p:cNvSpPr txBox="1"/>
          <p:nvPr/>
        </p:nvSpPr>
        <p:spPr>
          <a:xfrm>
            <a:off x="5669280" y="2377440"/>
            <a:ext cx="2743200" cy="411480"/>
          </a:xfrm>
          <a:prstGeom prst="rect">
            <a:avLst/>
          </a:prstGeom>
          <a:noFill/>
        </p:spPr>
        <p:txBody>
          <a:bodyPr wrap="square" anchor="t" lIns="0" rIns="0" tIns="0" bIns="0">
            <a:spAutoFit/>
          </a:bodyPr>
          <a:lstStyle/>
          <a:p>
            <a:pPr algn="l">
              <a:spcAft>
                <a:spcPts val="400"/>
              </a:spcAft>
            </a:pPr>
            <a:r>
              <a:rPr sz="1300" b="0">
                <a:solidFill>
                  <a:srgbClr val="5A5A5A"/>
                </a:solidFill>
              </a:rPr>
              <a:t>cost of U.S. delays in 2007</a:t>
            </a:r>
          </a:p>
        </p:txBody>
      </p:sp>
      <p:sp>
        <p:nvSpPr>
          <p:cNvPr id="7" name="Rounded Rectangle 6"/>
          <p:cNvSpPr/>
          <p:nvPr/>
        </p:nvSpPr>
        <p:spPr>
          <a:xfrm>
            <a:off x="5486400" y="3063240"/>
            <a:ext cx="3108960" cy="1280160"/>
          </a:xfrm>
          <a:prstGeom prst="roundRect">
            <a:avLst>
              <a:gd name="adj" fmla="val 8000"/>
            </a:avLst>
          </a:prstGeom>
          <a:solidFill>
            <a:srgbClr val="F4EF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669280" y="3200400"/>
            <a:ext cx="2743200" cy="640080"/>
          </a:xfrm>
          <a:prstGeom prst="rect">
            <a:avLst/>
          </a:prstGeom>
          <a:noFill/>
        </p:spPr>
        <p:txBody>
          <a:bodyPr wrap="square" anchor="t" lIns="0" rIns="0" tIns="0" bIns="0">
            <a:spAutoFit/>
          </a:bodyPr>
          <a:lstStyle/>
          <a:p>
            <a:pPr algn="l">
              <a:spcAft>
                <a:spcPts val="400"/>
              </a:spcAft>
            </a:pPr>
            <a:r>
              <a:rPr sz="3000" b="1">
                <a:solidFill>
                  <a:srgbClr val="00A0FF"/>
                </a:solidFill>
              </a:rPr>
              <a:t>15 min</a:t>
            </a:r>
          </a:p>
        </p:txBody>
      </p:sp>
      <p:sp>
        <p:nvSpPr>
          <p:cNvPr id="9" name="TextBox 8"/>
          <p:cNvSpPr txBox="1"/>
          <p:nvPr/>
        </p:nvSpPr>
        <p:spPr>
          <a:xfrm>
            <a:off x="5669280" y="3840480"/>
            <a:ext cx="2743200" cy="411480"/>
          </a:xfrm>
          <a:prstGeom prst="rect">
            <a:avLst/>
          </a:prstGeom>
          <a:noFill/>
        </p:spPr>
        <p:txBody>
          <a:bodyPr wrap="square" anchor="t" lIns="0" rIns="0" tIns="0" bIns="0">
            <a:spAutoFit/>
          </a:bodyPr>
          <a:lstStyle/>
          <a:p>
            <a:pPr algn="l">
              <a:spcAft>
                <a:spcPts val="400"/>
              </a:spcAft>
            </a:pPr>
            <a:r>
              <a:rPr sz="1300" b="0">
                <a:solidFill>
                  <a:srgbClr val="5A5A5A"/>
                </a:solidFill>
              </a:rPr>
              <a:t>BTS delay threshold</a:t>
            </a:r>
          </a:p>
        </p:txBody>
      </p:sp>
      <p:sp>
        <p:nvSpPr>
          <p:cNvPr id="10" name="Rounded Rectangle 9"/>
          <p:cNvSpPr/>
          <p:nvPr/>
        </p:nvSpPr>
        <p:spPr>
          <a:xfrm>
            <a:off x="5486400" y="4526280"/>
            <a:ext cx="3108960" cy="1280160"/>
          </a:xfrm>
          <a:prstGeom prst="roundRect">
            <a:avLst>
              <a:gd name="adj" fmla="val 8000"/>
            </a:avLst>
          </a:prstGeom>
          <a:solidFill>
            <a:srgbClr val="F4EF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669280" y="4663440"/>
            <a:ext cx="2743200" cy="640080"/>
          </a:xfrm>
          <a:prstGeom prst="rect">
            <a:avLst/>
          </a:prstGeom>
          <a:noFill/>
        </p:spPr>
        <p:txBody>
          <a:bodyPr wrap="square" anchor="t" lIns="0" rIns="0" tIns="0" bIns="0">
            <a:spAutoFit/>
          </a:bodyPr>
          <a:lstStyle/>
          <a:p>
            <a:pPr algn="l">
              <a:spcAft>
                <a:spcPts val="400"/>
              </a:spcAft>
            </a:pPr>
            <a:r>
              <a:rPr sz="3000" b="1">
                <a:solidFill>
                  <a:srgbClr val="1BAF7A"/>
                </a:solidFill>
              </a:rPr>
              <a:t>7,001,619</a:t>
            </a:r>
          </a:p>
        </p:txBody>
      </p:sp>
      <p:sp>
        <p:nvSpPr>
          <p:cNvPr id="12" name="TextBox 11"/>
          <p:cNvSpPr txBox="1"/>
          <p:nvPr/>
        </p:nvSpPr>
        <p:spPr>
          <a:xfrm>
            <a:off x="5669280" y="5303520"/>
            <a:ext cx="2743200" cy="411480"/>
          </a:xfrm>
          <a:prstGeom prst="rect">
            <a:avLst/>
          </a:prstGeom>
          <a:noFill/>
        </p:spPr>
        <p:txBody>
          <a:bodyPr wrap="square" anchor="t" lIns="0" rIns="0" tIns="0" bIns="0">
            <a:spAutoFit/>
          </a:bodyPr>
          <a:lstStyle/>
          <a:p>
            <a:pPr algn="l">
              <a:spcAft>
                <a:spcPts val="400"/>
              </a:spcAft>
            </a:pPr>
            <a:r>
              <a:rPr sz="1300" b="0">
                <a:solidFill>
                  <a:srgbClr val="5A5A5A"/>
                </a:solidFill>
              </a:rPr>
              <a:t>flights in 2025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PROPOSAL</a:t>
            </a:r>
          </a:p>
        </p:txBody>
      </p:sp>
      <p:sp>
        <p:nvSpPr>
          <p:cNvPr id="3" name="Rounded Rectangle 2"/>
          <p:cNvSpPr/>
          <p:nvPr/>
        </p:nvSpPr>
        <p:spPr>
          <a:xfrm>
            <a:off x="365760" y="1600200"/>
            <a:ext cx="8275320" cy="1051560"/>
          </a:xfrm>
          <a:prstGeom prst="roundRect">
            <a:avLst>
              <a:gd name="adj" fmla="val 8000"/>
            </a:avLst>
          </a:prstGeom>
          <a:solidFill>
            <a:srgbClr val="3C0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40080" y="1600200"/>
            <a:ext cx="7726680" cy="1051560"/>
          </a:xfrm>
          <a:prstGeom prst="rect">
            <a:avLst/>
          </a:prstGeom>
          <a:noFill/>
        </p:spPr>
        <p:txBody>
          <a:bodyPr wrap="square" anchor="ctr" lIns="0" rIns="0" tIns="0" bIns="0">
            <a:spAutoFit/>
          </a:bodyPr>
          <a:lstStyle/>
          <a:p>
            <a:pPr algn="l">
              <a:spcAft>
                <a:spcPts val="400"/>
              </a:spcAft>
            </a:pPr>
            <a:r>
              <a:rPr sz="2000" b="1">
                <a:solidFill>
                  <a:srgbClr val="FFFFFF"/>
                </a:solidFill>
              </a:rPr>
              <a:t>Using only information known before departure, will this flight arrive 15+ minutes late?</a:t>
            </a:r>
          </a:p>
        </p:txBody>
      </p:sp>
      <p:sp>
        <p:nvSpPr>
          <p:cNvPr id="5" name="TextBox 4"/>
          <p:cNvSpPr txBox="1"/>
          <p:nvPr/>
        </p:nvSpPr>
        <p:spPr>
          <a:xfrm>
            <a:off x="365760" y="2926080"/>
            <a:ext cx="8275320" cy="3108960"/>
          </a:xfrm>
          <a:prstGeom prst="rect">
            <a:avLst/>
          </a:prstGeom>
          <a:noFill/>
        </p:spPr>
        <p:txBody>
          <a:bodyPr wrap="square" anchor="t" lIns="0" rIns="0" tIns="0" bIns="0">
            <a:spAutoFit/>
          </a:bodyPr>
          <a:lstStyle/>
          <a:p>
            <a:pPr algn="l" marL="228600" indent="-182880">
              <a:spcAft>
                <a:spcPts val="800"/>
              </a:spcAft>
              <a:buChar char="•"/>
            </a:pPr>
            <a:r>
              <a:rPr sz="1600" b="1">
                <a:solidFill>
                  <a:srgbClr val="1F1F1F"/>
                </a:solidFill>
              </a:rPr>
              <a:t>Binary classification: </a:t>
            </a:r>
            <a:r>
              <a:rPr sz="1600" b="0">
                <a:solidFill>
                  <a:srgbClr val="1F1F1F"/>
                </a:solidFill>
              </a:rPr>
              <a:t>DELAYED = 1 if ARR_DELAY ≥ 15 minutes, otherwise 0.</a:t>
            </a:r>
          </a:p>
          <a:p>
            <a:pPr algn="l" marL="228600" indent="-182880">
              <a:spcAft>
                <a:spcPts val="800"/>
              </a:spcAft>
              <a:buChar char="•"/>
            </a:pPr>
            <a:r>
              <a:rPr sz="1600" b="1">
                <a:solidFill>
                  <a:srgbClr val="1F1F1F"/>
                </a:solidFill>
              </a:rPr>
              <a:t>Before departure only: </a:t>
            </a:r>
            <a:r>
              <a:rPr sz="1600" b="0">
                <a:solidFill>
                  <a:srgbClr val="1F1F1F"/>
                </a:solidFill>
              </a:rPr>
              <a:t>many public notebooks use departure delay as an input, which is only known once the plane has left. That inflates accuracy and makes the model useless in practice (Kaufman et al., 2012).</a:t>
            </a:r>
          </a:p>
          <a:p>
            <a:pPr algn="l" marL="228600" indent="-182880">
              <a:spcAft>
                <a:spcPts val="800"/>
              </a:spcAft>
              <a:buChar char="•"/>
            </a:pPr>
            <a:r>
              <a:rPr sz="1600" b="1">
                <a:solidFill>
                  <a:srgbClr val="1F1F1F"/>
                </a:solidFill>
              </a:rPr>
              <a:t>Approach: </a:t>
            </a:r>
            <a:r>
              <a:rPr sz="1600" b="0">
                <a:solidFill>
                  <a:srgbClr val="1F1F1F"/>
                </a:solidFill>
              </a:rPr>
              <a:t>ingest all twelve 2025 monthly files with Apache Spark, engineer schedule-based features, and compare three Spark MLlib classifiers.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OBJECTIVES AND SCOPE</a:t>
            </a:r>
          </a:p>
        </p:txBody>
      </p:sp>
      <p:sp>
        <p:nvSpPr>
          <p:cNvPr id="3" name="TextBox 2"/>
          <p:cNvSpPr txBox="1"/>
          <p:nvPr/>
        </p:nvSpPr>
        <p:spPr>
          <a:xfrm>
            <a:off x="365760" y="1600200"/>
            <a:ext cx="4023360" cy="365760"/>
          </a:xfrm>
          <a:prstGeom prst="rect">
            <a:avLst/>
          </a:prstGeom>
          <a:noFill/>
        </p:spPr>
        <p:txBody>
          <a:bodyPr wrap="square" anchor="t" lIns="0" rIns="0" tIns="0" bIns="0">
            <a:spAutoFit/>
          </a:bodyPr>
          <a:lstStyle/>
          <a:p>
            <a:pPr algn="l">
              <a:spcAft>
                <a:spcPts val="400"/>
              </a:spcAft>
            </a:pPr>
            <a:r>
              <a:rPr sz="1800" b="1">
                <a:solidFill>
                  <a:srgbClr val="621360"/>
                </a:solidFill>
              </a:rPr>
              <a:t>Objectives</a:t>
            </a:r>
          </a:p>
        </p:txBody>
      </p:sp>
      <p:sp>
        <p:nvSpPr>
          <p:cNvPr id="4" name="Rounded Rectangle 3"/>
          <p:cNvSpPr/>
          <p:nvPr/>
        </p:nvSpPr>
        <p:spPr>
          <a:xfrm>
            <a:off x="365760" y="2103120"/>
            <a:ext cx="548640" cy="548640"/>
          </a:xfrm>
          <a:prstGeom prst="roundRect">
            <a:avLst>
              <a:gd name="adj" fmla="val 12000"/>
            </a:avLst>
          </a:prstGeom>
          <a:solidFill>
            <a:srgbClr val="6213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FFFFFF"/>
                </a:solidFill>
              </a:rPr>
              <a:t>O1</a:t>
            </a:r>
          </a:p>
        </p:txBody>
      </p:sp>
      <p:sp>
        <p:nvSpPr>
          <p:cNvPr id="5" name="TextBox 4"/>
          <p:cNvSpPr txBox="1"/>
          <p:nvPr/>
        </p:nvSpPr>
        <p:spPr>
          <a:xfrm>
            <a:off x="1097280" y="2103120"/>
            <a:ext cx="3474720" cy="548640"/>
          </a:xfrm>
          <a:prstGeom prst="rect">
            <a:avLst/>
          </a:prstGeom>
          <a:noFill/>
        </p:spPr>
        <p:txBody>
          <a:bodyPr wrap="square" anchor="ctr" lIns="0" rIns="0" tIns="0" bIns="0">
            <a:spAutoFit/>
          </a:bodyPr>
          <a:lstStyle/>
          <a:p>
            <a:pPr algn="l">
              <a:spcAft>
                <a:spcPts val="400"/>
              </a:spcAft>
            </a:pPr>
            <a:r>
              <a:rPr sz="1400" b="0">
                <a:solidFill>
                  <a:srgbClr val="1F1F1F"/>
                </a:solidFill>
              </a:rPr>
              <a:t>Ingest, union and clean all 12 monthly files in Spark</a:t>
            </a:r>
          </a:p>
        </p:txBody>
      </p:sp>
      <p:sp>
        <p:nvSpPr>
          <p:cNvPr id="6" name="Rounded Rectangle 5"/>
          <p:cNvSpPr/>
          <p:nvPr/>
        </p:nvSpPr>
        <p:spPr>
          <a:xfrm>
            <a:off x="365760" y="2834639"/>
            <a:ext cx="548640" cy="548640"/>
          </a:xfrm>
          <a:prstGeom prst="roundRect">
            <a:avLst>
              <a:gd name="adj" fmla="val 12000"/>
            </a:avLst>
          </a:prstGeom>
          <a:solidFill>
            <a:srgbClr val="00A0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FFFFFF"/>
                </a:solidFill>
              </a:rPr>
              <a:t>O2</a:t>
            </a:r>
          </a:p>
        </p:txBody>
      </p:sp>
      <p:sp>
        <p:nvSpPr>
          <p:cNvPr id="7" name="TextBox 6"/>
          <p:cNvSpPr txBox="1"/>
          <p:nvPr/>
        </p:nvSpPr>
        <p:spPr>
          <a:xfrm>
            <a:off x="1097280" y="2834639"/>
            <a:ext cx="3474720" cy="548640"/>
          </a:xfrm>
          <a:prstGeom prst="rect">
            <a:avLst/>
          </a:prstGeom>
          <a:noFill/>
        </p:spPr>
        <p:txBody>
          <a:bodyPr wrap="square" anchor="ctr" lIns="0" rIns="0" tIns="0" bIns="0">
            <a:spAutoFit/>
          </a:bodyPr>
          <a:lstStyle/>
          <a:p>
            <a:pPr algn="l">
              <a:spcAft>
                <a:spcPts val="400"/>
              </a:spcAft>
            </a:pPr>
            <a:r>
              <a:rPr sz="1400" b="0">
                <a:solidFill>
                  <a:srgbClr val="1F1F1F"/>
                </a:solidFill>
              </a:rPr>
              <a:t>Engineer leakage-free, pre-departure features</a:t>
            </a:r>
          </a:p>
        </p:txBody>
      </p:sp>
      <p:sp>
        <p:nvSpPr>
          <p:cNvPr id="8" name="Rounded Rectangle 7"/>
          <p:cNvSpPr/>
          <p:nvPr/>
        </p:nvSpPr>
        <p:spPr>
          <a:xfrm>
            <a:off x="365760" y="3566160"/>
            <a:ext cx="548640" cy="548640"/>
          </a:xfrm>
          <a:prstGeom prst="roundRect">
            <a:avLst>
              <a:gd name="adj" fmla="val 12000"/>
            </a:avLst>
          </a:prstGeom>
          <a:solidFill>
            <a:srgbClr val="6213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FFFFFF"/>
                </a:solidFill>
              </a:rPr>
              <a:t>O3</a:t>
            </a:r>
          </a:p>
        </p:txBody>
      </p:sp>
      <p:sp>
        <p:nvSpPr>
          <p:cNvPr id="9" name="TextBox 8"/>
          <p:cNvSpPr txBox="1"/>
          <p:nvPr/>
        </p:nvSpPr>
        <p:spPr>
          <a:xfrm>
            <a:off x="1097280" y="3566160"/>
            <a:ext cx="3474720" cy="548640"/>
          </a:xfrm>
          <a:prstGeom prst="rect">
            <a:avLst/>
          </a:prstGeom>
          <a:noFill/>
        </p:spPr>
        <p:txBody>
          <a:bodyPr wrap="square" anchor="ctr" lIns="0" rIns="0" tIns="0" bIns="0">
            <a:spAutoFit/>
          </a:bodyPr>
          <a:lstStyle/>
          <a:p>
            <a:pPr algn="l">
              <a:spcAft>
                <a:spcPts val="400"/>
              </a:spcAft>
            </a:pPr>
            <a:r>
              <a:rPr sz="1400" b="0">
                <a:solidFill>
                  <a:srgbClr val="1F1F1F"/>
                </a:solidFill>
              </a:rPr>
              <a:t>Train LR, Random Forest and GBT in Spark MLlib</a:t>
            </a:r>
          </a:p>
        </p:txBody>
      </p:sp>
      <p:sp>
        <p:nvSpPr>
          <p:cNvPr id="10" name="Rounded Rectangle 9"/>
          <p:cNvSpPr/>
          <p:nvPr/>
        </p:nvSpPr>
        <p:spPr>
          <a:xfrm>
            <a:off x="365760" y="4297680"/>
            <a:ext cx="548640" cy="548640"/>
          </a:xfrm>
          <a:prstGeom prst="roundRect">
            <a:avLst>
              <a:gd name="adj" fmla="val 12000"/>
            </a:avLst>
          </a:prstGeom>
          <a:solidFill>
            <a:srgbClr val="6213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FFFFFF"/>
                </a:solidFill>
              </a:rPr>
              <a:t>O4</a:t>
            </a:r>
          </a:p>
        </p:txBody>
      </p:sp>
      <p:sp>
        <p:nvSpPr>
          <p:cNvPr id="11" name="TextBox 10"/>
          <p:cNvSpPr txBox="1"/>
          <p:nvPr/>
        </p:nvSpPr>
        <p:spPr>
          <a:xfrm>
            <a:off x="1097280" y="4297680"/>
            <a:ext cx="3474720" cy="548640"/>
          </a:xfrm>
          <a:prstGeom prst="rect">
            <a:avLst/>
          </a:prstGeom>
          <a:noFill/>
        </p:spPr>
        <p:txBody>
          <a:bodyPr wrap="square" anchor="ctr" lIns="0" rIns="0" tIns="0" bIns="0">
            <a:spAutoFit/>
          </a:bodyPr>
          <a:lstStyle/>
          <a:p>
            <a:pPr algn="l">
              <a:spcAft>
                <a:spcPts val="400"/>
              </a:spcAft>
            </a:pPr>
            <a:r>
              <a:rPr sz="1400" b="0">
                <a:solidFill>
                  <a:srgbClr val="1F1F1F"/>
                </a:solidFill>
              </a:rPr>
              <a:t>Evaluate with imbalance-aware metrics + training time</a:t>
            </a:r>
          </a:p>
        </p:txBody>
      </p:sp>
      <p:sp>
        <p:nvSpPr>
          <p:cNvPr id="12" name="Rounded Rectangle 11"/>
          <p:cNvSpPr/>
          <p:nvPr/>
        </p:nvSpPr>
        <p:spPr>
          <a:xfrm>
            <a:off x="365760" y="5029200"/>
            <a:ext cx="548640" cy="548640"/>
          </a:xfrm>
          <a:prstGeom prst="roundRect">
            <a:avLst>
              <a:gd name="adj" fmla="val 12000"/>
            </a:avLst>
          </a:prstGeom>
          <a:solidFill>
            <a:srgbClr val="6213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FFFFFF"/>
                </a:solidFill>
              </a:rPr>
              <a:t>O5</a:t>
            </a:r>
          </a:p>
        </p:txBody>
      </p:sp>
      <p:sp>
        <p:nvSpPr>
          <p:cNvPr id="13" name="TextBox 12"/>
          <p:cNvSpPr txBox="1"/>
          <p:nvPr/>
        </p:nvSpPr>
        <p:spPr>
          <a:xfrm>
            <a:off x="1097280" y="5029200"/>
            <a:ext cx="3474720" cy="548640"/>
          </a:xfrm>
          <a:prstGeom prst="rect">
            <a:avLst/>
          </a:prstGeom>
          <a:noFill/>
        </p:spPr>
        <p:txBody>
          <a:bodyPr wrap="square" anchor="ctr" lIns="0" rIns="0" tIns="0" bIns="0">
            <a:spAutoFit/>
          </a:bodyPr>
          <a:lstStyle/>
          <a:p>
            <a:pPr algn="l">
              <a:spcAft>
                <a:spcPts val="400"/>
              </a:spcAft>
            </a:pPr>
            <a:r>
              <a:rPr sz="1400" b="0">
                <a:solidFill>
                  <a:srgbClr val="1F1F1F"/>
                </a:solidFill>
              </a:rPr>
              <a:t>Show how the pipeline scales out</a:t>
            </a:r>
          </a:p>
        </p:txBody>
      </p:sp>
      <p:sp>
        <p:nvSpPr>
          <p:cNvPr id="14" name="Rounded Rectangle 13"/>
          <p:cNvSpPr/>
          <p:nvPr/>
        </p:nvSpPr>
        <p:spPr>
          <a:xfrm>
            <a:off x="4846320" y="1600200"/>
            <a:ext cx="3794760" cy="4206240"/>
          </a:xfrm>
          <a:prstGeom prst="roundRect">
            <a:avLst>
              <a:gd name="adj" fmla="val 8000"/>
            </a:avLst>
          </a:prstGeom>
          <a:solidFill>
            <a:srgbClr val="F4EF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074920" y="1783080"/>
            <a:ext cx="3383280" cy="365760"/>
          </a:xfrm>
          <a:prstGeom prst="rect">
            <a:avLst/>
          </a:prstGeom>
          <a:noFill/>
        </p:spPr>
        <p:txBody>
          <a:bodyPr wrap="square" anchor="t" lIns="0" rIns="0" tIns="0" bIns="0">
            <a:spAutoFit/>
          </a:bodyPr>
          <a:lstStyle/>
          <a:p>
            <a:pPr algn="l">
              <a:spcAft>
                <a:spcPts val="400"/>
              </a:spcAft>
            </a:pPr>
            <a:r>
              <a:rPr sz="1800" b="1">
                <a:solidFill>
                  <a:srgbClr val="621360"/>
                </a:solidFill>
              </a:rPr>
              <a:t>Scope</a:t>
            </a:r>
          </a:p>
        </p:txBody>
      </p:sp>
      <p:sp>
        <p:nvSpPr>
          <p:cNvPr id="16" name="TextBox 15"/>
          <p:cNvSpPr txBox="1"/>
          <p:nvPr/>
        </p:nvSpPr>
        <p:spPr>
          <a:xfrm>
            <a:off x="5074920" y="2286000"/>
            <a:ext cx="3383280" cy="3383280"/>
          </a:xfrm>
          <a:prstGeom prst="rect">
            <a:avLst/>
          </a:prstGeom>
          <a:noFill/>
        </p:spPr>
        <p:txBody>
          <a:bodyPr wrap="square" anchor="t" lIns="0" rIns="0" tIns="0" bIns="0">
            <a:spAutoFit/>
          </a:bodyPr>
          <a:lstStyle/>
          <a:p>
            <a:pPr algn="l" marL="228600" indent="-182880">
              <a:spcAft>
                <a:spcPts val="800"/>
              </a:spcAft>
              <a:buChar char="•"/>
            </a:pPr>
            <a:r>
              <a:rPr sz="1400" b="0">
                <a:solidFill>
                  <a:srgbClr val="1F1F1F"/>
                </a:solidFill>
              </a:rPr>
              <a:t>U.S. domestic flights, January–December 2025</a:t>
            </a:r>
          </a:p>
          <a:p>
            <a:pPr algn="l" marL="228600" indent="-182880">
              <a:spcAft>
                <a:spcPts val="800"/>
              </a:spcAft>
              <a:buChar char="•"/>
            </a:pPr>
            <a:r>
              <a:rPr sz="1400" b="0">
                <a:solidFill>
                  <a:srgbClr val="1F1F1F"/>
                </a:solidFill>
              </a:rPr>
              <a:t>Arrival delay ≥ 15 min as the target</a:t>
            </a:r>
          </a:p>
          <a:p>
            <a:pPr algn="l" marL="228600" indent="-182880">
              <a:spcAft>
                <a:spcPts val="800"/>
              </a:spcAft>
              <a:buChar char="•"/>
            </a:pPr>
            <a:r>
              <a:rPr sz="1400" b="0">
                <a:solidFill>
                  <a:srgbClr val="1F1F1F"/>
                </a:solidFill>
              </a:rPr>
              <a:t>Schedule information only: no departure delay, no weather</a:t>
            </a:r>
          </a:p>
          <a:p>
            <a:pPr algn="l" marL="228600" indent="-182880">
              <a:spcAft>
                <a:spcPts val="800"/>
              </a:spcAft>
              <a:buChar char="•"/>
            </a:pPr>
            <a:r>
              <a:rPr sz="1400" b="0">
                <a:solidFill>
                  <a:srgbClr val="1F1F1F"/>
                </a:solidFill>
              </a:rPr>
              <a:t>Google Colab (2 cores, ~12 GB RAM) with PySpark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SET USED</a:t>
            </a:r>
          </a:p>
        </p:txBody>
      </p:sp>
      <p:sp>
        <p:nvSpPr>
          <p:cNvPr id="3" name="TextBox 2"/>
          <p:cNvSpPr txBox="1"/>
          <p:nvPr/>
        </p:nvSpPr>
        <p:spPr>
          <a:xfrm>
            <a:off x="365760" y="1600200"/>
            <a:ext cx="4114800" cy="2011680"/>
          </a:xfrm>
          <a:prstGeom prst="rect">
            <a:avLst/>
          </a:prstGeom>
          <a:noFill/>
        </p:spPr>
        <p:txBody>
          <a:bodyPr wrap="square" anchor="t" lIns="0" rIns="0" tIns="0" bIns="0">
            <a:spAutoFit/>
          </a:bodyPr>
          <a:lstStyle/>
          <a:p>
            <a:pPr algn="l" marL="228600" indent="-182880">
              <a:spcAft>
                <a:spcPts val="800"/>
              </a:spcAft>
              <a:buChar char="•"/>
            </a:pPr>
            <a:r>
              <a:rPr sz="1400" b="1">
                <a:solidFill>
                  <a:srgbClr val="1F1F1F"/>
                </a:solidFill>
              </a:rPr>
              <a:t>Source: </a:t>
            </a:r>
            <a:r>
              <a:rPr sz="1400" b="0">
                <a:solidFill>
                  <a:srgbClr val="1F1F1F"/>
                </a:solidFill>
              </a:rPr>
              <a:t>BTS Reporting Carrier On-Time Performance, Jan–Dec 2025 (12 monthly CSVs, 3.17 GB, ~110 columns each).</a:t>
            </a:r>
          </a:p>
          <a:p>
            <a:pPr algn="l" marL="228600" indent="-182880">
              <a:spcAft>
                <a:spcPts val="800"/>
              </a:spcAft>
              <a:buChar char="•"/>
            </a:pPr>
            <a:r>
              <a:rPr sz="1400" b="1">
                <a:solidFill>
                  <a:srgbClr val="1F1F1F"/>
                </a:solidFill>
              </a:rPr>
              <a:t>Size: </a:t>
            </a:r>
            <a:r>
              <a:rPr sz="1400" b="0">
                <a:solidFill>
                  <a:srgbClr val="1F1F1F"/>
                </a:solidFill>
              </a:rPr>
              <a:t>7,001,619 flights; 6,879,483 after cleaning.</a:t>
            </a:r>
          </a:p>
          <a:p>
            <a:pPr algn="l" marL="228600" indent="-182880">
              <a:spcAft>
                <a:spcPts val="800"/>
              </a:spcAft>
              <a:buChar char="•"/>
            </a:pPr>
            <a:r>
              <a:rPr sz="1400" b="1">
                <a:solidFill>
                  <a:srgbClr val="1F1F1F"/>
                </a:solidFill>
              </a:rPr>
              <a:t>Imbalanced: </a:t>
            </a:r>
            <a:r>
              <a:rPr sz="1400" b="0">
                <a:solidFill>
                  <a:srgbClr val="1F1F1F"/>
                </a:solidFill>
              </a:rPr>
              <a:t>22.31% of flights are delayed, so always predicting 'on time' already scores 77.70% accuracy.</a:t>
            </a:r>
          </a:p>
        </p:txBody>
      </p:sp>
      <p:sp>
        <p:nvSpPr>
          <p:cNvPr id="4" name="Rounded Rectangle 3"/>
          <p:cNvSpPr/>
          <p:nvPr/>
        </p:nvSpPr>
        <p:spPr>
          <a:xfrm>
            <a:off x="365760" y="3977639"/>
            <a:ext cx="1920240" cy="822960"/>
          </a:xfrm>
          <a:prstGeom prst="roundRect">
            <a:avLst>
              <a:gd name="adj" fmla="val 8000"/>
            </a:avLst>
          </a:prstGeom>
          <a:solidFill>
            <a:srgbClr val="F4EF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02920" y="4032503"/>
            <a:ext cx="1691640" cy="457200"/>
          </a:xfrm>
          <a:prstGeom prst="rect">
            <a:avLst/>
          </a:prstGeom>
          <a:noFill/>
        </p:spPr>
        <p:txBody>
          <a:bodyPr wrap="square" anchor="t" lIns="0" rIns="0" tIns="0" bIns="0">
            <a:spAutoFit/>
          </a:bodyPr>
          <a:lstStyle/>
          <a:p>
            <a:pPr algn="l">
              <a:spcAft>
                <a:spcPts val="400"/>
              </a:spcAft>
            </a:pPr>
            <a:r>
              <a:rPr sz="2000" b="1">
                <a:solidFill>
                  <a:srgbClr val="621360"/>
                </a:solidFill>
              </a:rPr>
              <a:t>12</a:t>
            </a:r>
          </a:p>
        </p:txBody>
      </p:sp>
      <p:sp>
        <p:nvSpPr>
          <p:cNvPr id="6" name="TextBox 5"/>
          <p:cNvSpPr txBox="1"/>
          <p:nvPr/>
        </p:nvSpPr>
        <p:spPr>
          <a:xfrm>
            <a:off x="502920" y="4480559"/>
            <a:ext cx="1691640" cy="274320"/>
          </a:xfrm>
          <a:prstGeom prst="rect">
            <a:avLst/>
          </a:prstGeom>
          <a:noFill/>
        </p:spPr>
        <p:txBody>
          <a:bodyPr wrap="square" anchor="t" lIns="0" rIns="0" tIns="0" bIns="0">
            <a:spAutoFit/>
          </a:bodyPr>
          <a:lstStyle/>
          <a:p>
            <a:pPr algn="l">
              <a:spcAft>
                <a:spcPts val="400"/>
              </a:spcAft>
            </a:pPr>
            <a:r>
              <a:rPr sz="1100" b="0">
                <a:solidFill>
                  <a:srgbClr val="5A5A5A"/>
                </a:solidFill>
              </a:rPr>
              <a:t>monthly files</a:t>
            </a:r>
          </a:p>
        </p:txBody>
      </p:sp>
      <p:sp>
        <p:nvSpPr>
          <p:cNvPr id="7" name="Rounded Rectangle 6"/>
          <p:cNvSpPr/>
          <p:nvPr/>
        </p:nvSpPr>
        <p:spPr>
          <a:xfrm>
            <a:off x="2423160" y="3977639"/>
            <a:ext cx="1920240" cy="822960"/>
          </a:xfrm>
          <a:prstGeom prst="roundRect">
            <a:avLst>
              <a:gd name="adj" fmla="val 8000"/>
            </a:avLst>
          </a:prstGeom>
          <a:solidFill>
            <a:srgbClr val="F4EF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560320" y="4032503"/>
            <a:ext cx="1691640" cy="457200"/>
          </a:xfrm>
          <a:prstGeom prst="rect">
            <a:avLst/>
          </a:prstGeom>
          <a:noFill/>
        </p:spPr>
        <p:txBody>
          <a:bodyPr wrap="square" anchor="t" lIns="0" rIns="0" tIns="0" bIns="0">
            <a:spAutoFit/>
          </a:bodyPr>
          <a:lstStyle/>
          <a:p>
            <a:pPr algn="l">
              <a:spcAft>
                <a:spcPts val="400"/>
              </a:spcAft>
            </a:pPr>
            <a:r>
              <a:rPr sz="2000" b="1">
                <a:solidFill>
                  <a:srgbClr val="621360"/>
                </a:solidFill>
              </a:rPr>
              <a:t>3.17 GB</a:t>
            </a:r>
          </a:p>
        </p:txBody>
      </p:sp>
      <p:sp>
        <p:nvSpPr>
          <p:cNvPr id="9" name="TextBox 8"/>
          <p:cNvSpPr txBox="1"/>
          <p:nvPr/>
        </p:nvSpPr>
        <p:spPr>
          <a:xfrm>
            <a:off x="2560320" y="4480559"/>
            <a:ext cx="1691640" cy="274320"/>
          </a:xfrm>
          <a:prstGeom prst="rect">
            <a:avLst/>
          </a:prstGeom>
          <a:noFill/>
        </p:spPr>
        <p:txBody>
          <a:bodyPr wrap="square" anchor="t" lIns="0" rIns="0" tIns="0" bIns="0">
            <a:spAutoFit/>
          </a:bodyPr>
          <a:lstStyle/>
          <a:p>
            <a:pPr algn="l">
              <a:spcAft>
                <a:spcPts val="400"/>
              </a:spcAft>
            </a:pPr>
            <a:r>
              <a:rPr sz="1100" b="0">
                <a:solidFill>
                  <a:srgbClr val="5A5A5A"/>
                </a:solidFill>
              </a:rPr>
              <a:t>raw CSV</a:t>
            </a:r>
          </a:p>
        </p:txBody>
      </p:sp>
      <p:sp>
        <p:nvSpPr>
          <p:cNvPr id="10" name="Rounded Rectangle 9"/>
          <p:cNvSpPr/>
          <p:nvPr/>
        </p:nvSpPr>
        <p:spPr>
          <a:xfrm>
            <a:off x="365760" y="4937759"/>
            <a:ext cx="1920240" cy="822960"/>
          </a:xfrm>
          <a:prstGeom prst="roundRect">
            <a:avLst>
              <a:gd name="adj" fmla="val 8000"/>
            </a:avLst>
          </a:prstGeom>
          <a:solidFill>
            <a:srgbClr val="F4EF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02920" y="4992623"/>
            <a:ext cx="1691640" cy="457200"/>
          </a:xfrm>
          <a:prstGeom prst="rect">
            <a:avLst/>
          </a:prstGeom>
          <a:noFill/>
        </p:spPr>
        <p:txBody>
          <a:bodyPr wrap="square" anchor="t" lIns="0" rIns="0" tIns="0" bIns="0">
            <a:spAutoFit/>
          </a:bodyPr>
          <a:lstStyle/>
          <a:p>
            <a:pPr algn="l">
              <a:spcAft>
                <a:spcPts val="400"/>
              </a:spcAft>
            </a:pPr>
            <a:r>
              <a:rPr sz="2000" b="1">
                <a:solidFill>
                  <a:srgbClr val="621360"/>
                </a:solidFill>
              </a:rPr>
              <a:t>17 / 110</a:t>
            </a:r>
          </a:p>
        </p:txBody>
      </p:sp>
      <p:sp>
        <p:nvSpPr>
          <p:cNvPr id="12" name="TextBox 11"/>
          <p:cNvSpPr txBox="1"/>
          <p:nvPr/>
        </p:nvSpPr>
        <p:spPr>
          <a:xfrm>
            <a:off x="502920" y="5440679"/>
            <a:ext cx="1691640" cy="274320"/>
          </a:xfrm>
          <a:prstGeom prst="rect">
            <a:avLst/>
          </a:prstGeom>
          <a:noFill/>
        </p:spPr>
        <p:txBody>
          <a:bodyPr wrap="square" anchor="t" lIns="0" rIns="0" tIns="0" bIns="0">
            <a:spAutoFit/>
          </a:bodyPr>
          <a:lstStyle/>
          <a:p>
            <a:pPr algn="l">
              <a:spcAft>
                <a:spcPts val="400"/>
              </a:spcAft>
            </a:pPr>
            <a:r>
              <a:rPr sz="1100" b="0">
                <a:solidFill>
                  <a:srgbClr val="5A5A5A"/>
                </a:solidFill>
              </a:rPr>
              <a:t>columns kept</a:t>
            </a:r>
          </a:p>
        </p:txBody>
      </p:sp>
      <p:sp>
        <p:nvSpPr>
          <p:cNvPr id="13" name="Rounded Rectangle 12"/>
          <p:cNvSpPr/>
          <p:nvPr/>
        </p:nvSpPr>
        <p:spPr>
          <a:xfrm>
            <a:off x="2423160" y="4937759"/>
            <a:ext cx="1920240" cy="822960"/>
          </a:xfrm>
          <a:prstGeom prst="roundRect">
            <a:avLst>
              <a:gd name="adj" fmla="val 8000"/>
            </a:avLst>
          </a:prstGeom>
          <a:solidFill>
            <a:srgbClr val="F4EF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2560320" y="4992623"/>
            <a:ext cx="1691640" cy="457200"/>
          </a:xfrm>
          <a:prstGeom prst="rect">
            <a:avLst/>
          </a:prstGeom>
          <a:noFill/>
        </p:spPr>
        <p:txBody>
          <a:bodyPr wrap="square" anchor="t" lIns="0" rIns="0" tIns="0" bIns="0">
            <a:spAutoFit/>
          </a:bodyPr>
          <a:lstStyle/>
          <a:p>
            <a:pPr algn="l">
              <a:spcAft>
                <a:spcPts val="400"/>
              </a:spcAft>
            </a:pPr>
            <a:r>
              <a:rPr sz="2000" b="1">
                <a:solidFill>
                  <a:srgbClr val="621360"/>
                </a:solidFill>
              </a:rPr>
              <a:t>25.1x</a:t>
            </a:r>
          </a:p>
        </p:txBody>
      </p:sp>
      <p:sp>
        <p:nvSpPr>
          <p:cNvPr id="15" name="TextBox 14"/>
          <p:cNvSpPr txBox="1"/>
          <p:nvPr/>
        </p:nvSpPr>
        <p:spPr>
          <a:xfrm>
            <a:off x="2560320" y="5440679"/>
            <a:ext cx="1691640" cy="274320"/>
          </a:xfrm>
          <a:prstGeom prst="rect">
            <a:avLst/>
          </a:prstGeom>
          <a:noFill/>
        </p:spPr>
        <p:txBody>
          <a:bodyPr wrap="square" anchor="t" lIns="0" rIns="0" tIns="0" bIns="0">
            <a:spAutoFit/>
          </a:bodyPr>
          <a:lstStyle/>
          <a:p>
            <a:pPr algn="l">
              <a:spcAft>
                <a:spcPts val="400"/>
              </a:spcAft>
            </a:pPr>
            <a:r>
              <a:rPr sz="1100" b="0">
                <a:solidFill>
                  <a:srgbClr val="5A5A5A"/>
                </a:solidFill>
              </a:rPr>
              <a:t>faster on Parquet</a:t>
            </a:r>
          </a:p>
        </p:txBody>
      </p:sp>
      <p:graphicFrame>
        <p:nvGraphicFramePr>
          <p:cNvPr id="16" name="Chart 15"/>
          <p:cNvGraphicFramePr>
            <a:graphicFrameLocks noGrp="1"/>
          </p:cNvGraphicFramePr>
          <p:nvPr/>
        </p:nvGraphicFramePr>
        <p:xfrm>
          <a:off x="4663440" y="1600200"/>
          <a:ext cx="3977639" cy="4297680"/>
        </p:xfrm>
        <a:graphic>
          <a:graphicData uri="http://schemas.openxmlformats.org/drawingml/2006/chart">
            <c:chart xmlns:c="http://schemas.openxmlformats.org/drawingml/2006/chart" r:id="rId2"/>
          </a:graphicData>
        </a:graphic>
      </p:graphicFrame>
      <p:sp>
        <p:nvSpPr>
          <p:cNvPr id="17" name="TextBox 16"/>
          <p:cNvSpPr txBox="1"/>
          <p:nvPr/>
        </p:nvSpPr>
        <p:spPr>
          <a:xfrm>
            <a:off x="2011680" y="6355080"/>
            <a:ext cx="6583680" cy="274320"/>
          </a:xfrm>
          <a:prstGeom prst="rect">
            <a:avLst/>
          </a:prstGeom>
          <a:noFill/>
        </p:spPr>
        <p:txBody>
          <a:bodyPr wrap="square" anchor="t" lIns="0" rIns="0" tIns="0" bIns="0">
            <a:spAutoFit/>
          </a:bodyPr>
          <a:lstStyle/>
          <a:p>
            <a:pPr algn="l">
              <a:spcAft>
                <a:spcPts val="400"/>
              </a:spcAft>
            </a:pPr>
            <a:r>
              <a:rPr sz="900" b="0">
                <a:solidFill>
                  <a:srgbClr val="5A5A5A"/>
                </a:solidFill>
              </a:rPr>
              <a:t>Source: Bureau of Transportation Statistics (2026), Reporting Carrier On-Time Performance.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EXPLORATORY ANALYSIS</a:t>
            </a:r>
          </a:p>
        </p:txBody>
      </p:sp>
      <p:pic>
        <p:nvPicPr>
          <p:cNvPr id="3" name="Picture 2" descr="image.png"/>
          <p:cNvPicPr>
            <a:picLocks noChangeAspect="1"/>
          </p:cNvPicPr>
          <p:nvPr/>
        </p:nvPicPr>
        <p:blipFill>
          <a:blip r:embed="rId2"/>
          <a:stretch>
            <a:fillRect/>
          </a:stretch>
        </p:blipFill>
        <p:spPr>
          <a:xfrm>
            <a:off x="365760" y="1821663"/>
            <a:ext cx="4069080" cy="2574593"/>
          </a:xfrm>
          <a:prstGeom prst="rect">
            <a:avLst/>
          </a:prstGeom>
        </p:spPr>
      </p:pic>
      <p:pic>
        <p:nvPicPr>
          <p:cNvPr id="4" name="Picture 3" descr="image.png"/>
          <p:cNvPicPr>
            <a:picLocks noChangeAspect="1"/>
          </p:cNvPicPr>
          <p:nvPr/>
        </p:nvPicPr>
        <p:blipFill>
          <a:blip r:embed="rId3"/>
          <a:stretch>
            <a:fillRect/>
          </a:stretch>
        </p:blipFill>
        <p:spPr>
          <a:xfrm>
            <a:off x="4526280" y="2027730"/>
            <a:ext cx="4114800" cy="2162458"/>
          </a:xfrm>
          <a:prstGeom prst="rect">
            <a:avLst/>
          </a:prstGeom>
        </p:spPr>
      </p:pic>
      <p:sp>
        <p:nvSpPr>
          <p:cNvPr id="5" name="TextBox 4"/>
          <p:cNvSpPr txBox="1"/>
          <p:nvPr/>
        </p:nvSpPr>
        <p:spPr>
          <a:xfrm>
            <a:off x="365760" y="4754880"/>
            <a:ext cx="8275320" cy="1371600"/>
          </a:xfrm>
          <a:prstGeom prst="rect">
            <a:avLst/>
          </a:prstGeom>
          <a:noFill/>
        </p:spPr>
        <p:txBody>
          <a:bodyPr wrap="square" anchor="t" lIns="0" rIns="0" tIns="0" bIns="0">
            <a:spAutoFit/>
          </a:bodyPr>
          <a:lstStyle/>
          <a:p>
            <a:pPr algn="l" marL="228600" indent="-182880">
              <a:spcAft>
                <a:spcPts val="800"/>
              </a:spcAft>
              <a:buChar char="•"/>
            </a:pPr>
            <a:r>
              <a:rPr sz="1400" b="1">
                <a:solidFill>
                  <a:srgbClr val="1F1F1F"/>
                </a:solidFill>
              </a:rPr>
              <a:t>Delays build through the day: </a:t>
            </a:r>
            <a:r>
              <a:rPr sz="1400" b="0">
                <a:solidFill>
                  <a:srgbClr val="1F1F1F"/>
                </a:solidFill>
              </a:rPr>
              <a:t>about 9% of 5am departures arrive late, rising to about 33% at 7pm.</a:t>
            </a:r>
          </a:p>
          <a:p>
            <a:pPr algn="l" marL="228600" indent="-182880">
              <a:spcAft>
                <a:spcPts val="800"/>
              </a:spcAft>
              <a:buChar char="•"/>
            </a:pPr>
            <a:r>
              <a:rPr sz="1400" b="1">
                <a:solidFill>
                  <a:srgbClr val="1F1F1F"/>
                </a:solidFill>
              </a:rPr>
              <a:t>Delays propagate along the aircraft: </a:t>
            </a:r>
            <a:r>
              <a:rPr sz="1400" b="0">
                <a:solidFill>
                  <a:srgbClr val="1F1F1F"/>
                </a:solidFill>
              </a:rPr>
              <a:t>an aircraft's 1st leg is late ~15% of the time, its 7th ~34%; turnarounds under 40 minutes give a 38% delay rate.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ARCHITECTURE DESIGN</a:t>
            </a:r>
          </a:p>
        </p:txBody>
      </p:sp>
      <p:pic>
        <p:nvPicPr>
          <p:cNvPr id="3" name="Picture 2" descr="image.png"/>
          <p:cNvPicPr>
            <a:picLocks noChangeAspect="1"/>
          </p:cNvPicPr>
          <p:nvPr/>
        </p:nvPicPr>
        <p:blipFill>
          <a:blip r:embed="rId2"/>
          <a:stretch>
            <a:fillRect/>
          </a:stretch>
        </p:blipFill>
        <p:spPr>
          <a:xfrm>
            <a:off x="365760" y="1829133"/>
            <a:ext cx="8275320" cy="3382612"/>
          </a:xfrm>
          <a:prstGeom prst="rect">
            <a:avLst/>
          </a:prstGeom>
        </p:spPr>
      </p:pic>
      <p:sp>
        <p:nvSpPr>
          <p:cNvPr id="4" name="TextBox 3"/>
          <p:cNvSpPr txBox="1"/>
          <p:nvPr/>
        </p:nvSpPr>
        <p:spPr>
          <a:xfrm>
            <a:off x="365760" y="5577840"/>
            <a:ext cx="8275320" cy="548640"/>
          </a:xfrm>
          <a:prstGeom prst="rect">
            <a:avLst/>
          </a:prstGeom>
          <a:noFill/>
        </p:spPr>
        <p:txBody>
          <a:bodyPr wrap="square" anchor="t" lIns="0" rIns="0" tIns="0" bIns="0">
            <a:spAutoFit/>
          </a:bodyPr>
          <a:lstStyle/>
          <a:p>
            <a:pPr algn="ctr">
              <a:spcAft>
                <a:spcPts val="400"/>
              </a:spcAft>
            </a:pPr>
            <a:r>
              <a:rPr sz="1200" b="0">
                <a:solidFill>
                  <a:srgbClr val="5A5A5A"/>
                </a:solidFill>
              </a:rPr>
              <a:t>Google Colab · PySpark 4.0.4 · Spark SQL / DataFrames for processing · Spark MLlib for modelling · Parquet checkpoint in Google Drive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TECHNOLOGY USED</a:t>
            </a:r>
          </a:p>
        </p:txBody>
      </p:sp>
      <p:sp>
        <p:nvSpPr>
          <p:cNvPr id="3" name="Rounded Rectangle 2"/>
          <p:cNvSpPr/>
          <p:nvPr/>
        </p:nvSpPr>
        <p:spPr>
          <a:xfrm>
            <a:off x="502920" y="1874519"/>
            <a:ext cx="2468880" cy="1737360"/>
          </a:xfrm>
          <a:prstGeom prst="roundRect">
            <a:avLst>
              <a:gd name="adj" fmla="val 6000"/>
            </a:avLst>
          </a:prstGeom>
          <a:solidFill>
            <a:srgbClr val="FFFFFF"/>
          </a:solidFill>
          <a:ln w="12700">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31520" y="2057400"/>
            <a:ext cx="2011680" cy="640080"/>
          </a:xfrm>
          <a:prstGeom prst="rect">
            <a:avLst/>
          </a:prstGeom>
          <a:noFill/>
        </p:spPr>
        <p:txBody>
          <a:bodyPr wrap="square" anchor="t" lIns="0" rIns="0" tIns="0" bIns="0">
            <a:spAutoFit/>
          </a:bodyPr>
          <a:lstStyle/>
          <a:p>
            <a:pPr algn="l">
              <a:spcAft>
                <a:spcPts val="400"/>
              </a:spcAft>
            </a:pPr>
            <a:r>
              <a:rPr sz="3000" b="0">
                <a:solidFill>
                  <a:srgbClr val="6997AF"/>
                </a:solidFill>
              </a:rPr>
              <a:t>01</a:t>
            </a:r>
          </a:p>
        </p:txBody>
      </p:sp>
      <p:sp>
        <p:nvSpPr>
          <p:cNvPr id="5" name="TextBox 4"/>
          <p:cNvSpPr txBox="1"/>
          <p:nvPr/>
        </p:nvSpPr>
        <p:spPr>
          <a:xfrm>
            <a:off x="731520" y="2743200"/>
            <a:ext cx="2011680" cy="411480"/>
          </a:xfrm>
          <a:prstGeom prst="rect">
            <a:avLst/>
          </a:prstGeom>
          <a:noFill/>
        </p:spPr>
        <p:txBody>
          <a:bodyPr wrap="square" anchor="t" lIns="0" rIns="0" tIns="0" bIns="0">
            <a:spAutoFit/>
          </a:bodyPr>
          <a:lstStyle/>
          <a:p>
            <a:pPr algn="l">
              <a:spcAft>
                <a:spcPts val="400"/>
              </a:spcAft>
            </a:pPr>
            <a:r>
              <a:rPr sz="1700" b="1">
                <a:solidFill>
                  <a:srgbClr val="1F1F1F"/>
                </a:solidFill>
              </a:rPr>
              <a:t>Apache Spark</a:t>
            </a:r>
          </a:p>
        </p:txBody>
      </p:sp>
      <p:sp>
        <p:nvSpPr>
          <p:cNvPr id="6" name="TextBox 5"/>
          <p:cNvSpPr txBox="1"/>
          <p:nvPr/>
        </p:nvSpPr>
        <p:spPr>
          <a:xfrm>
            <a:off x="731520" y="3154679"/>
            <a:ext cx="2011680" cy="320040"/>
          </a:xfrm>
          <a:prstGeom prst="rect">
            <a:avLst/>
          </a:prstGeom>
          <a:noFill/>
        </p:spPr>
        <p:txBody>
          <a:bodyPr wrap="square" anchor="t" lIns="0" rIns="0" tIns="0" bIns="0">
            <a:spAutoFit/>
          </a:bodyPr>
          <a:lstStyle/>
          <a:p>
            <a:pPr algn="l">
              <a:spcAft>
                <a:spcPts val="400"/>
              </a:spcAft>
            </a:pPr>
            <a:r>
              <a:rPr sz="1200" b="0">
                <a:solidFill>
                  <a:srgbClr val="5A5A5A"/>
                </a:solidFill>
              </a:rPr>
              <a:t>PySpark 4.0.4</a:t>
            </a:r>
          </a:p>
        </p:txBody>
      </p:sp>
      <p:sp>
        <p:nvSpPr>
          <p:cNvPr id="7" name="Rounded Rectangle 6"/>
          <p:cNvSpPr/>
          <p:nvPr/>
        </p:nvSpPr>
        <p:spPr>
          <a:xfrm>
            <a:off x="3246120" y="1874519"/>
            <a:ext cx="2468880" cy="1737360"/>
          </a:xfrm>
          <a:prstGeom prst="roundRect">
            <a:avLst>
              <a:gd name="adj" fmla="val 6000"/>
            </a:avLst>
          </a:prstGeom>
          <a:solidFill>
            <a:srgbClr val="FFFFFF"/>
          </a:solidFill>
          <a:ln w="12700">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474720" y="2057400"/>
            <a:ext cx="2011680" cy="640080"/>
          </a:xfrm>
          <a:prstGeom prst="rect">
            <a:avLst/>
          </a:prstGeom>
          <a:noFill/>
        </p:spPr>
        <p:txBody>
          <a:bodyPr wrap="square" anchor="t" lIns="0" rIns="0" tIns="0" bIns="0">
            <a:spAutoFit/>
          </a:bodyPr>
          <a:lstStyle/>
          <a:p>
            <a:pPr algn="l">
              <a:spcAft>
                <a:spcPts val="400"/>
              </a:spcAft>
            </a:pPr>
            <a:r>
              <a:rPr sz="3000" b="0">
                <a:solidFill>
                  <a:srgbClr val="6997AF"/>
                </a:solidFill>
              </a:rPr>
              <a:t>02</a:t>
            </a:r>
          </a:p>
        </p:txBody>
      </p:sp>
      <p:sp>
        <p:nvSpPr>
          <p:cNvPr id="9" name="TextBox 8"/>
          <p:cNvSpPr txBox="1"/>
          <p:nvPr/>
        </p:nvSpPr>
        <p:spPr>
          <a:xfrm>
            <a:off x="3474720" y="2743200"/>
            <a:ext cx="2011680" cy="411480"/>
          </a:xfrm>
          <a:prstGeom prst="rect">
            <a:avLst/>
          </a:prstGeom>
          <a:noFill/>
        </p:spPr>
        <p:txBody>
          <a:bodyPr wrap="square" anchor="t" lIns="0" rIns="0" tIns="0" bIns="0">
            <a:spAutoFit/>
          </a:bodyPr>
          <a:lstStyle/>
          <a:p>
            <a:pPr algn="l">
              <a:spcAft>
                <a:spcPts val="400"/>
              </a:spcAft>
            </a:pPr>
            <a:r>
              <a:rPr sz="1700" b="1">
                <a:solidFill>
                  <a:srgbClr val="1F1F1F"/>
                </a:solidFill>
              </a:rPr>
              <a:t>Spark MLlib</a:t>
            </a:r>
          </a:p>
        </p:txBody>
      </p:sp>
      <p:sp>
        <p:nvSpPr>
          <p:cNvPr id="10" name="TextBox 9"/>
          <p:cNvSpPr txBox="1"/>
          <p:nvPr/>
        </p:nvSpPr>
        <p:spPr>
          <a:xfrm>
            <a:off x="3474720" y="3154679"/>
            <a:ext cx="2011680" cy="320040"/>
          </a:xfrm>
          <a:prstGeom prst="rect">
            <a:avLst/>
          </a:prstGeom>
          <a:noFill/>
        </p:spPr>
        <p:txBody>
          <a:bodyPr wrap="square" anchor="t" lIns="0" rIns="0" tIns="0" bIns="0">
            <a:spAutoFit/>
          </a:bodyPr>
          <a:lstStyle/>
          <a:p>
            <a:pPr algn="l">
              <a:spcAft>
                <a:spcPts val="400"/>
              </a:spcAft>
            </a:pPr>
            <a:r>
              <a:rPr sz="1200" b="0">
                <a:solidFill>
                  <a:srgbClr val="5A5A5A"/>
                </a:solidFill>
              </a:rPr>
              <a:t>LR · RF · GBT</a:t>
            </a:r>
          </a:p>
        </p:txBody>
      </p:sp>
      <p:sp>
        <p:nvSpPr>
          <p:cNvPr id="11" name="Rounded Rectangle 10"/>
          <p:cNvSpPr/>
          <p:nvPr/>
        </p:nvSpPr>
        <p:spPr>
          <a:xfrm>
            <a:off x="5989320" y="1874519"/>
            <a:ext cx="2468880" cy="1737360"/>
          </a:xfrm>
          <a:prstGeom prst="roundRect">
            <a:avLst>
              <a:gd name="adj" fmla="val 6000"/>
            </a:avLst>
          </a:prstGeom>
          <a:solidFill>
            <a:srgbClr val="FFFFFF"/>
          </a:solidFill>
          <a:ln w="12700">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217920" y="2057400"/>
            <a:ext cx="2011680" cy="640080"/>
          </a:xfrm>
          <a:prstGeom prst="rect">
            <a:avLst/>
          </a:prstGeom>
          <a:noFill/>
        </p:spPr>
        <p:txBody>
          <a:bodyPr wrap="square" anchor="t" lIns="0" rIns="0" tIns="0" bIns="0">
            <a:spAutoFit/>
          </a:bodyPr>
          <a:lstStyle/>
          <a:p>
            <a:pPr algn="l">
              <a:spcAft>
                <a:spcPts val="400"/>
              </a:spcAft>
            </a:pPr>
            <a:r>
              <a:rPr sz="3000" b="0">
                <a:solidFill>
                  <a:srgbClr val="6997AF"/>
                </a:solidFill>
              </a:rPr>
              <a:t>03</a:t>
            </a:r>
          </a:p>
        </p:txBody>
      </p:sp>
      <p:sp>
        <p:nvSpPr>
          <p:cNvPr id="13" name="TextBox 12"/>
          <p:cNvSpPr txBox="1"/>
          <p:nvPr/>
        </p:nvSpPr>
        <p:spPr>
          <a:xfrm>
            <a:off x="6217920" y="2743200"/>
            <a:ext cx="2011680" cy="411480"/>
          </a:xfrm>
          <a:prstGeom prst="rect">
            <a:avLst/>
          </a:prstGeom>
          <a:noFill/>
        </p:spPr>
        <p:txBody>
          <a:bodyPr wrap="square" anchor="t" lIns="0" rIns="0" tIns="0" bIns="0">
            <a:spAutoFit/>
          </a:bodyPr>
          <a:lstStyle/>
          <a:p>
            <a:pPr algn="l">
              <a:spcAft>
                <a:spcPts val="400"/>
              </a:spcAft>
            </a:pPr>
            <a:r>
              <a:rPr sz="1700" b="1">
                <a:solidFill>
                  <a:srgbClr val="1F1F1F"/>
                </a:solidFill>
              </a:rPr>
              <a:t>Spark SQL</a:t>
            </a:r>
          </a:p>
        </p:txBody>
      </p:sp>
      <p:sp>
        <p:nvSpPr>
          <p:cNvPr id="14" name="TextBox 13"/>
          <p:cNvSpPr txBox="1"/>
          <p:nvPr/>
        </p:nvSpPr>
        <p:spPr>
          <a:xfrm>
            <a:off x="6217920" y="3154679"/>
            <a:ext cx="2011680" cy="320040"/>
          </a:xfrm>
          <a:prstGeom prst="rect">
            <a:avLst/>
          </a:prstGeom>
          <a:noFill/>
        </p:spPr>
        <p:txBody>
          <a:bodyPr wrap="square" anchor="t" lIns="0" rIns="0" tIns="0" bIns="0">
            <a:spAutoFit/>
          </a:bodyPr>
          <a:lstStyle/>
          <a:p>
            <a:pPr algn="l">
              <a:spcAft>
                <a:spcPts val="400"/>
              </a:spcAft>
            </a:pPr>
            <a:r>
              <a:rPr sz="1200" b="0">
                <a:solidFill>
                  <a:srgbClr val="5A5A5A"/>
                </a:solidFill>
              </a:rPr>
              <a:t>+ Parquet</a:t>
            </a:r>
          </a:p>
        </p:txBody>
      </p:sp>
      <p:sp>
        <p:nvSpPr>
          <p:cNvPr id="15" name="Rounded Rectangle 14"/>
          <p:cNvSpPr/>
          <p:nvPr/>
        </p:nvSpPr>
        <p:spPr>
          <a:xfrm>
            <a:off x="502920" y="3886200"/>
            <a:ext cx="2468880" cy="1737360"/>
          </a:xfrm>
          <a:prstGeom prst="roundRect">
            <a:avLst>
              <a:gd name="adj" fmla="val 6000"/>
            </a:avLst>
          </a:prstGeom>
          <a:solidFill>
            <a:srgbClr val="FFFFFF"/>
          </a:solidFill>
          <a:ln w="12700">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31520" y="4069080"/>
            <a:ext cx="2011680" cy="640080"/>
          </a:xfrm>
          <a:prstGeom prst="rect">
            <a:avLst/>
          </a:prstGeom>
          <a:noFill/>
        </p:spPr>
        <p:txBody>
          <a:bodyPr wrap="square" anchor="t" lIns="0" rIns="0" tIns="0" bIns="0">
            <a:spAutoFit/>
          </a:bodyPr>
          <a:lstStyle/>
          <a:p>
            <a:pPr algn="l">
              <a:spcAft>
                <a:spcPts val="400"/>
              </a:spcAft>
            </a:pPr>
            <a:r>
              <a:rPr sz="3000" b="0">
                <a:solidFill>
                  <a:srgbClr val="6997AF"/>
                </a:solidFill>
              </a:rPr>
              <a:t>04</a:t>
            </a:r>
          </a:p>
        </p:txBody>
      </p:sp>
      <p:sp>
        <p:nvSpPr>
          <p:cNvPr id="17" name="TextBox 16"/>
          <p:cNvSpPr txBox="1"/>
          <p:nvPr/>
        </p:nvSpPr>
        <p:spPr>
          <a:xfrm>
            <a:off x="731520" y="4754880"/>
            <a:ext cx="2011680" cy="411480"/>
          </a:xfrm>
          <a:prstGeom prst="rect">
            <a:avLst/>
          </a:prstGeom>
          <a:noFill/>
        </p:spPr>
        <p:txBody>
          <a:bodyPr wrap="square" anchor="t" lIns="0" rIns="0" tIns="0" bIns="0">
            <a:spAutoFit/>
          </a:bodyPr>
          <a:lstStyle/>
          <a:p>
            <a:pPr algn="l">
              <a:spcAft>
                <a:spcPts val="400"/>
              </a:spcAft>
            </a:pPr>
            <a:r>
              <a:rPr sz="1700" b="1">
                <a:solidFill>
                  <a:srgbClr val="1F1F1F"/>
                </a:solidFill>
              </a:rPr>
              <a:t>Python</a:t>
            </a:r>
          </a:p>
        </p:txBody>
      </p:sp>
      <p:sp>
        <p:nvSpPr>
          <p:cNvPr id="18" name="TextBox 17"/>
          <p:cNvSpPr txBox="1"/>
          <p:nvPr/>
        </p:nvSpPr>
        <p:spPr>
          <a:xfrm>
            <a:off x="731520" y="5166360"/>
            <a:ext cx="2011680" cy="320040"/>
          </a:xfrm>
          <a:prstGeom prst="rect">
            <a:avLst/>
          </a:prstGeom>
          <a:noFill/>
        </p:spPr>
        <p:txBody>
          <a:bodyPr wrap="square" anchor="t" lIns="0" rIns="0" tIns="0" bIns="0">
            <a:spAutoFit/>
          </a:bodyPr>
          <a:lstStyle/>
          <a:p>
            <a:pPr algn="l">
              <a:spcAft>
                <a:spcPts val="400"/>
              </a:spcAft>
            </a:pPr>
            <a:r>
              <a:rPr sz="1200" b="0">
                <a:solidFill>
                  <a:srgbClr val="5A5A5A"/>
                </a:solidFill>
              </a:rPr>
              <a:t>pandas · matplotlib</a:t>
            </a:r>
          </a:p>
        </p:txBody>
      </p:sp>
      <p:sp>
        <p:nvSpPr>
          <p:cNvPr id="19" name="Rounded Rectangle 18"/>
          <p:cNvSpPr/>
          <p:nvPr/>
        </p:nvSpPr>
        <p:spPr>
          <a:xfrm>
            <a:off x="3246120" y="3886200"/>
            <a:ext cx="2468880" cy="1737360"/>
          </a:xfrm>
          <a:prstGeom prst="roundRect">
            <a:avLst>
              <a:gd name="adj" fmla="val 6000"/>
            </a:avLst>
          </a:prstGeom>
          <a:solidFill>
            <a:srgbClr val="FFFFFF"/>
          </a:solidFill>
          <a:ln w="12700">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3474720" y="4069080"/>
            <a:ext cx="2011680" cy="640080"/>
          </a:xfrm>
          <a:prstGeom prst="rect">
            <a:avLst/>
          </a:prstGeom>
          <a:noFill/>
        </p:spPr>
        <p:txBody>
          <a:bodyPr wrap="square" anchor="t" lIns="0" rIns="0" tIns="0" bIns="0">
            <a:spAutoFit/>
          </a:bodyPr>
          <a:lstStyle/>
          <a:p>
            <a:pPr algn="l">
              <a:spcAft>
                <a:spcPts val="400"/>
              </a:spcAft>
            </a:pPr>
            <a:r>
              <a:rPr sz="3000" b="0">
                <a:solidFill>
                  <a:srgbClr val="6997AF"/>
                </a:solidFill>
              </a:rPr>
              <a:t>05</a:t>
            </a:r>
          </a:p>
        </p:txBody>
      </p:sp>
      <p:sp>
        <p:nvSpPr>
          <p:cNvPr id="21" name="TextBox 20"/>
          <p:cNvSpPr txBox="1"/>
          <p:nvPr/>
        </p:nvSpPr>
        <p:spPr>
          <a:xfrm>
            <a:off x="3474720" y="4754880"/>
            <a:ext cx="2011680" cy="411480"/>
          </a:xfrm>
          <a:prstGeom prst="rect">
            <a:avLst/>
          </a:prstGeom>
          <a:noFill/>
        </p:spPr>
        <p:txBody>
          <a:bodyPr wrap="square" anchor="t" lIns="0" rIns="0" tIns="0" bIns="0">
            <a:spAutoFit/>
          </a:bodyPr>
          <a:lstStyle/>
          <a:p>
            <a:pPr algn="l">
              <a:spcAft>
                <a:spcPts val="400"/>
              </a:spcAft>
            </a:pPr>
            <a:r>
              <a:rPr sz="1700" b="1">
                <a:solidFill>
                  <a:srgbClr val="1F1F1F"/>
                </a:solidFill>
              </a:rPr>
              <a:t>Google Colab</a:t>
            </a:r>
          </a:p>
        </p:txBody>
      </p:sp>
      <p:sp>
        <p:nvSpPr>
          <p:cNvPr id="22" name="TextBox 21"/>
          <p:cNvSpPr txBox="1"/>
          <p:nvPr/>
        </p:nvSpPr>
        <p:spPr>
          <a:xfrm>
            <a:off x="3474720" y="5166360"/>
            <a:ext cx="2011680" cy="320040"/>
          </a:xfrm>
          <a:prstGeom prst="rect">
            <a:avLst/>
          </a:prstGeom>
          <a:noFill/>
        </p:spPr>
        <p:txBody>
          <a:bodyPr wrap="square" anchor="t" lIns="0" rIns="0" tIns="0" bIns="0">
            <a:spAutoFit/>
          </a:bodyPr>
          <a:lstStyle/>
          <a:p>
            <a:pPr algn="l">
              <a:spcAft>
                <a:spcPts val="400"/>
              </a:spcAft>
            </a:pPr>
            <a:r>
              <a:rPr sz="1200" b="0">
                <a:solidFill>
                  <a:srgbClr val="5A5A5A"/>
                </a:solidFill>
              </a:rPr>
              <a:t>2 vCPU · ~12 GB</a:t>
            </a:r>
          </a:p>
        </p:txBody>
      </p:sp>
      <p:sp>
        <p:nvSpPr>
          <p:cNvPr id="23" name="Rounded Rectangle 22"/>
          <p:cNvSpPr/>
          <p:nvPr/>
        </p:nvSpPr>
        <p:spPr>
          <a:xfrm>
            <a:off x="5989320" y="3886200"/>
            <a:ext cx="2468880" cy="1737360"/>
          </a:xfrm>
          <a:prstGeom prst="roundRect">
            <a:avLst>
              <a:gd name="adj" fmla="val 6000"/>
            </a:avLst>
          </a:prstGeom>
          <a:solidFill>
            <a:srgbClr val="FFFFFF"/>
          </a:solidFill>
          <a:ln w="12700">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217920" y="4069080"/>
            <a:ext cx="2011680" cy="640080"/>
          </a:xfrm>
          <a:prstGeom prst="rect">
            <a:avLst/>
          </a:prstGeom>
          <a:noFill/>
        </p:spPr>
        <p:txBody>
          <a:bodyPr wrap="square" anchor="t" lIns="0" rIns="0" tIns="0" bIns="0">
            <a:spAutoFit/>
          </a:bodyPr>
          <a:lstStyle/>
          <a:p>
            <a:pPr algn="l">
              <a:spcAft>
                <a:spcPts val="400"/>
              </a:spcAft>
            </a:pPr>
            <a:r>
              <a:rPr sz="3000" b="0">
                <a:solidFill>
                  <a:srgbClr val="6997AF"/>
                </a:solidFill>
              </a:rPr>
              <a:t>06</a:t>
            </a:r>
          </a:p>
        </p:txBody>
      </p:sp>
      <p:sp>
        <p:nvSpPr>
          <p:cNvPr id="25" name="TextBox 24"/>
          <p:cNvSpPr txBox="1"/>
          <p:nvPr/>
        </p:nvSpPr>
        <p:spPr>
          <a:xfrm>
            <a:off x="6217920" y="4754880"/>
            <a:ext cx="2011680" cy="411480"/>
          </a:xfrm>
          <a:prstGeom prst="rect">
            <a:avLst/>
          </a:prstGeom>
          <a:noFill/>
        </p:spPr>
        <p:txBody>
          <a:bodyPr wrap="square" anchor="t" lIns="0" rIns="0" tIns="0" bIns="0">
            <a:spAutoFit/>
          </a:bodyPr>
          <a:lstStyle/>
          <a:p>
            <a:pPr algn="l">
              <a:spcAft>
                <a:spcPts val="400"/>
              </a:spcAft>
            </a:pPr>
            <a:r>
              <a:rPr sz="1700" b="1">
                <a:solidFill>
                  <a:srgbClr val="1F1F1F"/>
                </a:solidFill>
              </a:rPr>
              <a:t>Google Drive</a:t>
            </a:r>
          </a:p>
        </p:txBody>
      </p:sp>
      <p:sp>
        <p:nvSpPr>
          <p:cNvPr id="26" name="TextBox 25"/>
          <p:cNvSpPr txBox="1"/>
          <p:nvPr/>
        </p:nvSpPr>
        <p:spPr>
          <a:xfrm>
            <a:off x="6217920" y="5166360"/>
            <a:ext cx="2011680" cy="320040"/>
          </a:xfrm>
          <a:prstGeom prst="rect">
            <a:avLst/>
          </a:prstGeom>
          <a:noFill/>
        </p:spPr>
        <p:txBody>
          <a:bodyPr wrap="square" anchor="t" lIns="0" rIns="0" tIns="0" bIns="0">
            <a:spAutoFit/>
          </a:bodyPr>
          <a:lstStyle/>
          <a:p>
            <a:pPr algn="l">
              <a:spcAft>
                <a:spcPts val="400"/>
              </a:spcAft>
            </a:pPr>
            <a:r>
              <a:rPr sz="1200" b="0">
                <a:solidFill>
                  <a:srgbClr val="5A5A5A"/>
                </a:solidFill>
              </a:rPr>
              <a:t>data + checkpoints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CLEANING AND LEAKAGE</a:t>
            </a:r>
          </a:p>
        </p:txBody>
      </p:sp>
      <p:graphicFrame>
        <p:nvGraphicFramePr>
          <p:cNvPr id="3" name="Chart 2"/>
          <p:cNvGraphicFramePr>
            <a:graphicFrameLocks noGrp="1"/>
          </p:cNvGraphicFramePr>
          <p:nvPr/>
        </p:nvGraphicFramePr>
        <p:xfrm>
          <a:off x="365760" y="1600200"/>
          <a:ext cx="4114800" cy="4297680"/>
        </p:xfrm>
        <a:graphic>
          <a:graphicData uri="http://schemas.openxmlformats.org/drawingml/2006/chart">
            <c:chart xmlns:c="http://schemas.openxmlformats.org/drawingml/2006/chart" r:id="rId2"/>
          </a:graphicData>
        </a:graphic>
      </p:graphicFrame>
      <p:sp>
        <p:nvSpPr>
          <p:cNvPr id="4" name="Rounded Rectangle 3"/>
          <p:cNvSpPr/>
          <p:nvPr/>
        </p:nvSpPr>
        <p:spPr>
          <a:xfrm>
            <a:off x="4709160" y="1600200"/>
            <a:ext cx="3931920" cy="4297680"/>
          </a:xfrm>
          <a:prstGeom prst="roundRect">
            <a:avLst>
              <a:gd name="adj" fmla="val 8000"/>
            </a:avLst>
          </a:prstGeom>
          <a:solidFill>
            <a:srgbClr val="F4EF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937760" y="1737360"/>
            <a:ext cx="3566160" cy="365760"/>
          </a:xfrm>
          <a:prstGeom prst="rect">
            <a:avLst/>
          </a:prstGeom>
          <a:noFill/>
        </p:spPr>
        <p:txBody>
          <a:bodyPr wrap="square" anchor="t" lIns="0" rIns="0" tIns="0" bIns="0">
            <a:spAutoFit/>
          </a:bodyPr>
          <a:lstStyle/>
          <a:p>
            <a:pPr algn="l">
              <a:spcAft>
                <a:spcPts val="400"/>
              </a:spcAft>
            </a:pPr>
            <a:r>
              <a:rPr sz="1800" b="1">
                <a:solidFill>
                  <a:srgbClr val="621360"/>
                </a:solidFill>
              </a:rPr>
              <a:t>Leakage guard</a:t>
            </a:r>
          </a:p>
        </p:txBody>
      </p:sp>
      <p:sp>
        <p:nvSpPr>
          <p:cNvPr id="6" name="TextBox 5"/>
          <p:cNvSpPr txBox="1"/>
          <p:nvPr/>
        </p:nvSpPr>
        <p:spPr>
          <a:xfrm>
            <a:off x="4937760" y="2240280"/>
            <a:ext cx="3520440" cy="3566160"/>
          </a:xfrm>
          <a:prstGeom prst="rect">
            <a:avLst/>
          </a:prstGeom>
          <a:noFill/>
        </p:spPr>
        <p:txBody>
          <a:bodyPr wrap="square" anchor="t" lIns="0" rIns="0" tIns="0" bIns="0">
            <a:spAutoFit/>
          </a:bodyPr>
          <a:lstStyle/>
          <a:p>
            <a:pPr algn="l" marL="228600" indent="-182880">
              <a:spcAft>
                <a:spcPts val="800"/>
              </a:spcAft>
              <a:buChar char="•"/>
            </a:pPr>
            <a:r>
              <a:rPr sz="1300" b="0">
                <a:solidFill>
                  <a:srgbClr val="1F1F1F"/>
                </a:solidFill>
              </a:rPr>
              <a:t>Allow-list at ingestion: post-flight columns are never loaded</a:t>
            </a:r>
          </a:p>
          <a:p>
            <a:pPr algn="l" marL="228600" indent="-182880">
              <a:spcAft>
                <a:spcPts val="800"/>
              </a:spcAft>
              <a:buChar char="•"/>
            </a:pPr>
            <a:r>
              <a:rPr sz="1300" b="0">
                <a:solidFill>
                  <a:srgbClr val="1F1F1F"/>
                </a:solidFill>
              </a:rPr>
              <a:t>Also excluded: DEP_DELAY, DEP_TIME, TAXI_OUT, DEP_DEL15</a:t>
            </a:r>
          </a:p>
          <a:p>
            <a:pPr algn="l" marL="228600" indent="-182880">
              <a:spcAft>
                <a:spcPts val="800"/>
              </a:spcAft>
              <a:buChar char="•"/>
            </a:pPr>
            <a:r>
              <a:rPr sz="1300" b="0">
                <a:solidFill>
                  <a:srgbClr val="1F1F1F"/>
                </a:solidFill>
              </a:rPr>
              <a:t>ARR_DELAY only builds the label, then it is dropped</a:t>
            </a:r>
          </a:p>
          <a:p>
            <a:pPr algn="l" marL="228600" indent="-182880">
              <a:spcAft>
                <a:spcPts val="800"/>
              </a:spcAft>
              <a:buChar char="•"/>
            </a:pPr>
            <a:r>
              <a:rPr sz="1300" b="0">
                <a:solidFill>
                  <a:srgbClr val="1F1F1F"/>
                </a:solidFill>
              </a:rPr>
              <a:t>Schedule counts use the full schedule, before cancelled flights are removed</a:t>
            </a:r>
          </a:p>
          <a:p>
            <a:pPr algn="l" marL="228600" indent="-182880">
              <a:spcAft>
                <a:spcPts val="800"/>
              </a:spcAft>
              <a:buChar char="•"/>
            </a:pPr>
            <a:r>
              <a:rPr sz="1300" b="0">
                <a:solidFill>
                  <a:srgbClr val="1F1F1F"/>
                </a:solidFill>
              </a:rPr>
              <a:t>An assertion stops the run if a forbidden column reaches the features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FEATURE ENGINEERING</a:t>
            </a:r>
          </a:p>
        </p:txBody>
      </p:sp>
      <p:sp>
        <p:nvSpPr>
          <p:cNvPr id="3" name="Rounded Rectangle 2"/>
          <p:cNvSpPr/>
          <p:nvPr/>
        </p:nvSpPr>
        <p:spPr>
          <a:xfrm>
            <a:off x="365760" y="1600200"/>
            <a:ext cx="4023360" cy="1371600"/>
          </a:xfrm>
          <a:prstGeom prst="roundRect">
            <a:avLst>
              <a:gd name="adj" fmla="val 8000"/>
            </a:avLst>
          </a:prstGeom>
          <a:solidFill>
            <a:srgbClr val="F4EF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548640" y="1783080"/>
            <a:ext cx="164592" cy="1005840"/>
          </a:xfrm>
          <a:prstGeom prst="roundRect">
            <a:avLst>
              <a:gd name="adj" fmla="val 12000"/>
            </a:avLst>
          </a:prstGeom>
          <a:solidFill>
            <a:srgbClr val="00A0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FFFFFF"/>
                </a:solidFill>
              </a:rPr>
              <a:t/>
            </a:r>
          </a:p>
        </p:txBody>
      </p:sp>
      <p:sp>
        <p:nvSpPr>
          <p:cNvPr id="5" name="TextBox 4"/>
          <p:cNvSpPr txBox="1"/>
          <p:nvPr/>
        </p:nvSpPr>
        <p:spPr>
          <a:xfrm>
            <a:off x="868680" y="1737360"/>
            <a:ext cx="3383280" cy="365760"/>
          </a:xfrm>
          <a:prstGeom prst="rect">
            <a:avLst/>
          </a:prstGeom>
          <a:noFill/>
        </p:spPr>
        <p:txBody>
          <a:bodyPr wrap="square" anchor="t" lIns="0" rIns="0" tIns="0" bIns="0">
            <a:spAutoFit/>
          </a:bodyPr>
          <a:lstStyle/>
          <a:p>
            <a:pPr algn="l">
              <a:spcAft>
                <a:spcPts val="400"/>
              </a:spcAft>
            </a:pPr>
            <a:r>
              <a:rPr sz="1600" b="1">
                <a:solidFill>
                  <a:srgbClr val="1F1F1F"/>
                </a:solidFill>
              </a:rPr>
              <a:t>Calendar and time</a:t>
            </a:r>
          </a:p>
        </p:txBody>
      </p:sp>
      <p:sp>
        <p:nvSpPr>
          <p:cNvPr id="6" name="TextBox 5"/>
          <p:cNvSpPr txBox="1"/>
          <p:nvPr/>
        </p:nvSpPr>
        <p:spPr>
          <a:xfrm>
            <a:off x="868680" y="2130552"/>
            <a:ext cx="3383280" cy="777240"/>
          </a:xfrm>
          <a:prstGeom prst="rect">
            <a:avLst/>
          </a:prstGeom>
          <a:noFill/>
        </p:spPr>
        <p:txBody>
          <a:bodyPr wrap="square" anchor="t" lIns="0" rIns="0" tIns="0" bIns="0">
            <a:spAutoFit/>
          </a:bodyPr>
          <a:lstStyle/>
          <a:p>
            <a:pPr algn="l">
              <a:spcAft>
                <a:spcPts val="400"/>
              </a:spcAft>
            </a:pPr>
            <a:r>
              <a:rPr sz="1200" b="0">
                <a:solidFill>
                  <a:srgbClr val="5A5A5A"/>
                </a:solidFill>
              </a:rPr>
              <a:t>Month, day, weekday, departure/arrival hour (with sin/cos), days to the nearest federal holiday</a:t>
            </a:r>
          </a:p>
        </p:txBody>
      </p:sp>
      <p:sp>
        <p:nvSpPr>
          <p:cNvPr id="7" name="Rounded Rectangle 6"/>
          <p:cNvSpPr/>
          <p:nvPr/>
        </p:nvSpPr>
        <p:spPr>
          <a:xfrm>
            <a:off x="4572000" y="1600200"/>
            <a:ext cx="4023360" cy="1371600"/>
          </a:xfrm>
          <a:prstGeom prst="roundRect">
            <a:avLst>
              <a:gd name="adj" fmla="val 8000"/>
            </a:avLst>
          </a:prstGeom>
          <a:solidFill>
            <a:srgbClr val="F4EF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4754880" y="1783080"/>
            <a:ext cx="164592" cy="1005840"/>
          </a:xfrm>
          <a:prstGeom prst="roundRect">
            <a:avLst>
              <a:gd name="adj" fmla="val 12000"/>
            </a:avLst>
          </a:prstGeom>
          <a:solidFill>
            <a:srgbClr val="00A0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FFFFFF"/>
                </a:solidFill>
              </a:rPr>
              <a:t/>
            </a:r>
          </a:p>
        </p:txBody>
      </p:sp>
      <p:sp>
        <p:nvSpPr>
          <p:cNvPr id="9" name="TextBox 8"/>
          <p:cNvSpPr txBox="1"/>
          <p:nvPr/>
        </p:nvSpPr>
        <p:spPr>
          <a:xfrm>
            <a:off x="5074920" y="1737360"/>
            <a:ext cx="3383280" cy="365760"/>
          </a:xfrm>
          <a:prstGeom prst="rect">
            <a:avLst/>
          </a:prstGeom>
          <a:noFill/>
        </p:spPr>
        <p:txBody>
          <a:bodyPr wrap="square" anchor="t" lIns="0" rIns="0" tIns="0" bIns="0">
            <a:spAutoFit/>
          </a:bodyPr>
          <a:lstStyle/>
          <a:p>
            <a:pPr algn="l">
              <a:spcAft>
                <a:spcPts val="400"/>
              </a:spcAft>
            </a:pPr>
            <a:r>
              <a:rPr sz="1600" b="1">
                <a:solidFill>
                  <a:srgbClr val="1F1F1F"/>
                </a:solidFill>
              </a:rPr>
              <a:t>Flight and airline</a:t>
            </a:r>
          </a:p>
        </p:txBody>
      </p:sp>
      <p:sp>
        <p:nvSpPr>
          <p:cNvPr id="10" name="TextBox 9"/>
          <p:cNvSpPr txBox="1"/>
          <p:nvPr/>
        </p:nvSpPr>
        <p:spPr>
          <a:xfrm>
            <a:off x="5074920" y="2130552"/>
            <a:ext cx="3383280" cy="777240"/>
          </a:xfrm>
          <a:prstGeom prst="rect">
            <a:avLst/>
          </a:prstGeom>
          <a:noFill/>
        </p:spPr>
        <p:txBody>
          <a:bodyPr wrap="square" anchor="t" lIns="0" rIns="0" tIns="0" bIns="0">
            <a:spAutoFit/>
          </a:bodyPr>
          <a:lstStyle/>
          <a:p>
            <a:pPr algn="l">
              <a:spcAft>
                <a:spcPts val="400"/>
              </a:spcAft>
            </a:pPr>
            <a:r>
              <a:rPr sz="1200" b="0">
                <a:solidFill>
                  <a:srgbClr val="5A5A5A"/>
                </a:solidFill>
              </a:rPr>
              <a:t>Scheduled duration, distance, airline (one-hot)</a:t>
            </a:r>
          </a:p>
        </p:txBody>
      </p:sp>
      <p:sp>
        <p:nvSpPr>
          <p:cNvPr id="11" name="Rounded Rectangle 10"/>
          <p:cNvSpPr/>
          <p:nvPr/>
        </p:nvSpPr>
        <p:spPr>
          <a:xfrm>
            <a:off x="365760" y="3154680"/>
            <a:ext cx="4023360" cy="1371600"/>
          </a:xfrm>
          <a:prstGeom prst="roundRect">
            <a:avLst>
              <a:gd name="adj" fmla="val 8000"/>
            </a:avLst>
          </a:prstGeom>
          <a:solidFill>
            <a:srgbClr val="F4EF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548640" y="3337560"/>
            <a:ext cx="164592" cy="1005840"/>
          </a:xfrm>
          <a:prstGeom prst="roundRect">
            <a:avLst>
              <a:gd name="adj" fmla="val 12000"/>
            </a:avLst>
          </a:prstGeom>
          <a:solidFill>
            <a:srgbClr val="00A0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FFFFFF"/>
                </a:solidFill>
              </a:rPr>
              <a:t/>
            </a:r>
          </a:p>
        </p:txBody>
      </p:sp>
      <p:sp>
        <p:nvSpPr>
          <p:cNvPr id="13" name="TextBox 12"/>
          <p:cNvSpPr txBox="1"/>
          <p:nvPr/>
        </p:nvSpPr>
        <p:spPr>
          <a:xfrm>
            <a:off x="868680" y="3291840"/>
            <a:ext cx="3383280" cy="365760"/>
          </a:xfrm>
          <a:prstGeom prst="rect">
            <a:avLst/>
          </a:prstGeom>
          <a:noFill/>
        </p:spPr>
        <p:txBody>
          <a:bodyPr wrap="square" anchor="t" lIns="0" rIns="0" tIns="0" bIns="0">
            <a:spAutoFit/>
          </a:bodyPr>
          <a:lstStyle/>
          <a:p>
            <a:pPr algn="l">
              <a:spcAft>
                <a:spcPts val="400"/>
              </a:spcAft>
            </a:pPr>
            <a:r>
              <a:rPr sz="1600" b="1">
                <a:solidFill>
                  <a:srgbClr val="1F1F1F"/>
                </a:solidFill>
              </a:rPr>
              <a:t>Airport congestion</a:t>
            </a:r>
          </a:p>
        </p:txBody>
      </p:sp>
      <p:sp>
        <p:nvSpPr>
          <p:cNvPr id="14" name="TextBox 13"/>
          <p:cNvSpPr txBox="1"/>
          <p:nvPr/>
        </p:nvSpPr>
        <p:spPr>
          <a:xfrm>
            <a:off x="868680" y="3685032"/>
            <a:ext cx="3383280" cy="777240"/>
          </a:xfrm>
          <a:prstGeom prst="rect">
            <a:avLst/>
          </a:prstGeom>
          <a:noFill/>
        </p:spPr>
        <p:txBody>
          <a:bodyPr wrap="square" anchor="t" lIns="0" rIns="0" tIns="0" bIns="0">
            <a:spAutoFit/>
          </a:bodyPr>
          <a:lstStyle/>
          <a:p>
            <a:pPr algn="l">
              <a:spcAft>
                <a:spcPts val="400"/>
              </a:spcAft>
            </a:pPr>
            <a:r>
              <a:rPr sz="1200" b="0">
                <a:solidFill>
                  <a:srgbClr val="5A5A5A"/>
                </a:solidFill>
              </a:rPr>
              <a:t>Scheduled departures/arrivals at the airport that hour; daily airport and carrier volume</a:t>
            </a:r>
          </a:p>
        </p:txBody>
      </p:sp>
      <p:sp>
        <p:nvSpPr>
          <p:cNvPr id="15" name="Rounded Rectangle 14"/>
          <p:cNvSpPr/>
          <p:nvPr/>
        </p:nvSpPr>
        <p:spPr>
          <a:xfrm>
            <a:off x="4572000" y="3154680"/>
            <a:ext cx="4023360" cy="1371600"/>
          </a:xfrm>
          <a:prstGeom prst="roundRect">
            <a:avLst>
              <a:gd name="adj" fmla="val 8000"/>
            </a:avLst>
          </a:prstGeom>
          <a:solidFill>
            <a:srgbClr val="F4EF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754880" y="3337560"/>
            <a:ext cx="164592" cy="1005840"/>
          </a:xfrm>
          <a:prstGeom prst="roundRect">
            <a:avLst>
              <a:gd name="adj" fmla="val 12000"/>
            </a:avLst>
          </a:prstGeom>
          <a:solidFill>
            <a:srgbClr val="6213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FFFFFF"/>
                </a:solidFill>
              </a:rPr>
              <a:t/>
            </a:r>
          </a:p>
        </p:txBody>
      </p:sp>
      <p:sp>
        <p:nvSpPr>
          <p:cNvPr id="17" name="TextBox 16"/>
          <p:cNvSpPr txBox="1"/>
          <p:nvPr/>
        </p:nvSpPr>
        <p:spPr>
          <a:xfrm>
            <a:off x="5074920" y="3291840"/>
            <a:ext cx="3383280" cy="365760"/>
          </a:xfrm>
          <a:prstGeom prst="rect">
            <a:avLst/>
          </a:prstGeom>
          <a:noFill/>
        </p:spPr>
        <p:txBody>
          <a:bodyPr wrap="square" anchor="t" lIns="0" rIns="0" tIns="0" bIns="0">
            <a:spAutoFit/>
          </a:bodyPr>
          <a:lstStyle/>
          <a:p>
            <a:pPr algn="l">
              <a:spcAft>
                <a:spcPts val="400"/>
              </a:spcAft>
            </a:pPr>
            <a:r>
              <a:rPr sz="1600" b="1">
                <a:solidFill>
                  <a:srgbClr val="1F1F1F"/>
                </a:solidFill>
              </a:rPr>
              <a:t>Aircraft rotation</a:t>
            </a:r>
          </a:p>
        </p:txBody>
      </p:sp>
      <p:sp>
        <p:nvSpPr>
          <p:cNvPr id="18" name="TextBox 17"/>
          <p:cNvSpPr txBox="1"/>
          <p:nvPr/>
        </p:nvSpPr>
        <p:spPr>
          <a:xfrm>
            <a:off x="5074920" y="3685032"/>
            <a:ext cx="3383280" cy="777240"/>
          </a:xfrm>
          <a:prstGeom prst="rect">
            <a:avLst/>
          </a:prstGeom>
          <a:noFill/>
        </p:spPr>
        <p:txBody>
          <a:bodyPr wrap="square" anchor="t" lIns="0" rIns="0" tIns="0" bIns="0">
            <a:spAutoFit/>
          </a:bodyPr>
          <a:lstStyle/>
          <a:p>
            <a:pPr algn="l">
              <a:spcAft>
                <a:spcPts val="400"/>
              </a:spcAft>
            </a:pPr>
            <a:r>
              <a:rPr sz="1200" b="0">
                <a:solidFill>
                  <a:srgbClr val="5A5A5A"/>
                </a:solidFill>
              </a:rPr>
              <a:t>Leg of the day for the tail number; scheduled turnaround since its last flight (window function)</a:t>
            </a:r>
          </a:p>
        </p:txBody>
      </p:sp>
      <p:sp>
        <p:nvSpPr>
          <p:cNvPr id="19" name="TextBox 18"/>
          <p:cNvSpPr txBox="1"/>
          <p:nvPr/>
        </p:nvSpPr>
        <p:spPr>
          <a:xfrm>
            <a:off x="365760" y="1325880"/>
            <a:ext cx="8275320" cy="274320"/>
          </a:xfrm>
          <a:prstGeom prst="rect">
            <a:avLst/>
          </a:prstGeom>
          <a:noFill/>
        </p:spPr>
        <p:txBody>
          <a:bodyPr wrap="square" anchor="t" lIns="0" rIns="0" tIns="0" bIns="0">
            <a:spAutoFit/>
          </a:bodyPr>
          <a:lstStyle/>
          <a:p>
            <a:pPr algn="l">
              <a:spcAft>
                <a:spcPts val="400"/>
              </a:spcAft>
            </a:pPr>
            <a:r>
              <a:rPr sz="1300" b="0">
                <a:solidFill>
                  <a:srgbClr val="5A5A5A"/>
                </a:solidFill>
              </a:rPr>
              <a:t>39 features, all known before departure</a:t>
            </a:r>
          </a:p>
        </p:txBody>
      </p:sp>
      <p:sp>
        <p:nvSpPr>
          <p:cNvPr id="20" name="Rounded Rectangle 19"/>
          <p:cNvSpPr/>
          <p:nvPr/>
        </p:nvSpPr>
        <p:spPr>
          <a:xfrm>
            <a:off x="365760" y="4846320"/>
            <a:ext cx="8275320" cy="1005840"/>
          </a:xfrm>
          <a:prstGeom prst="roundRect">
            <a:avLst>
              <a:gd name="adj" fmla="val 8000"/>
            </a:avLst>
          </a:prstGeom>
          <a:solidFill>
            <a:srgbClr val="3C0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0080" y="4846320"/>
            <a:ext cx="7726680" cy="1005840"/>
          </a:xfrm>
          <a:prstGeom prst="rect">
            <a:avLst/>
          </a:prstGeom>
          <a:noFill/>
        </p:spPr>
        <p:txBody>
          <a:bodyPr wrap="square" anchor="ctr" lIns="0" rIns="0" tIns="0" bIns="0">
            <a:spAutoFit/>
          </a:bodyPr>
          <a:lstStyle/>
          <a:p>
            <a:pPr algn="l">
              <a:spcAft>
                <a:spcPts val="400"/>
              </a:spcAft>
            </a:pPr>
            <a:r>
              <a:rPr sz="1300" b="1">
                <a:solidFill>
                  <a:srgbClr val="FFFFFF"/>
                </a:solidFill>
              </a:rPr>
              <a:t>High-cardinality categories → smoothed target encoding. </a:t>
            </a:r>
          </a:p>
          <a:p>
            <a:pPr algn="l">
              <a:spcAft>
                <a:spcPts val="400"/>
              </a:spcAft>
            </a:pPr>
            <a:r>
              <a:rPr sz="1300" b="0">
                <a:solidFill>
                  <a:srgbClr val="FFFFFF"/>
                </a:solidFill>
              </a:rPr>
              <a:t>Origin, destination, route, origin×hour and carrier×origin become their historical delay rate, fitted on the training split only.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TRAINING PIPELINE</a:t>
            </a:r>
          </a:p>
        </p:txBody>
      </p:sp>
      <p:sp>
        <p:nvSpPr>
          <p:cNvPr id="3" name="Rounded Rectangle 2"/>
          <p:cNvSpPr/>
          <p:nvPr/>
        </p:nvSpPr>
        <p:spPr>
          <a:xfrm>
            <a:off x="457200" y="1783080"/>
            <a:ext cx="1828800" cy="914400"/>
          </a:xfrm>
          <a:prstGeom prst="roundRect">
            <a:avLst>
              <a:gd name="adj" fmla="val 12000"/>
            </a:avLst>
          </a:prstGeom>
          <a:solidFill>
            <a:srgbClr val="00A0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FFFFFF"/>
                </a:solidFill>
              </a:rPr>
              <a:t>Split 70/10/20
train · valid · test</a:t>
            </a:r>
          </a:p>
        </p:txBody>
      </p:sp>
      <p:sp>
        <p:nvSpPr>
          <p:cNvPr id="4" name="Rounded Rectangle 3"/>
          <p:cNvSpPr/>
          <p:nvPr/>
        </p:nvSpPr>
        <p:spPr>
          <a:xfrm>
            <a:off x="2560320" y="1783080"/>
            <a:ext cx="1828800" cy="914400"/>
          </a:xfrm>
          <a:prstGeom prst="roundRect">
            <a:avLst>
              <a:gd name="adj" fmla="val 12000"/>
            </a:avLst>
          </a:prstGeom>
          <a:solidFill>
            <a:srgbClr val="00A0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FFFFFF"/>
                </a:solidFill>
              </a:rPr>
              <a:t>Target-encode
(train only)</a:t>
            </a:r>
          </a:p>
        </p:txBody>
      </p:sp>
      <p:sp>
        <p:nvSpPr>
          <p:cNvPr id="5" name="Rounded Rectangle 4"/>
          <p:cNvSpPr/>
          <p:nvPr/>
        </p:nvSpPr>
        <p:spPr>
          <a:xfrm>
            <a:off x="4663440" y="1783080"/>
            <a:ext cx="1828800" cy="914400"/>
          </a:xfrm>
          <a:prstGeom prst="roundRect">
            <a:avLst>
              <a:gd name="adj" fmla="val 12000"/>
            </a:avLst>
          </a:prstGeom>
          <a:solidFill>
            <a:srgbClr val="00A0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FFFFFF"/>
                </a:solidFill>
              </a:rPr>
              <a:t>Assemble +
standardise</a:t>
            </a:r>
          </a:p>
        </p:txBody>
      </p:sp>
      <p:sp>
        <p:nvSpPr>
          <p:cNvPr id="6" name="Rounded Rectangle 5"/>
          <p:cNvSpPr/>
          <p:nvPr/>
        </p:nvSpPr>
        <p:spPr>
          <a:xfrm>
            <a:off x="6766559" y="1783080"/>
            <a:ext cx="1828800" cy="914400"/>
          </a:xfrm>
          <a:prstGeom prst="roundRect">
            <a:avLst>
              <a:gd name="adj" fmla="val 12000"/>
            </a:avLst>
          </a:prstGeom>
          <a:solidFill>
            <a:srgbClr val="00A0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FFFFFF"/>
                </a:solidFill>
              </a:rPr>
              <a:t>Class weights
N / (2·N_class)</a:t>
            </a:r>
          </a:p>
        </p:txBody>
      </p:sp>
      <p:sp>
        <p:nvSpPr>
          <p:cNvPr id="7" name="Rounded Rectangle 6"/>
          <p:cNvSpPr/>
          <p:nvPr/>
        </p:nvSpPr>
        <p:spPr>
          <a:xfrm>
            <a:off x="6766559" y="3429000"/>
            <a:ext cx="1828800" cy="914400"/>
          </a:xfrm>
          <a:prstGeom prst="roundRect">
            <a:avLst>
              <a:gd name="adj" fmla="val 12000"/>
            </a:avLst>
          </a:prstGeom>
          <a:solidFill>
            <a:srgbClr val="6213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FFFFFF"/>
                </a:solidFill>
              </a:rPr>
              <a:t>3-fold CV
(PR-AUC)</a:t>
            </a:r>
          </a:p>
        </p:txBody>
      </p:sp>
      <p:sp>
        <p:nvSpPr>
          <p:cNvPr id="8" name="Rounded Rectangle 7"/>
          <p:cNvSpPr/>
          <p:nvPr/>
        </p:nvSpPr>
        <p:spPr>
          <a:xfrm>
            <a:off x="4663440" y="3429000"/>
            <a:ext cx="1828800" cy="914400"/>
          </a:xfrm>
          <a:prstGeom prst="roundRect">
            <a:avLst>
              <a:gd name="adj" fmla="val 12000"/>
            </a:avLst>
          </a:prstGeom>
          <a:solidFill>
            <a:srgbClr val="6213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FFFFFF"/>
                </a:solidFill>
              </a:rPr>
              <a:t>Train LR · RF · GBT
(Spark MLlib)</a:t>
            </a:r>
          </a:p>
        </p:txBody>
      </p:sp>
      <p:sp>
        <p:nvSpPr>
          <p:cNvPr id="9" name="Rounded Rectangle 8"/>
          <p:cNvSpPr/>
          <p:nvPr/>
        </p:nvSpPr>
        <p:spPr>
          <a:xfrm>
            <a:off x="2560320" y="3429000"/>
            <a:ext cx="1828800" cy="914400"/>
          </a:xfrm>
          <a:prstGeom prst="roundRect">
            <a:avLst>
              <a:gd name="adj" fmla="val 12000"/>
            </a:avLst>
          </a:prstGeom>
          <a:solidFill>
            <a:srgbClr val="6213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FFFFFF"/>
                </a:solidFill>
              </a:rPr>
              <a:t>Tune threshold
on validation</a:t>
            </a:r>
          </a:p>
        </p:txBody>
      </p:sp>
      <p:sp>
        <p:nvSpPr>
          <p:cNvPr id="10" name="Rounded Rectangle 9"/>
          <p:cNvSpPr/>
          <p:nvPr/>
        </p:nvSpPr>
        <p:spPr>
          <a:xfrm>
            <a:off x="457200" y="3429000"/>
            <a:ext cx="1828800" cy="914400"/>
          </a:xfrm>
          <a:prstGeom prst="roundRect">
            <a:avLst>
              <a:gd name="adj" fmla="val 12000"/>
            </a:avLst>
          </a:prstGeom>
          <a:solidFill>
            <a:srgbClr val="3C02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FFFFFF"/>
                </a:solidFill>
              </a:rPr>
              <a:t>Evaluate on test
+ temporal test</a:t>
            </a:r>
          </a:p>
        </p:txBody>
      </p:sp>
      <p:cxnSp>
        <p:nvCxnSpPr>
          <p:cNvPr id="11" name="Connector 10"/>
          <p:cNvCxnSpPr/>
          <p:nvPr/>
        </p:nvCxnSpPr>
        <p:spPr>
          <a:xfrm>
            <a:off x="2286000" y="2240280"/>
            <a:ext cx="274320" cy="0"/>
          </a:xfrm>
          <a:prstGeom prst="line">
            <a:avLst/>
          </a:prstGeom>
          <a:ln w="19050">
            <a:solidFill>
              <a:srgbClr val="5A5A5A"/>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389120" y="2240280"/>
            <a:ext cx="274320" cy="0"/>
          </a:xfrm>
          <a:prstGeom prst="line">
            <a:avLst/>
          </a:prstGeom>
          <a:ln w="19050">
            <a:solidFill>
              <a:srgbClr val="5A5A5A"/>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492240" y="2240280"/>
            <a:ext cx="274319" cy="0"/>
          </a:xfrm>
          <a:prstGeom prst="line">
            <a:avLst/>
          </a:prstGeom>
          <a:ln w="19050">
            <a:solidFill>
              <a:srgbClr val="5A5A5A"/>
            </a:solidFill>
            <a:tailEnd type="triangle"/>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680959" y="2697480"/>
            <a:ext cx="0" cy="731520"/>
          </a:xfrm>
          <a:prstGeom prst="line">
            <a:avLst/>
          </a:prstGeom>
          <a:ln w="19050">
            <a:solidFill>
              <a:srgbClr val="5A5A5A"/>
            </a:solidFill>
            <a:tailEnd type="triangle"/>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6492240" y="3886200"/>
            <a:ext cx="274319" cy="0"/>
          </a:xfrm>
          <a:prstGeom prst="line">
            <a:avLst/>
          </a:prstGeom>
          <a:ln w="19050">
            <a:solidFill>
              <a:srgbClr val="5A5A5A"/>
            </a:solidFill>
            <a:tailEnd type="triangle"/>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4389120" y="3886200"/>
            <a:ext cx="274320" cy="0"/>
          </a:xfrm>
          <a:prstGeom prst="line">
            <a:avLst/>
          </a:prstGeom>
          <a:ln w="19050">
            <a:solidFill>
              <a:srgbClr val="5A5A5A"/>
            </a:solidFill>
            <a:tailEnd type="triangle"/>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2286000" y="3886200"/>
            <a:ext cx="274320" cy="0"/>
          </a:xfrm>
          <a:prstGeom prst="line">
            <a:avLst/>
          </a:prstGeom>
          <a:ln w="19050">
            <a:solidFill>
              <a:srgbClr val="5A5A5A"/>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65760" y="4754880"/>
            <a:ext cx="8275320" cy="1280160"/>
          </a:xfrm>
          <a:prstGeom prst="rect">
            <a:avLst/>
          </a:prstGeom>
          <a:noFill/>
        </p:spPr>
        <p:txBody>
          <a:bodyPr wrap="square" anchor="t" lIns="0" rIns="0" tIns="0" bIns="0">
            <a:spAutoFit/>
          </a:bodyPr>
          <a:lstStyle/>
          <a:p>
            <a:pPr algn="l" marL="228600" indent="-182880">
              <a:spcAft>
                <a:spcPts val="800"/>
              </a:spcAft>
              <a:buChar char="•"/>
            </a:pPr>
            <a:r>
              <a:rPr sz="1300" b="1">
                <a:solidFill>
                  <a:srgbClr val="1F1F1F"/>
                </a:solidFill>
              </a:rPr>
              <a:t>Logistic Regression: </a:t>
            </a:r>
            <a:r>
              <a:rPr sz="1300" b="0">
                <a:solidFill>
                  <a:srgbClr val="1F1F1F"/>
                </a:solidFill>
              </a:rPr>
              <a:t>interpretable linear baseline.</a:t>
            </a:r>
          </a:p>
          <a:p>
            <a:pPr algn="l" marL="228600" indent="-182880">
              <a:spcAft>
                <a:spcPts val="800"/>
              </a:spcAft>
              <a:buChar char="•"/>
            </a:pPr>
            <a:r>
              <a:rPr sz="1300" b="1">
                <a:solidFill>
                  <a:srgbClr val="1F1F1F"/>
                </a:solidFill>
              </a:rPr>
              <a:t>Random Forest: </a:t>
            </a:r>
            <a:r>
              <a:rPr sz="1300" b="0">
                <a:solidFill>
                  <a:srgbClr val="1F1F1F"/>
                </a:solidFill>
              </a:rPr>
              <a:t>many independent trees, easy to parallelise.</a:t>
            </a:r>
          </a:p>
          <a:p>
            <a:pPr algn="l" marL="228600" indent="-182880">
              <a:spcAft>
                <a:spcPts val="800"/>
              </a:spcAft>
              <a:buChar char="•"/>
            </a:pPr>
            <a:r>
              <a:rPr sz="1300" b="1">
                <a:solidFill>
                  <a:srgbClr val="1F1F1F"/>
                </a:solidFill>
              </a:rPr>
              <a:t>Gradient-Boosted Trees: </a:t>
            </a:r>
            <a:r>
              <a:rPr sz="1300" b="0">
                <a:solidFill>
                  <a:srgbClr val="1F1F1F"/>
                </a:solidFill>
              </a:rPr>
              <a:t>trees added in sequence, each fixing the last; sequential rounds make it hardest to scale.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RESULTS ON THE TEST SET</a:t>
            </a:r>
          </a:p>
        </p:txBody>
      </p:sp>
      <p:graphicFrame>
        <p:nvGraphicFramePr>
          <p:cNvPr id="3" name="Chart 2"/>
          <p:cNvGraphicFramePr>
            <a:graphicFrameLocks noGrp="1"/>
          </p:cNvGraphicFramePr>
          <p:nvPr/>
        </p:nvGraphicFramePr>
        <p:xfrm>
          <a:off x="365760" y="1600200"/>
          <a:ext cx="4663440" cy="4297680"/>
        </p:xfrm>
        <a:graphic>
          <a:graphicData uri="http://schemas.openxmlformats.org/drawingml/2006/chart">
            <c:chart xmlns:c="http://schemas.openxmlformats.org/drawingml/2006/chart" r:id="rId2"/>
          </a:graphicData>
        </a:graphic>
      </p:graphicFrame>
      <p:graphicFrame>
        <p:nvGraphicFramePr>
          <p:cNvPr id="4" name="Table 3"/>
          <p:cNvGraphicFramePr>
            <a:graphicFrameLocks noGrp="1"/>
          </p:cNvGraphicFramePr>
          <p:nvPr/>
        </p:nvGraphicFramePr>
        <p:xfrm>
          <a:off x="5212080" y="1691640"/>
          <a:ext cx="3429000" cy="1920240"/>
        </p:xfrm>
        <a:graphic>
          <a:graphicData uri="http://schemas.openxmlformats.org/drawingml/2006/table">
            <a:tbl>
              <a:tblPr firstRow="1" bandRow="1">
                <a:tableStyleId>{5C22544A-7EE6-4342-B048-85BDC9FD1C3A}</a:tableStyleId>
              </a:tblPr>
              <a:tblGrid>
                <a:gridCol w="1325880"/>
                <a:gridCol w="566928"/>
                <a:gridCol w="475488"/>
                <a:gridCol w="475488"/>
                <a:gridCol w="585216"/>
              </a:tblGrid>
              <a:tr h="384048">
                <a:tc>
                  <a:txBody>
                    <a:bodyPr/>
                    <a:lstStyle/>
                    <a:p>
                      <a:pPr algn="l"/>
                      <a:r>
                        <a:rPr sz="1100" b="1">
                          <a:solidFill>
                            <a:srgbClr val="FFFFFF"/>
                          </a:solidFill>
                        </a:rPr>
                        <a:t/>
                      </a:r>
                    </a:p>
                  </a:txBody>
                  <a:tcPr marL="45720" marR="45720">
                    <a:solidFill>
                      <a:srgbClr val="621360"/>
                    </a:solidFill>
                  </a:tcPr>
                </a:tc>
                <a:tc>
                  <a:txBody>
                    <a:bodyPr/>
                    <a:lstStyle/>
                    <a:p>
                      <a:pPr algn="r"/>
                      <a:r>
                        <a:rPr sz="1100" b="1">
                          <a:solidFill>
                            <a:srgbClr val="FFFFFF"/>
                          </a:solidFill>
                        </a:rPr>
                        <a:t>Acc.</a:t>
                      </a:r>
                    </a:p>
                  </a:txBody>
                  <a:tcPr marL="45720" marR="45720">
                    <a:solidFill>
                      <a:srgbClr val="621360"/>
                    </a:solidFill>
                  </a:tcPr>
                </a:tc>
                <a:tc>
                  <a:txBody>
                    <a:bodyPr/>
                    <a:lstStyle/>
                    <a:p>
                      <a:pPr algn="r"/>
                      <a:r>
                        <a:rPr sz="1100" b="1">
                          <a:solidFill>
                            <a:srgbClr val="FFFFFF"/>
                          </a:solidFill>
                        </a:rPr>
                        <a:t>F1</a:t>
                      </a:r>
                    </a:p>
                  </a:txBody>
                  <a:tcPr marL="45720" marR="45720">
                    <a:solidFill>
                      <a:srgbClr val="621360"/>
                    </a:solidFill>
                  </a:tcPr>
                </a:tc>
                <a:tc>
                  <a:txBody>
                    <a:bodyPr/>
                    <a:lstStyle/>
                    <a:p>
                      <a:pPr algn="r"/>
                      <a:r>
                        <a:rPr sz="1100" b="1">
                          <a:solidFill>
                            <a:srgbClr val="FFFFFF"/>
                          </a:solidFill>
                        </a:rPr>
                        <a:t>AUC</a:t>
                      </a:r>
                    </a:p>
                  </a:txBody>
                  <a:tcPr marL="45720" marR="45720">
                    <a:solidFill>
                      <a:srgbClr val="621360"/>
                    </a:solidFill>
                  </a:tcPr>
                </a:tc>
                <a:tc>
                  <a:txBody>
                    <a:bodyPr/>
                    <a:lstStyle/>
                    <a:p>
                      <a:pPr algn="r"/>
                      <a:r>
                        <a:rPr sz="1100" b="1">
                          <a:solidFill>
                            <a:srgbClr val="FFFFFF"/>
                          </a:solidFill>
                        </a:rPr>
                        <a:t>Train</a:t>
                      </a:r>
                    </a:p>
                  </a:txBody>
                  <a:tcPr marL="45720" marR="45720">
                    <a:solidFill>
                      <a:srgbClr val="621360"/>
                    </a:solidFill>
                  </a:tcPr>
                </a:tc>
              </a:tr>
              <a:tr h="384048">
                <a:tc>
                  <a:txBody>
                    <a:bodyPr/>
                    <a:lstStyle/>
                    <a:p>
                      <a:pPr algn="l"/>
                      <a:r>
                        <a:rPr sz="1100" b="1">
                          <a:solidFill>
                            <a:srgbClr val="00A0FF"/>
                          </a:solidFill>
                        </a:rPr>
                        <a:t>Logistic Regression</a:t>
                      </a:r>
                    </a:p>
                  </a:txBody>
                  <a:tcPr marL="45720" marR="45720">
                    <a:solidFill>
                      <a:srgbClr val="FFFFFF"/>
                    </a:solidFill>
                  </a:tcPr>
                </a:tc>
                <a:tc>
                  <a:txBody>
                    <a:bodyPr/>
                    <a:lstStyle/>
                    <a:p>
                      <a:pPr algn="r"/>
                      <a:r>
                        <a:rPr sz="1100" b="0">
                          <a:solidFill>
                            <a:srgbClr val="1F1F1F"/>
                          </a:solidFill>
                        </a:rPr>
                        <a:t>0.624</a:t>
                      </a:r>
                    </a:p>
                  </a:txBody>
                  <a:tcPr marL="45720" marR="45720">
                    <a:solidFill>
                      <a:srgbClr val="FFFFFF"/>
                    </a:solidFill>
                  </a:tcPr>
                </a:tc>
                <a:tc>
                  <a:txBody>
                    <a:bodyPr/>
                    <a:lstStyle/>
                    <a:p>
                      <a:pPr algn="r"/>
                      <a:r>
                        <a:rPr sz="1100" b="0">
                          <a:solidFill>
                            <a:srgbClr val="1F1F1F"/>
                          </a:solidFill>
                        </a:rPr>
                        <a:t>0.431</a:t>
                      </a:r>
                    </a:p>
                  </a:txBody>
                  <a:tcPr marL="45720" marR="45720">
                    <a:solidFill>
                      <a:srgbClr val="FFFFFF"/>
                    </a:solidFill>
                  </a:tcPr>
                </a:tc>
                <a:tc>
                  <a:txBody>
                    <a:bodyPr/>
                    <a:lstStyle/>
                    <a:p>
                      <a:pPr algn="r"/>
                      <a:r>
                        <a:rPr sz="1100" b="0">
                          <a:solidFill>
                            <a:srgbClr val="1F1F1F"/>
                          </a:solidFill>
                        </a:rPr>
                        <a:t>0.676</a:t>
                      </a:r>
                    </a:p>
                  </a:txBody>
                  <a:tcPr marL="45720" marR="45720">
                    <a:solidFill>
                      <a:srgbClr val="FFFFFF"/>
                    </a:solidFill>
                  </a:tcPr>
                </a:tc>
                <a:tc>
                  <a:txBody>
                    <a:bodyPr/>
                    <a:lstStyle/>
                    <a:p>
                      <a:pPr algn="r"/>
                      <a:r>
                        <a:rPr sz="1100" b="0">
                          <a:solidFill>
                            <a:srgbClr val="1F1F1F"/>
                          </a:solidFill>
                        </a:rPr>
                        <a:t>47 s</a:t>
                      </a:r>
                    </a:p>
                  </a:txBody>
                  <a:tcPr marL="45720" marR="45720">
                    <a:solidFill>
                      <a:srgbClr val="FFFFFF"/>
                    </a:solidFill>
                  </a:tcPr>
                </a:tc>
              </a:tr>
              <a:tr h="384048">
                <a:tc>
                  <a:txBody>
                    <a:bodyPr/>
                    <a:lstStyle/>
                    <a:p>
                      <a:pPr algn="l"/>
                      <a:r>
                        <a:rPr sz="1100" b="1">
                          <a:solidFill>
                            <a:srgbClr val="621360"/>
                          </a:solidFill>
                        </a:rPr>
                        <a:t>Random Forest</a:t>
                      </a:r>
                    </a:p>
                  </a:txBody>
                  <a:tcPr marL="45720" marR="45720">
                    <a:solidFill>
                      <a:srgbClr val="F4EFF4"/>
                    </a:solidFill>
                  </a:tcPr>
                </a:tc>
                <a:tc>
                  <a:txBody>
                    <a:bodyPr/>
                    <a:lstStyle/>
                    <a:p>
                      <a:pPr algn="r"/>
                      <a:r>
                        <a:rPr sz="1100" b="0">
                          <a:solidFill>
                            <a:srgbClr val="1F1F1F"/>
                          </a:solidFill>
                        </a:rPr>
                        <a:t>0.669</a:t>
                      </a:r>
                    </a:p>
                  </a:txBody>
                  <a:tcPr marL="45720" marR="45720">
                    <a:solidFill>
                      <a:srgbClr val="F4EFF4"/>
                    </a:solidFill>
                  </a:tcPr>
                </a:tc>
                <a:tc>
                  <a:txBody>
                    <a:bodyPr/>
                    <a:lstStyle/>
                    <a:p>
                      <a:pPr algn="r"/>
                      <a:r>
                        <a:rPr sz="1100" b="0">
                          <a:solidFill>
                            <a:srgbClr val="1F1F1F"/>
                          </a:solidFill>
                        </a:rPr>
                        <a:t>0.460</a:t>
                      </a:r>
                    </a:p>
                  </a:txBody>
                  <a:tcPr marL="45720" marR="45720">
                    <a:solidFill>
                      <a:srgbClr val="F4EFF4"/>
                    </a:solidFill>
                  </a:tcPr>
                </a:tc>
                <a:tc>
                  <a:txBody>
                    <a:bodyPr/>
                    <a:lstStyle/>
                    <a:p>
                      <a:pPr algn="r"/>
                      <a:r>
                        <a:rPr sz="1100" b="0">
                          <a:solidFill>
                            <a:srgbClr val="1F1F1F"/>
                          </a:solidFill>
                        </a:rPr>
                        <a:t>0.715</a:t>
                      </a:r>
                    </a:p>
                  </a:txBody>
                  <a:tcPr marL="45720" marR="45720">
                    <a:solidFill>
                      <a:srgbClr val="F4EFF4"/>
                    </a:solidFill>
                  </a:tcPr>
                </a:tc>
                <a:tc>
                  <a:txBody>
                    <a:bodyPr/>
                    <a:lstStyle/>
                    <a:p>
                      <a:pPr algn="r"/>
                      <a:r>
                        <a:rPr sz="1100" b="0">
                          <a:solidFill>
                            <a:srgbClr val="1F1F1F"/>
                          </a:solidFill>
                        </a:rPr>
                        <a:t>2115 s</a:t>
                      </a:r>
                    </a:p>
                  </a:txBody>
                  <a:tcPr marL="45720" marR="45720">
                    <a:solidFill>
                      <a:srgbClr val="F4EFF4"/>
                    </a:solidFill>
                  </a:tcPr>
                </a:tc>
              </a:tr>
              <a:tr h="384048">
                <a:tc>
                  <a:txBody>
                    <a:bodyPr/>
                    <a:lstStyle/>
                    <a:p>
                      <a:pPr algn="l"/>
                      <a:r>
                        <a:rPr sz="1100" b="1">
                          <a:solidFill>
                            <a:srgbClr val="1BAF7A"/>
                          </a:solidFill>
                        </a:rPr>
                        <a:t>GBT</a:t>
                      </a:r>
                    </a:p>
                  </a:txBody>
                  <a:tcPr marL="45720" marR="45720">
                    <a:solidFill>
                      <a:srgbClr val="FFFFFF"/>
                    </a:solidFill>
                  </a:tcPr>
                </a:tc>
                <a:tc>
                  <a:txBody>
                    <a:bodyPr/>
                    <a:lstStyle/>
                    <a:p>
                      <a:pPr algn="r"/>
                      <a:r>
                        <a:rPr sz="1100" b="0">
                          <a:solidFill>
                            <a:srgbClr val="1F1F1F"/>
                          </a:solidFill>
                        </a:rPr>
                        <a:t>0.710</a:t>
                      </a:r>
                    </a:p>
                  </a:txBody>
                  <a:tcPr marL="45720" marR="45720">
                    <a:solidFill>
                      <a:srgbClr val="FFFFFF"/>
                    </a:solidFill>
                  </a:tcPr>
                </a:tc>
                <a:tc>
                  <a:txBody>
                    <a:bodyPr/>
                    <a:lstStyle/>
                    <a:p>
                      <a:pPr algn="r"/>
                      <a:r>
                        <a:rPr sz="1100" b="0">
                          <a:solidFill>
                            <a:srgbClr val="1F1F1F"/>
                          </a:solidFill>
                        </a:rPr>
                        <a:t>0.479</a:t>
                      </a:r>
                    </a:p>
                  </a:txBody>
                  <a:tcPr marL="45720" marR="45720">
                    <a:solidFill>
                      <a:srgbClr val="FFFFFF"/>
                    </a:solidFill>
                  </a:tcPr>
                </a:tc>
                <a:tc>
                  <a:txBody>
                    <a:bodyPr/>
                    <a:lstStyle/>
                    <a:p>
                      <a:pPr algn="r"/>
                      <a:r>
                        <a:rPr sz="1100" b="0">
                          <a:solidFill>
                            <a:srgbClr val="1F1F1F"/>
                          </a:solidFill>
                        </a:rPr>
                        <a:t>0.735</a:t>
                      </a:r>
                    </a:p>
                  </a:txBody>
                  <a:tcPr marL="45720" marR="45720">
                    <a:solidFill>
                      <a:srgbClr val="FFFFFF"/>
                    </a:solidFill>
                  </a:tcPr>
                </a:tc>
                <a:tc>
                  <a:txBody>
                    <a:bodyPr/>
                    <a:lstStyle/>
                    <a:p>
                      <a:pPr algn="r"/>
                      <a:r>
                        <a:rPr sz="1100" b="0">
                          <a:solidFill>
                            <a:srgbClr val="1F1F1F"/>
                          </a:solidFill>
                        </a:rPr>
                        <a:t>465 s</a:t>
                      </a:r>
                    </a:p>
                  </a:txBody>
                  <a:tcPr marL="45720" marR="45720">
                    <a:solidFill>
                      <a:srgbClr val="FFFFFF"/>
                    </a:solidFill>
                  </a:tcPr>
                </a:tc>
              </a:tr>
              <a:tr h="384048">
                <a:tc>
                  <a:txBody>
                    <a:bodyPr/>
                    <a:lstStyle/>
                    <a:p>
                      <a:pPr algn="l"/>
                      <a:r>
                        <a:rPr sz="1100" b="1">
                          <a:solidFill>
                            <a:srgbClr val="1F1F1F"/>
                          </a:solidFill>
                        </a:rPr>
                        <a:t>Always 'on time'</a:t>
                      </a:r>
                    </a:p>
                  </a:txBody>
                  <a:tcPr marL="45720" marR="45720">
                    <a:solidFill>
                      <a:srgbClr val="F4EFF4"/>
                    </a:solidFill>
                  </a:tcPr>
                </a:tc>
                <a:tc>
                  <a:txBody>
                    <a:bodyPr/>
                    <a:lstStyle/>
                    <a:p>
                      <a:pPr algn="r"/>
                      <a:r>
                        <a:rPr sz="1100" b="0">
                          <a:solidFill>
                            <a:srgbClr val="1F1F1F"/>
                          </a:solidFill>
                        </a:rPr>
                        <a:t>77.70%</a:t>
                      </a:r>
                    </a:p>
                  </a:txBody>
                  <a:tcPr marL="45720" marR="45720">
                    <a:solidFill>
                      <a:srgbClr val="F4EFF4"/>
                    </a:solidFill>
                  </a:tcPr>
                </a:tc>
                <a:tc>
                  <a:txBody>
                    <a:bodyPr/>
                    <a:lstStyle/>
                    <a:p>
                      <a:pPr algn="r"/>
                      <a:r>
                        <a:rPr sz="1100" b="0">
                          <a:solidFill>
                            <a:srgbClr val="1F1F1F"/>
                          </a:solidFill>
                        </a:rPr>
                        <a:t>0.000</a:t>
                      </a:r>
                    </a:p>
                  </a:txBody>
                  <a:tcPr marL="45720" marR="45720">
                    <a:solidFill>
                      <a:srgbClr val="F4EFF4"/>
                    </a:solidFill>
                  </a:tcPr>
                </a:tc>
                <a:tc>
                  <a:txBody>
                    <a:bodyPr/>
                    <a:lstStyle/>
                    <a:p>
                      <a:pPr algn="r"/>
                      <a:r>
                        <a:rPr sz="1100" b="0">
                          <a:solidFill>
                            <a:srgbClr val="1F1F1F"/>
                          </a:solidFill>
                        </a:rPr>
                        <a:t>0.500</a:t>
                      </a:r>
                    </a:p>
                  </a:txBody>
                  <a:tcPr marL="45720" marR="45720">
                    <a:solidFill>
                      <a:srgbClr val="F4EFF4"/>
                    </a:solidFill>
                  </a:tcPr>
                </a:tc>
                <a:tc>
                  <a:txBody>
                    <a:bodyPr/>
                    <a:lstStyle/>
                    <a:p>
                      <a:pPr algn="r"/>
                      <a:r>
                        <a:rPr sz="1100" b="0">
                          <a:solidFill>
                            <a:srgbClr val="1F1F1F"/>
                          </a:solidFill>
                        </a:rPr>
                        <a:t>-</a:t>
                      </a:r>
                    </a:p>
                  </a:txBody>
                  <a:tcPr marL="45720" marR="45720">
                    <a:solidFill>
                      <a:srgbClr val="F4EFF4"/>
                    </a:solidFill>
                  </a:tcPr>
                </a:tc>
              </a:tr>
            </a:tbl>
          </a:graphicData>
        </a:graphic>
      </p:graphicFrame>
      <p:sp>
        <p:nvSpPr>
          <p:cNvPr id="5" name="TextBox 4"/>
          <p:cNvSpPr txBox="1"/>
          <p:nvPr/>
        </p:nvSpPr>
        <p:spPr>
          <a:xfrm>
            <a:off x="5212080" y="3840480"/>
            <a:ext cx="3429000" cy="2011680"/>
          </a:xfrm>
          <a:prstGeom prst="rect">
            <a:avLst/>
          </a:prstGeom>
          <a:noFill/>
        </p:spPr>
        <p:txBody>
          <a:bodyPr wrap="square" anchor="t" lIns="0" rIns="0" tIns="0" bIns="0">
            <a:spAutoFit/>
          </a:bodyPr>
          <a:lstStyle/>
          <a:p>
            <a:pPr algn="l" marL="228600" indent="-182880">
              <a:spcAft>
                <a:spcPts val="800"/>
              </a:spcAft>
              <a:buChar char="•"/>
            </a:pPr>
            <a:r>
              <a:rPr sz="1200" b="1">
                <a:solidFill>
                  <a:srgbClr val="1F1F1F"/>
                </a:solidFill>
              </a:rPr>
              <a:t>Best: </a:t>
            </a:r>
            <a:r>
              <a:rPr sz="1200" b="0">
                <a:solidFill>
                  <a:srgbClr val="1F1F1F"/>
                </a:solidFill>
              </a:rPr>
              <a:t>Gradient-Boosted Trees (F1 0.479, ROC-AUC 0.735)</a:t>
            </a:r>
          </a:p>
          <a:p>
            <a:pPr algn="l" marL="228600" indent="-182880">
              <a:spcAft>
                <a:spcPts val="800"/>
              </a:spcAft>
              <a:buChar char="•"/>
            </a:pPr>
            <a:r>
              <a:rPr sz="1200" b="1">
                <a:solidFill>
                  <a:srgbClr val="1F1F1F"/>
                </a:solidFill>
              </a:rPr>
              <a:t>Tuning: </a:t>
            </a:r>
            <a:r>
              <a:rPr sz="1200" b="0">
                <a:solidFill>
                  <a:srgbClr val="1F1F1F"/>
                </a:solidFill>
              </a:rPr>
              <a:t>Random Forest 0.705 → 0.715 ROC-AUC, but twice the training time</a:t>
            </a:r>
          </a:p>
          <a:p>
            <a:pPr algn="l" marL="228600" indent="-182880">
              <a:spcAft>
                <a:spcPts val="800"/>
              </a:spcAft>
              <a:buChar char="•"/>
            </a:pPr>
            <a:r>
              <a:rPr sz="1200" b="1">
                <a:solidFill>
                  <a:srgbClr val="1F1F1F"/>
                </a:solidFill>
              </a:rPr>
              <a:t>Accuracy trap: </a:t>
            </a:r>
            <a:r>
              <a:rPr sz="1200" b="0">
                <a:solidFill>
                  <a:srgbClr val="1F1F1F"/>
                </a:solidFill>
              </a:rPr>
              <a:t>doing nothing scores higher accuracy than every model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DRIVES DELAYS</a:t>
            </a:r>
          </a:p>
        </p:txBody>
      </p:sp>
      <p:pic>
        <p:nvPicPr>
          <p:cNvPr id="3" name="Picture 2" descr="image.png"/>
          <p:cNvPicPr>
            <a:picLocks noChangeAspect="1"/>
          </p:cNvPicPr>
          <p:nvPr/>
        </p:nvPicPr>
        <p:blipFill>
          <a:blip r:embed="rId2"/>
          <a:stretch>
            <a:fillRect/>
          </a:stretch>
        </p:blipFill>
        <p:spPr>
          <a:xfrm>
            <a:off x="365760" y="2072931"/>
            <a:ext cx="4206240" cy="2163496"/>
          </a:xfrm>
          <a:prstGeom prst="rect">
            <a:avLst/>
          </a:prstGeom>
        </p:spPr>
      </p:pic>
      <p:graphicFrame>
        <p:nvGraphicFramePr>
          <p:cNvPr id="4" name="Chart 3"/>
          <p:cNvGraphicFramePr>
            <a:graphicFrameLocks noGrp="1"/>
          </p:cNvGraphicFramePr>
          <p:nvPr/>
        </p:nvGraphicFramePr>
        <p:xfrm>
          <a:off x="4709160" y="1600200"/>
          <a:ext cx="3931920" cy="3108960"/>
        </p:xfrm>
        <a:graphic>
          <a:graphicData uri="http://schemas.openxmlformats.org/drawingml/2006/chart">
            <c:chart xmlns:c="http://schemas.openxmlformats.org/drawingml/2006/chart" r:id="rId3"/>
          </a:graphicData>
        </a:graphic>
      </p:graphicFrame>
      <p:sp>
        <p:nvSpPr>
          <p:cNvPr id="5" name="TextBox 4"/>
          <p:cNvSpPr txBox="1"/>
          <p:nvPr/>
        </p:nvSpPr>
        <p:spPr>
          <a:xfrm>
            <a:off x="365760" y="4846320"/>
            <a:ext cx="8275320" cy="1280160"/>
          </a:xfrm>
          <a:prstGeom prst="rect">
            <a:avLst/>
          </a:prstGeom>
          <a:noFill/>
        </p:spPr>
        <p:txBody>
          <a:bodyPr wrap="square" anchor="t" lIns="0" rIns="0" tIns="0" bIns="0">
            <a:spAutoFit/>
          </a:bodyPr>
          <a:lstStyle/>
          <a:p>
            <a:pPr algn="l" marL="228600" indent="-182880">
              <a:spcAft>
                <a:spcPts val="800"/>
              </a:spcAft>
              <a:buChar char="•"/>
            </a:pPr>
            <a:r>
              <a:rPr sz="1300" b="1">
                <a:solidFill>
                  <a:srgbClr val="1F1F1F"/>
                </a:solidFill>
              </a:rPr>
              <a:t>Top drivers: </a:t>
            </a:r>
            <a:r>
              <a:rPr sz="1300" b="0">
                <a:solidFill>
                  <a:srgbClr val="1F1F1F"/>
                </a:solidFill>
              </a:rPr>
              <a:t>the airport's historical delay rate at that hour, and the scheduled turnaround time.</a:t>
            </a:r>
          </a:p>
          <a:p>
            <a:pPr algn="l" marL="228600" indent="-182880">
              <a:spcAft>
                <a:spcPts val="800"/>
              </a:spcAft>
              <a:buChar char="•"/>
            </a:pPr>
            <a:r>
              <a:rPr sz="1300" b="1">
                <a:solidFill>
                  <a:srgbClr val="1F1F1F"/>
                </a:solidFill>
              </a:rPr>
              <a:t>Honest test: </a:t>
            </a:r>
            <a:r>
              <a:rPr sz="1300" b="0">
                <a:solidFill>
                  <a:srgbClr val="1F1F1F"/>
                </a:solidFill>
              </a:rPr>
              <a:t>trained on Jan–Sep, tested on Oct–Dec, GBT ROC-AUC drops 0.735 → 0.679; the random split let trees memorise specific bad days.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CHALLENGES</a:t>
            </a:r>
          </a:p>
        </p:txBody>
      </p:sp>
      <p:sp>
        <p:nvSpPr>
          <p:cNvPr id="3" name="Rounded Rectangle 2"/>
          <p:cNvSpPr/>
          <p:nvPr/>
        </p:nvSpPr>
        <p:spPr>
          <a:xfrm>
            <a:off x="365760" y="1645920"/>
            <a:ext cx="457200" cy="685800"/>
          </a:xfrm>
          <a:prstGeom prst="roundRect">
            <a:avLst>
              <a:gd name="adj" fmla="val 12000"/>
            </a:avLst>
          </a:prstGeom>
          <a:solidFill>
            <a:srgbClr val="6213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FFFFFF"/>
                </a:solidFill>
              </a:rPr>
              <a:t>1</a:t>
            </a:r>
          </a:p>
        </p:txBody>
      </p:sp>
      <p:sp>
        <p:nvSpPr>
          <p:cNvPr id="4" name="TextBox 3"/>
          <p:cNvSpPr txBox="1"/>
          <p:nvPr/>
        </p:nvSpPr>
        <p:spPr>
          <a:xfrm>
            <a:off x="1005840" y="1600200"/>
            <a:ext cx="7589520" cy="365760"/>
          </a:xfrm>
          <a:prstGeom prst="rect">
            <a:avLst/>
          </a:prstGeom>
          <a:noFill/>
        </p:spPr>
        <p:txBody>
          <a:bodyPr wrap="square" anchor="t" lIns="0" rIns="0" tIns="0" bIns="0">
            <a:spAutoFit/>
          </a:bodyPr>
          <a:lstStyle/>
          <a:p>
            <a:pPr algn="l">
              <a:spcAft>
                <a:spcPts val="400"/>
              </a:spcAft>
            </a:pPr>
            <a:r>
              <a:rPr sz="1500" b="1">
                <a:solidFill>
                  <a:srgbClr val="1F1F1F"/>
                </a:solidFill>
              </a:rPr>
              <a:t>Colab disconnected after 3+ hours</a:t>
            </a:r>
          </a:p>
        </p:txBody>
      </p:sp>
      <p:sp>
        <p:nvSpPr>
          <p:cNvPr id="5" name="TextBox 4"/>
          <p:cNvSpPr txBox="1"/>
          <p:nvPr/>
        </p:nvSpPr>
        <p:spPr>
          <a:xfrm>
            <a:off x="1005840" y="1947672"/>
            <a:ext cx="7589520" cy="457200"/>
          </a:xfrm>
          <a:prstGeom prst="rect">
            <a:avLst/>
          </a:prstGeom>
          <a:noFill/>
        </p:spPr>
        <p:txBody>
          <a:bodyPr wrap="square" anchor="t" lIns="0" rIns="0" tIns="0" bIns="0">
            <a:spAutoFit/>
          </a:bodyPr>
          <a:lstStyle/>
          <a:p>
            <a:pPr algn="l">
              <a:spcAft>
                <a:spcPts val="400"/>
              </a:spcAft>
            </a:pPr>
            <a:r>
              <a:rPr sz="1200" b="0">
                <a:solidFill>
                  <a:srgbClr val="5A5A5A"/>
                </a:solidFill>
              </a:rPr>
              <a:t>Parquet checkpoint in Drive, results saved after every model, and a resume option that reuses tuned settings</a:t>
            </a:r>
          </a:p>
        </p:txBody>
      </p:sp>
      <p:sp>
        <p:nvSpPr>
          <p:cNvPr id="6" name="Rounded Rectangle 5"/>
          <p:cNvSpPr/>
          <p:nvPr/>
        </p:nvSpPr>
        <p:spPr>
          <a:xfrm>
            <a:off x="365760" y="2514600"/>
            <a:ext cx="457200" cy="685800"/>
          </a:xfrm>
          <a:prstGeom prst="roundRect">
            <a:avLst>
              <a:gd name="adj" fmla="val 12000"/>
            </a:avLst>
          </a:prstGeom>
          <a:solidFill>
            <a:srgbClr val="6213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FFFFFF"/>
                </a:solidFill>
              </a:rPr>
              <a:t>2</a:t>
            </a:r>
          </a:p>
        </p:txBody>
      </p:sp>
      <p:sp>
        <p:nvSpPr>
          <p:cNvPr id="7" name="TextBox 6"/>
          <p:cNvSpPr txBox="1"/>
          <p:nvPr/>
        </p:nvSpPr>
        <p:spPr>
          <a:xfrm>
            <a:off x="1005840" y="2468880"/>
            <a:ext cx="7589520" cy="365760"/>
          </a:xfrm>
          <a:prstGeom prst="rect">
            <a:avLst/>
          </a:prstGeom>
          <a:noFill/>
        </p:spPr>
        <p:txBody>
          <a:bodyPr wrap="square" anchor="t" lIns="0" rIns="0" tIns="0" bIns="0">
            <a:spAutoFit/>
          </a:bodyPr>
          <a:lstStyle/>
          <a:p>
            <a:pPr algn="l">
              <a:spcAft>
                <a:spcPts val="400"/>
              </a:spcAft>
            </a:pPr>
            <a:r>
              <a:rPr sz="1500" b="1">
                <a:solidFill>
                  <a:srgbClr val="1F1F1F"/>
                </a:solidFill>
              </a:rPr>
              <a:t>A silent bug on Spark 4</a:t>
            </a:r>
          </a:p>
        </p:txBody>
      </p:sp>
      <p:sp>
        <p:nvSpPr>
          <p:cNvPr id="8" name="TextBox 7"/>
          <p:cNvSpPr txBox="1"/>
          <p:nvPr/>
        </p:nvSpPr>
        <p:spPr>
          <a:xfrm>
            <a:off x="1005840" y="2816352"/>
            <a:ext cx="7589520" cy="457200"/>
          </a:xfrm>
          <a:prstGeom prst="rect">
            <a:avLst/>
          </a:prstGeom>
          <a:noFill/>
        </p:spPr>
        <p:txBody>
          <a:bodyPr wrap="square" anchor="t" lIns="0" rIns="0" tIns="0" bIns="0">
            <a:spAutoFit/>
          </a:bodyPr>
          <a:lstStyle/>
          <a:p>
            <a:pPr algn="l">
              <a:spcAft>
                <a:spcPts val="400"/>
              </a:spcAft>
            </a:pPr>
            <a:r>
              <a:rPr sz="1200" b="0">
                <a:solidFill>
                  <a:srgbClr val="5A5A5A"/>
                </a:solidFill>
              </a:rPr>
              <a:t>Feature-importance labels were shifted on Colab's Spark 4.0; a sanity check on the chart caught it, now fixed with an assertion</a:t>
            </a:r>
          </a:p>
        </p:txBody>
      </p:sp>
      <p:sp>
        <p:nvSpPr>
          <p:cNvPr id="9" name="Rounded Rectangle 8"/>
          <p:cNvSpPr/>
          <p:nvPr/>
        </p:nvSpPr>
        <p:spPr>
          <a:xfrm>
            <a:off x="365760" y="3383279"/>
            <a:ext cx="457200" cy="685800"/>
          </a:xfrm>
          <a:prstGeom prst="roundRect">
            <a:avLst>
              <a:gd name="adj" fmla="val 12000"/>
            </a:avLst>
          </a:prstGeom>
          <a:solidFill>
            <a:srgbClr val="6213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FFFFFF"/>
                </a:solidFill>
              </a:rPr>
              <a:t>3</a:t>
            </a:r>
          </a:p>
        </p:txBody>
      </p:sp>
      <p:sp>
        <p:nvSpPr>
          <p:cNvPr id="10" name="TextBox 9"/>
          <p:cNvSpPr txBox="1"/>
          <p:nvPr/>
        </p:nvSpPr>
        <p:spPr>
          <a:xfrm>
            <a:off x="1005840" y="3337560"/>
            <a:ext cx="7589520" cy="365760"/>
          </a:xfrm>
          <a:prstGeom prst="rect">
            <a:avLst/>
          </a:prstGeom>
          <a:noFill/>
        </p:spPr>
        <p:txBody>
          <a:bodyPr wrap="square" anchor="t" lIns="0" rIns="0" tIns="0" bIns="0">
            <a:spAutoFit/>
          </a:bodyPr>
          <a:lstStyle/>
          <a:p>
            <a:pPr algn="l">
              <a:spcAft>
                <a:spcPts val="400"/>
              </a:spcAft>
            </a:pPr>
            <a:r>
              <a:rPr sz="1500" b="1">
                <a:solidFill>
                  <a:srgbClr val="1F1F1F"/>
                </a:solidFill>
              </a:rPr>
              <a:t>Target leakage</a:t>
            </a:r>
          </a:p>
        </p:txBody>
      </p:sp>
      <p:sp>
        <p:nvSpPr>
          <p:cNvPr id="11" name="TextBox 10"/>
          <p:cNvSpPr txBox="1"/>
          <p:nvPr/>
        </p:nvSpPr>
        <p:spPr>
          <a:xfrm>
            <a:off x="1005840" y="3685032"/>
            <a:ext cx="7589520" cy="457200"/>
          </a:xfrm>
          <a:prstGeom prst="rect">
            <a:avLst/>
          </a:prstGeom>
          <a:noFill/>
        </p:spPr>
        <p:txBody>
          <a:bodyPr wrap="square" anchor="t" lIns="0" rIns="0" tIns="0" bIns="0">
            <a:spAutoFit/>
          </a:bodyPr>
          <a:lstStyle/>
          <a:p>
            <a:pPr algn="l">
              <a:spcAft>
                <a:spcPts val="400"/>
              </a:spcAft>
            </a:pPr>
            <a:r>
              <a:rPr sz="1200" b="0">
                <a:solidFill>
                  <a:srgbClr val="5A5A5A"/>
                </a:solidFill>
              </a:rPr>
              <a:t>Allow-list ingestion and schedule counts computed before cancellations are removed</a:t>
            </a:r>
          </a:p>
        </p:txBody>
      </p:sp>
      <p:sp>
        <p:nvSpPr>
          <p:cNvPr id="12" name="Rounded Rectangle 11"/>
          <p:cNvSpPr/>
          <p:nvPr/>
        </p:nvSpPr>
        <p:spPr>
          <a:xfrm>
            <a:off x="365760" y="4251959"/>
            <a:ext cx="457200" cy="685800"/>
          </a:xfrm>
          <a:prstGeom prst="roundRect">
            <a:avLst>
              <a:gd name="adj" fmla="val 12000"/>
            </a:avLst>
          </a:prstGeom>
          <a:solidFill>
            <a:srgbClr val="6213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FFFFFF"/>
                </a:solidFill>
              </a:rPr>
              <a:t>4</a:t>
            </a:r>
          </a:p>
        </p:txBody>
      </p:sp>
      <p:sp>
        <p:nvSpPr>
          <p:cNvPr id="13" name="TextBox 12"/>
          <p:cNvSpPr txBox="1"/>
          <p:nvPr/>
        </p:nvSpPr>
        <p:spPr>
          <a:xfrm>
            <a:off x="1005840" y="4206240"/>
            <a:ext cx="7589520" cy="365760"/>
          </a:xfrm>
          <a:prstGeom prst="rect">
            <a:avLst/>
          </a:prstGeom>
          <a:noFill/>
        </p:spPr>
        <p:txBody>
          <a:bodyPr wrap="square" anchor="t" lIns="0" rIns="0" tIns="0" bIns="0">
            <a:spAutoFit/>
          </a:bodyPr>
          <a:lstStyle/>
          <a:p>
            <a:pPr algn="l">
              <a:spcAft>
                <a:spcPts val="400"/>
              </a:spcAft>
            </a:pPr>
            <a:r>
              <a:rPr sz="1500" b="1">
                <a:solidFill>
                  <a:srgbClr val="1F1F1F"/>
                </a:solidFill>
              </a:rPr>
              <a:t>Class imbalance (22% delayed)</a:t>
            </a:r>
          </a:p>
        </p:txBody>
      </p:sp>
      <p:sp>
        <p:nvSpPr>
          <p:cNvPr id="14" name="TextBox 13"/>
          <p:cNvSpPr txBox="1"/>
          <p:nvPr/>
        </p:nvSpPr>
        <p:spPr>
          <a:xfrm>
            <a:off x="1005840" y="4553712"/>
            <a:ext cx="7589520" cy="457200"/>
          </a:xfrm>
          <a:prstGeom prst="rect">
            <a:avLst/>
          </a:prstGeom>
          <a:noFill/>
        </p:spPr>
        <p:txBody>
          <a:bodyPr wrap="square" anchor="t" lIns="0" rIns="0" tIns="0" bIns="0">
            <a:spAutoFit/>
          </a:bodyPr>
          <a:lstStyle/>
          <a:p>
            <a:pPr algn="l">
              <a:spcAft>
                <a:spcPts val="400"/>
              </a:spcAft>
            </a:pPr>
            <a:r>
              <a:rPr sz="1200" b="0">
                <a:solidFill>
                  <a:srgbClr val="5A5A5A"/>
                </a:solidFill>
              </a:rPr>
              <a:t>Class weights plus a validation-tuned threshold instead of chasing accuracy</a:t>
            </a:r>
          </a:p>
        </p:txBody>
      </p:sp>
      <p:sp>
        <p:nvSpPr>
          <p:cNvPr id="15" name="Rounded Rectangle 14"/>
          <p:cNvSpPr/>
          <p:nvPr/>
        </p:nvSpPr>
        <p:spPr>
          <a:xfrm>
            <a:off x="365760" y="5120640"/>
            <a:ext cx="457200" cy="685800"/>
          </a:xfrm>
          <a:prstGeom prst="roundRect">
            <a:avLst>
              <a:gd name="adj" fmla="val 12000"/>
            </a:avLst>
          </a:prstGeom>
          <a:solidFill>
            <a:srgbClr val="6213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FFFFFF"/>
                </a:solidFill>
              </a:rPr>
              <a:t>5</a:t>
            </a:r>
          </a:p>
        </p:txBody>
      </p:sp>
      <p:sp>
        <p:nvSpPr>
          <p:cNvPr id="16" name="TextBox 15"/>
          <p:cNvSpPr txBox="1"/>
          <p:nvPr/>
        </p:nvSpPr>
        <p:spPr>
          <a:xfrm>
            <a:off x="1005840" y="5074920"/>
            <a:ext cx="7589520" cy="365760"/>
          </a:xfrm>
          <a:prstGeom prst="rect">
            <a:avLst/>
          </a:prstGeom>
          <a:noFill/>
        </p:spPr>
        <p:txBody>
          <a:bodyPr wrap="square" anchor="t" lIns="0" rIns="0" tIns="0" bIns="0">
            <a:spAutoFit/>
          </a:bodyPr>
          <a:lstStyle/>
          <a:p>
            <a:pPr algn="l">
              <a:spcAft>
                <a:spcPts val="400"/>
              </a:spcAft>
            </a:pPr>
            <a:r>
              <a:rPr sz="1500" b="1">
                <a:solidFill>
                  <a:srgbClr val="1F1F1F"/>
                </a:solidFill>
              </a:rPr>
              <a:t>3 GB of CSV on a 12 GB machine</a:t>
            </a:r>
          </a:p>
        </p:txBody>
      </p:sp>
      <p:sp>
        <p:nvSpPr>
          <p:cNvPr id="17" name="TextBox 16"/>
          <p:cNvSpPr txBox="1"/>
          <p:nvPr/>
        </p:nvSpPr>
        <p:spPr>
          <a:xfrm>
            <a:off x="1005840" y="5422392"/>
            <a:ext cx="7589520" cy="457200"/>
          </a:xfrm>
          <a:prstGeom prst="rect">
            <a:avLst/>
          </a:prstGeom>
          <a:noFill/>
        </p:spPr>
        <p:txBody>
          <a:bodyPr wrap="square" anchor="t" lIns="0" rIns="0" tIns="0" bIns="0">
            <a:spAutoFit/>
          </a:bodyPr>
          <a:lstStyle/>
          <a:p>
            <a:pPr algn="l">
              <a:spcAft>
                <a:spcPts val="400"/>
              </a:spcAft>
            </a:pPr>
            <a:r>
              <a:rPr sz="1200" b="0">
                <a:solidFill>
                  <a:srgbClr val="5A5A5A"/>
                </a:solidFill>
              </a:rPr>
              <a:t>Only 17 columns loaded, then columnar Parquet: same query 25× faster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FUTURE SCOPE</a:t>
            </a:r>
          </a:p>
        </p:txBody>
      </p:sp>
      <p:sp>
        <p:nvSpPr>
          <p:cNvPr id="3" name="Rounded Rectangle 2"/>
          <p:cNvSpPr/>
          <p:nvPr/>
        </p:nvSpPr>
        <p:spPr>
          <a:xfrm>
            <a:off x="365760" y="1600200"/>
            <a:ext cx="4023360" cy="1234440"/>
          </a:xfrm>
          <a:prstGeom prst="roundRect">
            <a:avLst>
              <a:gd name="adj" fmla="val 8000"/>
            </a:avLst>
          </a:prstGeom>
          <a:solidFill>
            <a:srgbClr val="F4EF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94360" y="1737360"/>
            <a:ext cx="3566160" cy="365760"/>
          </a:xfrm>
          <a:prstGeom prst="rect">
            <a:avLst/>
          </a:prstGeom>
          <a:noFill/>
        </p:spPr>
        <p:txBody>
          <a:bodyPr wrap="square" anchor="t" lIns="0" rIns="0" tIns="0" bIns="0">
            <a:spAutoFit/>
          </a:bodyPr>
          <a:lstStyle/>
          <a:p>
            <a:pPr algn="l">
              <a:spcAft>
                <a:spcPts val="400"/>
              </a:spcAft>
            </a:pPr>
            <a:r>
              <a:rPr sz="1600" b="1">
                <a:solidFill>
                  <a:srgbClr val="621360"/>
                </a:solidFill>
              </a:rPr>
              <a:t>Weather</a:t>
            </a:r>
          </a:p>
        </p:txBody>
      </p:sp>
      <p:sp>
        <p:nvSpPr>
          <p:cNvPr id="5" name="TextBox 4"/>
          <p:cNvSpPr txBox="1"/>
          <p:nvPr/>
        </p:nvSpPr>
        <p:spPr>
          <a:xfrm>
            <a:off x="594360" y="2130552"/>
            <a:ext cx="3566160" cy="640080"/>
          </a:xfrm>
          <a:prstGeom prst="rect">
            <a:avLst/>
          </a:prstGeom>
          <a:noFill/>
        </p:spPr>
        <p:txBody>
          <a:bodyPr wrap="square" anchor="t" lIns="0" rIns="0" tIns="0" bIns="0">
            <a:spAutoFit/>
          </a:bodyPr>
          <a:lstStyle/>
          <a:p>
            <a:pPr algn="l">
              <a:spcAft>
                <a:spcPts val="400"/>
              </a:spcAft>
            </a:pPr>
            <a:r>
              <a:rPr sz="1300" b="0">
                <a:solidFill>
                  <a:srgbClr val="5A5A5A"/>
                </a:solidFill>
              </a:rPr>
              <a:t>Join hourly NOAA weather forecasts: the biggest missing signal</a:t>
            </a:r>
          </a:p>
        </p:txBody>
      </p:sp>
      <p:sp>
        <p:nvSpPr>
          <p:cNvPr id="6" name="Rounded Rectangle 5"/>
          <p:cNvSpPr/>
          <p:nvPr/>
        </p:nvSpPr>
        <p:spPr>
          <a:xfrm>
            <a:off x="4572000" y="1600200"/>
            <a:ext cx="4023360" cy="1234440"/>
          </a:xfrm>
          <a:prstGeom prst="roundRect">
            <a:avLst>
              <a:gd name="adj" fmla="val 8000"/>
            </a:avLst>
          </a:prstGeom>
          <a:solidFill>
            <a:srgbClr val="F4EF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800600" y="1737360"/>
            <a:ext cx="3566160" cy="365760"/>
          </a:xfrm>
          <a:prstGeom prst="rect">
            <a:avLst/>
          </a:prstGeom>
          <a:noFill/>
        </p:spPr>
        <p:txBody>
          <a:bodyPr wrap="square" anchor="t" lIns="0" rIns="0" tIns="0" bIns="0">
            <a:spAutoFit/>
          </a:bodyPr>
          <a:lstStyle/>
          <a:p>
            <a:pPr algn="l">
              <a:spcAft>
                <a:spcPts val="400"/>
              </a:spcAft>
            </a:pPr>
            <a:r>
              <a:rPr sz="1600" b="1">
                <a:solidFill>
                  <a:srgbClr val="621360"/>
                </a:solidFill>
              </a:rPr>
              <a:t>Stronger models</a:t>
            </a:r>
          </a:p>
        </p:txBody>
      </p:sp>
      <p:sp>
        <p:nvSpPr>
          <p:cNvPr id="8" name="TextBox 7"/>
          <p:cNvSpPr txBox="1"/>
          <p:nvPr/>
        </p:nvSpPr>
        <p:spPr>
          <a:xfrm>
            <a:off x="4800600" y="2130552"/>
            <a:ext cx="3566160" cy="640080"/>
          </a:xfrm>
          <a:prstGeom prst="rect">
            <a:avLst/>
          </a:prstGeom>
          <a:noFill/>
        </p:spPr>
        <p:txBody>
          <a:bodyPr wrap="square" anchor="t" lIns="0" rIns="0" tIns="0" bIns="0">
            <a:spAutoFit/>
          </a:bodyPr>
          <a:lstStyle/>
          <a:p>
            <a:pPr algn="l">
              <a:spcAft>
                <a:spcPts val="400"/>
              </a:spcAft>
            </a:pPr>
            <a:r>
              <a:rPr sz="1300" b="0">
                <a:solidFill>
                  <a:srgbClr val="5A5A5A"/>
                </a:solidFill>
              </a:rPr>
              <a:t>XGBoost or LightGBM on Spark, with GPU acceleration (RAPIDS)</a:t>
            </a:r>
          </a:p>
        </p:txBody>
      </p:sp>
      <p:sp>
        <p:nvSpPr>
          <p:cNvPr id="9" name="Rounded Rectangle 8"/>
          <p:cNvSpPr/>
          <p:nvPr/>
        </p:nvSpPr>
        <p:spPr>
          <a:xfrm>
            <a:off x="365760" y="3063240"/>
            <a:ext cx="4023360" cy="1234440"/>
          </a:xfrm>
          <a:prstGeom prst="roundRect">
            <a:avLst>
              <a:gd name="adj" fmla="val 8000"/>
            </a:avLst>
          </a:prstGeom>
          <a:solidFill>
            <a:srgbClr val="F4EF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94360" y="3200400"/>
            <a:ext cx="3566160" cy="365760"/>
          </a:xfrm>
          <a:prstGeom prst="rect">
            <a:avLst/>
          </a:prstGeom>
          <a:noFill/>
        </p:spPr>
        <p:txBody>
          <a:bodyPr wrap="square" anchor="t" lIns="0" rIns="0" tIns="0" bIns="0">
            <a:spAutoFit/>
          </a:bodyPr>
          <a:lstStyle/>
          <a:p>
            <a:pPr algn="l">
              <a:spcAft>
                <a:spcPts val="400"/>
              </a:spcAft>
            </a:pPr>
            <a:r>
              <a:rPr sz="1600" b="1">
                <a:solidFill>
                  <a:srgbClr val="621360"/>
                </a:solidFill>
              </a:rPr>
              <a:t>Real cluster</a:t>
            </a:r>
          </a:p>
        </p:txBody>
      </p:sp>
      <p:sp>
        <p:nvSpPr>
          <p:cNvPr id="11" name="TextBox 10"/>
          <p:cNvSpPr txBox="1"/>
          <p:nvPr/>
        </p:nvSpPr>
        <p:spPr>
          <a:xfrm>
            <a:off x="594360" y="3593592"/>
            <a:ext cx="3566160" cy="640080"/>
          </a:xfrm>
          <a:prstGeom prst="rect">
            <a:avLst/>
          </a:prstGeom>
          <a:noFill/>
        </p:spPr>
        <p:txBody>
          <a:bodyPr wrap="square" anchor="t" lIns="0" rIns="0" tIns="0" bIns="0">
            <a:spAutoFit/>
          </a:bodyPr>
          <a:lstStyle/>
          <a:p>
            <a:pPr algn="l">
              <a:spcAft>
                <a:spcPts val="400"/>
              </a:spcAft>
            </a:pPr>
            <a:r>
              <a:rPr sz="1300" b="0">
                <a:solidFill>
                  <a:srgbClr val="5A5A5A"/>
                </a:solidFill>
              </a:rPr>
              <a:t>Full training data on Google Dataproc, wider tuning grids</a:t>
            </a:r>
          </a:p>
        </p:txBody>
      </p:sp>
      <p:sp>
        <p:nvSpPr>
          <p:cNvPr id="12" name="Rounded Rectangle 11"/>
          <p:cNvSpPr/>
          <p:nvPr/>
        </p:nvSpPr>
        <p:spPr>
          <a:xfrm>
            <a:off x="4572000" y="3063240"/>
            <a:ext cx="4023360" cy="1234440"/>
          </a:xfrm>
          <a:prstGeom prst="roundRect">
            <a:avLst>
              <a:gd name="adj" fmla="val 8000"/>
            </a:avLst>
          </a:prstGeom>
          <a:solidFill>
            <a:srgbClr val="F4EF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800600" y="3200400"/>
            <a:ext cx="3566160" cy="365760"/>
          </a:xfrm>
          <a:prstGeom prst="rect">
            <a:avLst/>
          </a:prstGeom>
          <a:noFill/>
        </p:spPr>
        <p:txBody>
          <a:bodyPr wrap="square" anchor="t" lIns="0" rIns="0" tIns="0" bIns="0">
            <a:spAutoFit/>
          </a:bodyPr>
          <a:lstStyle/>
          <a:p>
            <a:pPr algn="l">
              <a:spcAft>
                <a:spcPts val="400"/>
              </a:spcAft>
            </a:pPr>
            <a:r>
              <a:rPr sz="1600" b="1">
                <a:solidFill>
                  <a:srgbClr val="621360"/>
                </a:solidFill>
              </a:rPr>
              <a:t>Streaming</a:t>
            </a:r>
          </a:p>
        </p:txBody>
      </p:sp>
      <p:sp>
        <p:nvSpPr>
          <p:cNvPr id="14" name="TextBox 13"/>
          <p:cNvSpPr txBox="1"/>
          <p:nvPr/>
        </p:nvSpPr>
        <p:spPr>
          <a:xfrm>
            <a:off x="4800600" y="3593592"/>
            <a:ext cx="3566160" cy="640080"/>
          </a:xfrm>
          <a:prstGeom prst="rect">
            <a:avLst/>
          </a:prstGeom>
          <a:noFill/>
        </p:spPr>
        <p:txBody>
          <a:bodyPr wrap="square" anchor="t" lIns="0" rIns="0" tIns="0" bIns="0">
            <a:spAutoFit/>
          </a:bodyPr>
          <a:lstStyle/>
          <a:p>
            <a:pPr algn="l">
              <a:spcAft>
                <a:spcPts val="400"/>
              </a:spcAft>
            </a:pPr>
            <a:r>
              <a:rPr sz="1300" b="0">
                <a:solidFill>
                  <a:srgbClr val="5A5A5A"/>
                </a:solidFill>
              </a:rPr>
              <a:t>Spark Structured Streaming to update predictions on the day</a:t>
            </a:r>
          </a:p>
        </p:txBody>
      </p:sp>
      <p:sp>
        <p:nvSpPr>
          <p:cNvPr id="15" name="Rounded Rectangle 14"/>
          <p:cNvSpPr/>
          <p:nvPr/>
        </p:nvSpPr>
        <p:spPr>
          <a:xfrm>
            <a:off x="2468879" y="4526280"/>
            <a:ext cx="4023360" cy="1234440"/>
          </a:xfrm>
          <a:prstGeom prst="roundRect">
            <a:avLst>
              <a:gd name="adj" fmla="val 8000"/>
            </a:avLst>
          </a:prstGeom>
          <a:solidFill>
            <a:srgbClr val="F4EF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697479" y="4663440"/>
            <a:ext cx="3566160" cy="365760"/>
          </a:xfrm>
          <a:prstGeom prst="rect">
            <a:avLst/>
          </a:prstGeom>
          <a:noFill/>
        </p:spPr>
        <p:txBody>
          <a:bodyPr wrap="square" anchor="t" lIns="0" rIns="0" tIns="0" bIns="0">
            <a:spAutoFit/>
          </a:bodyPr>
          <a:lstStyle/>
          <a:p>
            <a:pPr algn="l">
              <a:spcAft>
                <a:spcPts val="400"/>
              </a:spcAft>
            </a:pPr>
            <a:r>
              <a:rPr sz="1600" b="1">
                <a:solidFill>
                  <a:srgbClr val="621360"/>
                </a:solidFill>
              </a:rPr>
              <a:t>Cleaner encoding</a:t>
            </a:r>
          </a:p>
        </p:txBody>
      </p:sp>
      <p:sp>
        <p:nvSpPr>
          <p:cNvPr id="17" name="TextBox 16"/>
          <p:cNvSpPr txBox="1"/>
          <p:nvPr/>
        </p:nvSpPr>
        <p:spPr>
          <a:xfrm>
            <a:off x="2697479" y="5056632"/>
            <a:ext cx="3566160" cy="640080"/>
          </a:xfrm>
          <a:prstGeom prst="rect">
            <a:avLst/>
          </a:prstGeom>
          <a:noFill/>
        </p:spPr>
        <p:txBody>
          <a:bodyPr wrap="square" anchor="t" lIns="0" rIns="0" tIns="0" bIns="0">
            <a:spAutoFit/>
          </a:bodyPr>
          <a:lstStyle/>
          <a:p>
            <a:pPr algn="l">
              <a:spcAft>
                <a:spcPts val="400"/>
              </a:spcAft>
            </a:pPr>
            <a:r>
              <a:rPr sz="1300" b="0">
                <a:solidFill>
                  <a:srgbClr val="5A5A5A"/>
                </a:solidFill>
              </a:rPr>
              <a:t>Out-of-fold target encoding to avoid in-sample bias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a:t>
            </a:r>
          </a:p>
        </p:txBody>
      </p:sp>
      <p:sp>
        <p:nvSpPr>
          <p:cNvPr id="3" name="TextBox 2"/>
          <p:cNvSpPr txBox="1"/>
          <p:nvPr/>
        </p:nvSpPr>
        <p:spPr>
          <a:xfrm>
            <a:off x="365760" y="1600200"/>
            <a:ext cx="8275320" cy="4389120"/>
          </a:xfrm>
          <a:prstGeom prst="rect">
            <a:avLst/>
          </a:prstGeom>
          <a:noFill/>
        </p:spPr>
        <p:txBody>
          <a:bodyPr wrap="square" anchor="t" lIns="0" rIns="0" tIns="0" bIns="0">
            <a:spAutoFit/>
          </a:bodyPr>
          <a:lstStyle/>
          <a:p>
            <a:pPr algn="l" marL="228600" indent="-182880">
              <a:spcAft>
                <a:spcPts val="800"/>
              </a:spcAft>
              <a:buChar char="•"/>
            </a:pPr>
            <a:r>
              <a:rPr sz="1600" b="0">
                <a:solidFill>
                  <a:srgbClr val="1F1F1F"/>
                </a:solidFill>
              </a:rPr>
              <a:t>Built a leakage-free Apache Spark pipeline over all 7,001,619 U.S. domestic flights of 2025.</a:t>
            </a:r>
          </a:p>
          <a:p>
            <a:pPr algn="l" marL="228600" indent="-182880">
              <a:spcAft>
                <a:spcPts val="800"/>
              </a:spcAft>
              <a:buChar char="•"/>
            </a:pPr>
            <a:r>
              <a:rPr sz="1600" b="0">
                <a:solidFill>
                  <a:srgbClr val="1F1F1F"/>
                </a:solidFill>
              </a:rPr>
              <a:t>Gradient-Boosted Trees performed best (F1 0.479, ROC-AUC 0.735), clearly ahead of Logistic Regression, and far cheaper to train than a tuned Random Forest.</a:t>
            </a:r>
          </a:p>
          <a:p>
            <a:pPr algn="l" marL="228600" indent="-182880">
              <a:spcAft>
                <a:spcPts val="800"/>
              </a:spcAft>
              <a:buChar char="•"/>
            </a:pPr>
            <a:r>
              <a:rPr sz="1600" b="0">
                <a:solidFill>
                  <a:srgbClr val="1F1F1F"/>
                </a:solidFill>
              </a:rPr>
              <a:t>Accuracy is misleading on imbalanced data: class weights, a tuned threshold, PR-AUC and an honest temporal test matter more.</a:t>
            </a:r>
          </a:p>
          <a:p>
            <a:pPr algn="l" marL="228600" indent="-182880">
              <a:spcAft>
                <a:spcPts val="800"/>
              </a:spcAft>
              <a:buChar char="•"/>
            </a:pPr>
            <a:r>
              <a:rPr sz="1600" b="0">
                <a:solidFill>
                  <a:srgbClr val="1F1F1F"/>
                </a:solidFill>
              </a:rPr>
              <a:t>Big data tooling made it feasible on free Colab: Parquet, broadcast joins and keeping evaluation inside Spark.</a:t>
            </a:r>
          </a:p>
          <a:p>
            <a:pPr algn="l" marL="228600" indent="-182880">
              <a:spcAft>
                <a:spcPts val="800"/>
              </a:spcAft>
              <a:buChar char="•"/>
            </a:pPr>
            <a:r>
              <a:rPr sz="1600" b="0">
                <a:solidFill>
                  <a:srgbClr val="1F1F1F"/>
                </a:solidFill>
              </a:rPr>
              <a:t>Schedule-only prediction is possible but limited: weather and on-the-day updates are the way forward.</a:t>
            </a:r>
          </a:p>
        </p:txBody>
      </p:sp>
    </p:spTree>
  </p:cSld>
  <p:clrMapOvr>
    <a:masterClrMapping/>
  </p:clrMapOvr>
</p:sld>
</file>

<file path=ppt/theme/theme1.xml><?xml version="1.0" encoding="utf-8"?>
<a:theme xmlns:a="http://schemas.openxmlformats.org/drawingml/2006/main" name="UoP master">
  <a:themeElements>
    <a:clrScheme name="UoP Masterbrand">
      <a:dk1>
        <a:srgbClr val="000000"/>
      </a:dk1>
      <a:lt1>
        <a:sysClr val="window" lastClr="FFFFFF"/>
      </a:lt1>
      <a:dk2>
        <a:srgbClr val="621360"/>
      </a:dk2>
      <a:lt2>
        <a:srgbClr val="FFFFFF"/>
      </a:lt2>
      <a:accent1>
        <a:srgbClr val="00A0FF"/>
      </a:accent1>
      <a:accent2>
        <a:srgbClr val="621360"/>
      </a:accent2>
      <a:accent3>
        <a:srgbClr val="D1D1D1"/>
      </a:accent3>
      <a:accent4>
        <a:srgbClr val="621360"/>
      </a:accent4>
      <a:accent5>
        <a:srgbClr val="ABAAAA"/>
      </a:accent5>
      <a:accent6>
        <a:srgbClr val="3C023C"/>
      </a:accent6>
      <a:hlink>
        <a:srgbClr val="00A0FF"/>
      </a:hlink>
      <a:folHlink>
        <a:srgbClr val="0078B4"/>
      </a:folHlink>
    </a:clrScheme>
    <a:fontScheme name="Kantoor">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chor="b">
        <a:normAutofit fontScale="92500"/>
      </a:bodyPr>
      <a:lstStyle>
        <a:defPPr algn="l">
          <a:defRPr dirty="0" smtClean="0"/>
        </a:defPPr>
      </a:lstStyle>
    </a:txDef>
  </a:objectDefaults>
  <a:extraClrSchemeLst/>
  <a:extLst>
    <a:ext uri="{05A4C25C-085E-4340-85A3-A5531E510DB2}">
      <thm15:themeFamily xmlns:thm15="http://schemas.microsoft.com/office/thememl/2012/main" name="02 UoP Masterbrand-Calibri.potx" id="{24300EB1-9451-401C-9C5B-B264C73C93EF}" vid="{C62A1C1D-D111-48E7-BD77-8756F83F8EBE}"/>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Kantoor">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Kantoor">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4906</TotalTime>
  <Words>813</Words>
  <Application>Microsoft Office PowerPoint</Application>
  <PresentationFormat>On-screen Show (4:3)</PresentationFormat>
  <Paragraphs>97</Paragraphs>
  <Slides>17</Slides>
  <Notes>8</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17</vt:i4>
      </vt:variant>
    </vt:vector>
  </HeadingPairs>
  <TitlesOfParts>
    <vt:vector size="30" baseType="lpstr">
      <vt:lpstr>Aero Bold</vt:lpstr>
      <vt:lpstr>Aero Light</vt:lpstr>
      <vt:lpstr>Arial</vt:lpstr>
      <vt:lpstr>Bahnschrift Condensed</vt:lpstr>
      <vt:lpstr>Berlin Sans FB Demi</vt:lpstr>
      <vt:lpstr>Calibri</vt:lpstr>
      <vt:lpstr>Calibri bold</vt:lpstr>
      <vt:lpstr>Calibri Light</vt:lpstr>
      <vt:lpstr>Google Sans</vt:lpstr>
      <vt:lpstr>Source Sans Pro</vt:lpstr>
      <vt:lpstr>Source Sans Pro Semibold</vt:lpstr>
      <vt:lpstr>Vrinda</vt:lpstr>
      <vt:lpstr>UoP master</vt:lpstr>
      <vt:lpstr>PowerPoint Presentation</vt:lpstr>
      <vt:lpstr>COVID-19 PANDEMIC</vt:lpstr>
      <vt:lpstr>PROJECT PROPOSAL</vt:lpstr>
      <vt:lpstr>OBJECTIVE AND SCOPE</vt:lpstr>
      <vt:lpstr>DATA SET USED</vt:lpstr>
      <vt:lpstr>RESEARCH ANALYSIS</vt:lpstr>
      <vt:lpstr>PROCESS MODEL</vt:lpstr>
      <vt:lpstr>ARCHITECTURE DESIGN</vt:lpstr>
      <vt:lpstr>TECHNOLOGY USED</vt:lpstr>
      <vt:lpstr>Convolutional Neural Network (CNN) model training</vt:lpstr>
      <vt:lpstr>PowerPoint Presentation</vt:lpstr>
      <vt:lpstr>Result Matric Validation Loss and Accuracy Value</vt:lpstr>
      <vt:lpstr>Result Output</vt:lpstr>
      <vt:lpstr>Challenges</vt:lpstr>
      <vt:lpstr>Future Scope</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Frederic Lootens</dc:creator>
  <cp:lastModifiedBy>Aarushi Vadhavkar</cp:lastModifiedBy>
  <cp:revision>270</cp:revision>
  <dcterms:created xsi:type="dcterms:W3CDTF">2017-08-25T10:33:37Z</dcterms:created>
  <dcterms:modified xsi:type="dcterms:W3CDTF">2026-09-26T06:27:21Z</dcterms:modified>
</cp:coreProperties>
</file>