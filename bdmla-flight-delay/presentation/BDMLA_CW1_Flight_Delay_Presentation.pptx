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ROC-AUC: random vs temporal test</a:t>
            </a:r>
          </a:p>
        </c:rich>
      </c:tx>
      <c:layout/>
      <c:overlay val="0"/>
    </c:title>
    <c:autoTitleDeleted val="0"/>
    <c:plotArea>
      <c:barChart>
        <c:barDir val="col"/>
        <c:grouping val="clustered"/>
        <c:ser>
          <c:idx val="0"/>
          <c:order val="0"/>
          <c:tx>
            <c:strRef>
              <c:f>Sheet1!$B$1</c:f>
              <c:strCache>
                <c:ptCount val="1"/>
                <c:pt idx="0">
                  <c:v>Random split</c:v>
                </c:pt>
              </c:strCache>
            </c:strRef>
          </c:tx>
          <c:spPr>
            <a:solidFill>
              <a:srgbClr val="621360"/>
            </a:solidFill>
          </c:spPr>
          <c:cat>
            <c:strRef>
              <c:f>Sheet1!$A$2:$A$4</c:f>
              <c:strCache>
                <c:ptCount val="3"/>
                <c:pt idx="0">
                  <c:v>LR</c:v>
                </c:pt>
                <c:pt idx="1">
                  <c:v>RF</c:v>
                </c:pt>
                <c:pt idx="2">
                  <c:v>GBT</c:v>
                </c:pt>
              </c:strCache>
            </c:strRef>
          </c:cat>
          <c:val>
            <c:numRef>
              <c:f>Sheet1!$B$2:$B$4</c:f>
              <c:numCache>
                <c:formatCode>General</c:formatCode>
                <c:ptCount val="3"/>
                <c:pt idx="0">
                  <c:v>0.676</c:v>
                </c:pt>
                <c:pt idx="1">
                  <c:v>0.715</c:v>
                </c:pt>
                <c:pt idx="2">
                  <c:v>0.735</c:v>
                </c:pt>
              </c:numCache>
            </c:numRef>
          </c:val>
        </c:ser>
        <c:ser>
          <c:idx val="1"/>
          <c:order val="1"/>
          <c:tx>
            <c:strRef>
              <c:f>Sheet1!$C$1</c:f>
              <c:strCache>
                <c:ptCount val="1"/>
                <c:pt idx="0">
                  <c:v>Temporal (Oct–Dec)</c:v>
                </c:pt>
              </c:strCache>
            </c:strRef>
          </c:tx>
          <c:spPr>
            <a:solidFill>
              <a:srgbClr val="AD84C6"/>
            </a:solidFill>
          </c:spPr>
          <c:cat>
            <c:strRef>
              <c:f>Sheet1!$A$2:$A$4</c:f>
              <c:strCache>
                <c:ptCount val="3"/>
                <c:pt idx="0">
                  <c:v>LR</c:v>
                </c:pt>
                <c:pt idx="1">
                  <c:v>RF</c:v>
                </c:pt>
                <c:pt idx="2">
                  <c:v>GBT</c:v>
                </c:pt>
              </c:strCache>
            </c:strRef>
          </c:cat>
          <c:val>
            <c:numRef>
              <c:f>Sheet1!$C$2:$C$4</c:f>
              <c:numCache>
                <c:formatCode>General</c:formatCode>
                <c:ptCount val="3"/>
                <c:pt idx="0">
                  <c:v>0.603</c:v>
                </c:pt>
                <c:pt idx="1">
                  <c:v>0.672</c:v>
                </c:pt>
                <c:pt idx="2">
                  <c:v>0.679</c:v>
                </c:pt>
              </c:numCache>
            </c:numRef>
          </c:val>
        </c:ser>
        <c:dLbls>
          <c:numFmt formatCode="0.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0.8"/>
          <c:min val="0.5"/>
        </c:scaling>
        <c:delete val="0"/>
        <c:axPos val="l"/>
        <c:majorGridlines>
          <c:spPr>
            <a:ln w="6350">
              <a:solidFill>
                <a:srgbClr val="D1D1D1"/>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[0:00-0:20] Good morning. My project asks a simple, practical question: can we tell, before a plane leaves the gate, whether it will arrive late? I used Apache Spark on every U.S. domestic flight from 2025, 7,001,619 of them, and compared three machine learning models.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[0:20-0:55] Delays are expensive: a U.S. study put the cost at around 33 billion dollars in 2007 alone. The industry rule is simple: 15 minutes or more late counts as delayed. BTS publishes a record for every domestic flight, which gives millions of labelled examples. If we can flag risky flights early, airlines can re-plan crews and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[0:55-1:25] So the question is: using only what is known before departure, will this flight be 15 or more minutes late? That 'before departure' part matters. Many online examples use departure delay as an input, which is basically cheating, because you only know it once the plane has gone. My approach: Spark for the whole year of data, schedule-based features, and three MLlib classifiers compared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[1:25-1:50] Five objectives: ingest and clean everything in Spark, keep the features leakage-free, train three MLlib models, evaluate them properly for an imbalanced problem, and show how it scales. The scope is all 2025 U.S. domestic flights, schedule information only, run on a free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[1:50-2:25] The data is the official BTS on-time table: twelve monthly files, 3.17 gigabytes, 7,001,619 flights. Each file has about 110 columns but I only load 17, which I'll explain under leakage. After cleaning, 22.31% of flights are delayed, so the classes are imbalanced: a model that always says 'on time' already gets 77.70% accuracy. Converting the CSVs to Parquet once made the same query 25.1x faster.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[2:25-3:05] Two patterns shaped my features. On the left: only about 9 percent of 5am departures arrive late, but by 7pm it's about a third. On the right: the later the leg of the day for an aircraft, and the tighter its scheduled turnaround, the more likely it is to be late. Delays roll forward through an aircraft's day, so I built features that capture exactly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[3:05-3:40] Here is the whole pipeline. The twelve files sit in Google Drive. Spark reads each month, maps the column names, keeps only the allowed columns and unions them. Everything is written once to Parquet, then schedule features, cleaning and the label. The second row is the machine learning part: split, encode, train, tune, evaluate, and export everything for the report.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[3:40-3:55] The stack: Spark through PySpark, with MLlib for the models and Spark SQL plus Parquet for the data work, Python for plotting, all running on Google Colab with the data and checkpoints in Google Drive.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[3:55-4:40] Cleaning followed the brief: remove cancelled and diverted flights and rows without an arrival delay, then duplicates and impossible values, leaving 6,879,483 flights. The bigger issue is leakage. Columns like wheels-on time or the delay-cause minutes are only known after landing, so they're never loaded. I also excluded departure delay and taxi-out. One subtle point: if you count flights per hour after removing cancellations, a stormy day looks quiet and the feature leaks the outcome, so those counts are computed on the full schedule first.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[4:40-5:20] Four groups of features, all known in advance: calendar and time, including distance to a public holiday; basic flight details; congestion, meaning how many flights are scheduled at the same airport in the same hour; and aircraft rotation, built with a Spark window function over each tail number. Airports and routes have thousands of values, so I replaced them with their historical delay rate, fitted on the training data only.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[5:20-6:00] The training pipeline: a random 70/10/20 split, target encoding fitted on training data only, then the features are assembled and standardised. Because only about one flight in five is delayed, every model gets class weights. Each model is tuned with 3-fold cross-validation on PR-AUC, the decision threshold is chosen on the validation set, and the test set is touched once at the end, plus a stricter temporal test I'll show shortly.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[6:00-6:55] These are the test results. Gradient-boosted trees had the best F1, 0.479, and the best ROC-AUC, 0.735. Look at the last row: a 'model' that always says on time gets 77.70% accuracy and catches zero delays. That's why accuracy alone is misleading here, and why I focus on recall, F1 and PR-AUC. Both tree models clearly beat logistic regression, so the non-linear interactions matter. And boosting wins twice: more accurate than the tuned random forest, and less than a quarter of the training time.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[6:55-7:50] On the left, permutation importance: how much accuracy drops when one feature is shuffled. The two that matter most are the historical delay rate of that airport at that hour, and the scheduled turnaround time, which is the delay-propagation story again. On the right is the stricter test: train on January to September and predict October to December. ROC-AUC drops from 0.735 to 0.679 for boosting, and logistic regression collapses because it never saw those months. A random split lets the model learn specific storm days; the temporal number is the honest one for real use.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[7:50-8:30] A few real challenges. Colab disconnected my first full run after more than three hours, so I added checkpoints and a resume option. On Colab's Spark 4, the feature-importance labels were silently shifted; I only caught it because logistic regression claimed day-of-week was the strongest feature, which made no sense. Plus leakage, imbalance, and fitting 3 gigabytes into a 12 gigabyte machine.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[8:30-9:00] Next steps: weather forecasts are the biggest missing signal; XGBoost on GPUs; the full training set on a real Dataproc cluster; and Spark streaming to update predictions on the day as earlier flights report delays.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[9:00-9:40] To wrap up: a full, leakage-free Spark pipeline over every 2025 domestic flight. Gradient-boosted trees performed best. The biggest lessons were about evaluation, not algorithms: handling imbalance, choosing the threshold, and testing on future months. And schedule-only prediction has a ceiling, so weather data and on-the-day updates are where the next gains are.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[9:40-10:00] Thank you, I'm happy to take questions.</a:t>
            </a:r>
          </a:p>
          <a:p/>
          <a:p>
            <a:r>
              <a:t>LIKELY QUESTIONS (prepare, don't read):</a:t>
            </a:r>
          </a:p>
          <a:p>
            <a:r>
              <a:t>- Why not use departure delay? It's only known after the plane leaves, so the model would be useless for planning, and it inflates accuracy (leakage).</a:t>
            </a:r>
          </a:p>
          <a:p>
            <a:r>
              <a:t>- Why is accuracy not enough? Always predicting "on time" already gets 77.70%; we care about catching delays (recall) without too many false alarms (precision).</a:t>
            </a:r>
          </a:p>
          <a:p>
            <a:r>
              <a:t>- Why target encoding? Hundreds of airports and thousands of routes; one-hot would explode the feature space, and Spark trees need maxBins &gt;= categories. Fitted on training data only.</a:t>
            </a:r>
          </a:p>
          <a:p>
            <a:r>
              <a:t>- Why did you sample the training data? Colab has 2 cores and ~12 GB RAM; validation and test were always scored in full. On a cluster I'd use everything.</a:t>
            </a:r>
          </a:p>
          <a:p>
            <a:r>
              <a:t>- How would this scale? Same code, different master URL; LR and RF parallelise well, GBT is sequential across rounds. GPUs via RAPIDS or XGBoost-Spark. A full scan was 2.41x faster on 2 cores than 1.</a:t>
            </a:r>
          </a:p>
          <a:p>
            <a:r>
              <a:t>- Could tail numbers leak? Slightly: aircraft can be swapped on the day. In production you'd use the planned rotation from the airline.</a:t>
            </a:r>
          </a:p>
          <a:p>
            <a:r>
              <a:t>- Why the temporal drop? The random split lets the model learn specific bad days; Oct-Dec months were never seen in training.</a:t>
            </a:r>
          </a:p>
          <a:p/>
          <a:p>
            <a:r>
              <a:t>Key references: Ball et al. (2010); Bureau of Transportation Statistics (2026); Kaufman et al. (2012); Meng et al. (2016); Saito &amp; Rehmsmeier (2015); Zaharia et al. (2016).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chart" Target="../charts/chart4.xml"/><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[Your name]  ·  [Student ID]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 Questions?</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leakage-free, pre-departure features</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all known before departure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
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
(train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
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
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
(PR-AUC)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
(Spark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
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
+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01168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a:t>
            </a:r>
            <a:r>
              <a:rPr sz="1200" b="0">
                <a:solidFill>
                  <a:srgbClr val="1F1F1F"/>
                </a:solidFill>
              </a:rPr>
              <a:t>Gradient-Boosted Trees (F1 0.479, ROC-AUC 0.735)</a:t>
            </a:r>
          </a:p>
          <a:p>
            <a:pPr algn="l" marL="228600" indent="-182880">
              <a:spcAft>
                <a:spcPts val="800"/>
              </a:spcAft>
              <a:buChar char="•"/>
            </a:pPr>
            <a:r>
              <a:rPr sz="1200" b="1">
                <a:solidFill>
                  <a:srgbClr val="1F1F1F"/>
                </a:solidFill>
              </a:rPr>
              <a:t>Tuning: </a:t>
            </a:r>
            <a:r>
              <a:rPr sz="1200" b="0">
                <a:solidFill>
                  <a:srgbClr val="1F1F1F"/>
                </a:solidFill>
              </a:rPr>
              <a:t>Random Forest 0.705 → 0.715 ROC-AUC, but twice the training time</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2072931"/>
            <a:ext cx="4206240" cy="2163496"/>
          </a:xfrm>
          <a:prstGeom prst="rect">
            <a:avLst/>
          </a:prstGeom>
        </p:spPr>
      </p:pic>
      <p:graphicFrame>
        <p:nvGraphicFramePr>
          <p:cNvPr id="4" name="Chart 3"/>
          <p:cNvGraphicFramePr>
            <a:graphicFrameLocks noGrp="1"/>
          </p:cNvGraphicFramePr>
          <p:nvPr/>
        </p:nvGraphicFramePr>
        <p:xfrm>
          <a:off x="4709160" y="1600200"/>
          <a:ext cx="3931920" cy="3108960"/>
        </p:xfrm>
        <a:graphic>
          <a:graphicData uri="http://schemas.openxmlformats.org/drawingml/2006/chart">
            <c:chart xmlns:c="http://schemas.openxmlformats.org/drawingml/2006/chart" r:id="rId3"/>
          </a:graphicData>
        </a:graphic>
      </p:graphicFrame>
      <p:sp>
        <p:nvSpPr>
          <p:cNvPr id="5" name="TextBox 4"/>
          <p:cNvSpPr txBox="1"/>
          <p:nvPr/>
        </p:nvSpPr>
        <p:spPr>
          <a:xfrm>
            <a:off x="365760" y="484632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Top drivers: </a:t>
            </a:r>
            <a:r>
              <a:rPr sz="1300" b="0">
                <a:solidFill>
                  <a:srgbClr val="1F1F1F"/>
                </a:solidFill>
              </a:rPr>
              <a:t>the airport's historical delay rate at that hour, and the scheduled turnaround time.</a:t>
            </a:r>
          </a:p>
          <a:p>
            <a:pPr algn="l" marL="228600" indent="-182880">
              <a:spcAft>
                <a:spcPts val="800"/>
              </a:spcAft>
              <a:buChar char="•"/>
            </a:pPr>
            <a:r>
              <a:rPr sz="1300" b="1">
                <a:solidFill>
                  <a:srgbClr val="1F1F1F"/>
                </a:solidFill>
              </a:rPr>
              <a:t>Honest test: </a:t>
            </a:r>
            <a:r>
              <a:rPr sz="1300" b="0">
                <a:solidFill>
                  <a:srgbClr val="1F1F1F"/>
                </a:solidFill>
              </a:rPr>
              <a:t>trained on Jan–Sep, tested on Oct–Dec, GBT ROC-AUC drops 0.735 → 0.679; the random split let trees memorise specific bad days.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64592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60020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Colab disconnected after 3+ hours</a:t>
            </a:r>
          </a:p>
        </p:txBody>
      </p:sp>
      <p:sp>
        <p:nvSpPr>
          <p:cNvPr id="5" name="TextBox 4"/>
          <p:cNvSpPr txBox="1"/>
          <p:nvPr/>
        </p:nvSpPr>
        <p:spPr>
          <a:xfrm>
            <a:off x="1005840" y="1947672"/>
            <a:ext cx="7589520" cy="457200"/>
          </a:xfrm>
          <a:prstGeom prst="rect">
            <a:avLst/>
          </a:prstGeom>
          <a:noFill/>
        </p:spPr>
        <p:txBody>
          <a:bodyPr wrap="square" anchor="t" lIns="0" rIns="0" tIns="0" bIns="0">
            <a:spAutoFit/>
          </a:bodyPr>
          <a:lstStyle/>
          <a:p>
            <a:pPr algn="l">
              <a:spcAft>
                <a:spcPts val="400"/>
              </a:spcAft>
            </a:pPr>
            <a:r>
              <a:rPr sz="1200" b="0">
                <a:solidFill>
                  <a:srgbClr val="5A5A5A"/>
                </a:solidFill>
              </a:rPr>
              <a:t>Parquet checkpoint in Drive, results saved after every model, and a resume option that reuses tuned settings</a:t>
            </a:r>
          </a:p>
        </p:txBody>
      </p:sp>
      <p:sp>
        <p:nvSpPr>
          <p:cNvPr id="6" name="Rounded Rectangle 5"/>
          <p:cNvSpPr/>
          <p:nvPr/>
        </p:nvSpPr>
        <p:spPr>
          <a:xfrm>
            <a:off x="365760" y="251460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6888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A silent bug on Spark 4</a:t>
            </a:r>
          </a:p>
        </p:txBody>
      </p:sp>
      <p:sp>
        <p:nvSpPr>
          <p:cNvPr id="8" name="TextBox 7"/>
          <p:cNvSpPr txBox="1"/>
          <p:nvPr/>
        </p:nvSpPr>
        <p:spPr>
          <a:xfrm>
            <a:off x="1005840" y="2816352"/>
            <a:ext cx="7589520" cy="457200"/>
          </a:xfrm>
          <a:prstGeom prst="rect">
            <a:avLst/>
          </a:prstGeom>
          <a:noFill/>
        </p:spPr>
        <p:txBody>
          <a:bodyPr wrap="square" anchor="t" lIns="0" rIns="0" tIns="0" bIns="0">
            <a:spAutoFit/>
          </a:bodyPr>
          <a:lstStyle/>
          <a:p>
            <a:pPr algn="l">
              <a:spcAft>
                <a:spcPts val="400"/>
              </a:spcAft>
            </a:pPr>
            <a:r>
              <a:rPr sz="1200" b="0">
                <a:solidFill>
                  <a:srgbClr val="5A5A5A"/>
                </a:solidFill>
              </a:rPr>
              <a:t>Feature-importance labels were shifted on Colab's Spark 4.0; a sanity check on the chart caught it, now fixed with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45720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5195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0624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53712"/>
            <a:ext cx="7589520" cy="45720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12064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07492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422392"/>
            <a:ext cx="7589520" cy="45720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the biggest missing signal</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 (RAPIDS)</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training data on Google Dataproc, wider tuning grids</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Streaming</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Spark Structured Streaming to update predictions on the day</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encoding</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to avoid in-sample bias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 leakage-free Apache Spark pipeline over all 7,001,619 U.S. domestic flights of 2025.</a:t>
            </a:r>
          </a:p>
          <a:p>
            <a:pPr algn="l" marL="228600" indent="-182880">
              <a:spcAft>
                <a:spcPts val="800"/>
              </a:spcAft>
              <a:buChar char="•"/>
            </a:pPr>
            <a:r>
              <a:rPr sz="1600" b="0">
                <a:solidFill>
                  <a:srgbClr val="1F1F1F"/>
                </a:solidFill>
              </a:rPr>
              <a:t>Gradient-Boosted Trees performed best (F1 0.479, ROC-AUC 0.735), clearly ahead of Logistic Regression, and far cheaper to train than a tuned Random Forest.</a:t>
            </a:r>
          </a:p>
          <a:p>
            <a:pPr algn="l" marL="228600" indent="-182880">
              <a:spcAft>
                <a:spcPts val="800"/>
              </a:spcAft>
              <a:buChar char="•"/>
            </a:pPr>
            <a:r>
              <a:rPr sz="1600" b="0">
                <a:solidFill>
                  <a:srgbClr val="1F1F1F"/>
                </a:solidFill>
              </a:rPr>
              <a:t>Accuracy is misleading on imbalanced data: class weights, a tuned threshold, PR-AUC and an honest temporal test matter more.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Schedule-only prediction is possible but limited: weather and on-the-day updates are the way forward.</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