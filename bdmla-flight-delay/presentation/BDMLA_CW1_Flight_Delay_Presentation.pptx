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1d76b9d-1ff7-0622-3365-e7f7dade410b}">
          <p14:sldIdLst>
            <p14:sldId id="256"/>
            <p14:sldId id="257"/>
            <p14:sldId id="258"/>
          </p14:sldIdLst>
        </p14:section>
        <p14:section name="Data and architecture" id="{082d4b23-6e2f-e58b-206e-8b1b0eea222e}">
          <p14:sldIdLst>
            <p14:sldId id="259"/>
            <p14:sldId id="260"/>
            <p14:sldId id="261"/>
          </p14:sldIdLst>
        </p14:section>
        <p14:section name="Method" id="{4dd0b947-594b-8ef1-7268-3d04f8cd707c}">
          <p14:sldIdLst>
            <p14:sldId id="262"/>
            <p14:sldId id="263"/>
            <p14:sldId id="264"/>
          </p14:sldIdLst>
        </p14:section>
        <p14:section name="Results" id="{6a0addf2-b1f0-fb82-da54-88cfe6173d5d}">
          <p14:sldIdLst>
            <p14:sldId id="265"/>
            <p14:sldId id="266"/>
            <p14:sldId id="267"/>
          </p14:sldIdLst>
        </p14:section>
        <p14:section name="Close" id="{974fd555-f846-9ebe-6b30-2dc8f5880a6a}">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Good morning. My project asks a simple question with a practical use: can we tell, before a plane leaves the gate, whether it is going to arrive late? I used Apache Spark on every U.S. domestic flight from 2025 and compared three machine learning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[0:20-1:05] Delays are expensive. A U.S. study put the total cost at around 33 billion dollars in 2007 alone, across airlines, passengers and lost demand. The industry uses a simple rule: if you arrive 15 minutes or more after schedule, you are delayed. The Bureau of Transportation Statistics publishes a record for every domestic flight, about [RAW_ROWS] in 2025, which gives us millions of labelled examples. Knowing earlier which flights are at risk helps airlines re-plan crews and aircraft, helps passengers with connections, and helps airports manage 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[1:05-1:45] So the problem is: using only what is known before departure, will this flight arrive 15 or more minutes late? That "before departure" part matters. Many online examples use departure delay as an input, which is basically cheating, because you only know it once the plane has left. I set five objectives: ingest and clean all twelve files in Spark, keep the features leakage-free, train three MLlib models, evaluate them properly for an imbalanced problem, and show how it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The data is the official BTS on-time table. I downloaded all twelve months of 2025, about 3 gigabytes of CSV and [RAW_ROWS] flights. Each file has around 110 columns, but I only load 17, which I'll come back to when I talk about leakage. After cleaning, about [DELAY_RATE] of flights are delayed, so the classes are imbalanced. The chart shows one of the clearest patterns: [CHECK the chart; typically] delays build up through the day, because a late aircraft carries its delay into its next flights.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[2:30-3:10] Here's the whole pipeline. The twelve files sit in Google Drive. Spark reads each one, maps the column names, keeps only the allowed columns and unions them. Everything is then written once to Parquet, which is the key performance step. Next come the schedule features, cleaning and the label. The second row is the machine learning part: split, encode, train three models, tune them, evaluate, and export all the figures and tables that feed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[3:10-4:00] A quick look under the hood. Spark breaks the job into stages and tasks, one per data partition. In Colab the driver and executor share one machine, but the same code runs on a cluster just by changing the master URL. The changes that mattered most: converting to Parquet once, which made the same query [PARQUET_SPEEDUP] faster; reducing shuffle partitions; broadcasting small lookup tables; and computing all metrics inside Spark. I also ran a small scaling test: going from 1 to [SCALE_MAX_CORES] cores made logistic regression [SCALE_LR_SPEEDUP]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[4:00-4:50] Cleaning followed the brief: remove cancelled and diverted flights and rows with no arrival delay, plus duplicates and impossible values. The funnel shows how many rows each step removed. The bigger issue is leakage. Columns like wheels-on time or the delay-cause minutes are only known after landing, so they are never loaded. I also removed departure delay and taxi-out, which were not on the original list but would make the model useless in practice. One subtle point: if you count flights per hour after removing cancellations, a stormy day looks quiet, and the feature leaks the outcome. So I compute those counts on the full schedule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[4:50-5:35] I built four groups of features, all known in advance. Calendar and time, including how close the date is to a public holiday. Basic flight details. Congestion: how many flights are scheduled at the same airport in the same hour. And the one I think is most interesting: aircraft rotation. Using a Spark window function over each tail number, I know which leg of the day this is and how much scheduled turnaround time it has, because delays roll forward through the day. Airports and routes have thousands of values, so I replaced them with their historical delay rate, fitted on the training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[5:35-6:20] I compared three models from Spark MLlib, all using exactly the same features. Logistic regression is the simple, explainable baseline. Random forest builds many trees independently. Gradient-boosted trees build them one after another, each fixing the last one's mistakes. That also affects scaling: boosting is the hardest to parallelise. Because only about one flight in five is delayed, I used class weights and chose the decision threshold on a separate validation set. Each model was tuned with 3-fold cross-validation, optimising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[6:20-7:15] These are the test results. [BEST_F1_MODEL] had the best F1, [BEST_F1_VALUE], and [BEST_AUC_MODEL] the best ROC-AUC. Notice the last row: a "model" that always says on time gets [BASELINE_ACCURACY] accuracy and catches zero delays. That's why accuracy alone is misleading here, and why I focus on recall, F1 and PR-AUC. On training time, [FASTEST_MODEL] was quickest and [SLOWEST_MODEL] slowest. [CHECK: one sentence on whether the extra accuracy of the tree models is worth the training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[7:15-8:05] On the left, the features the boosted model relied on most: [GBT_TOP_FEATURE_1], [GBT_TOP_FEATURE_2] and [GBT_TOP_FEATURE_3]. [CHECK: one sentence on why these make sense, e.g. route and time-of-day history, rotation.] I also checked this with permutation importance, which [agrees / partly agrees]. On the right is the stricter test: train on January to September, predict October to December. A random split lets the model see the same storm days in training and test, so the temporal score is the honest one for real use. [Describe the size of the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[8:05-8:55] Three things I took away. First, the accuracy trap: doing nothing already scores [BASELINE_ACCURACY], so you have to look at recall and F1. Second, where you set the threshold is really a business decision. If you're positioning spare crews you can live with false alarms, but if you're texting passengers you need precision. Third, accuracy versus cost: [FASTEST_MODEL] trains fastest, and boosting is the hardest to scale. The main limitations are no weather data, possible small leakage from same-day aircraft swaps, and training on a sample because of Colab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[8:55-9:40] To wrap up: I built a full, leakage-free Spark pipeline over every 2025 U.S. domestic flight, and [BEST_F1_MODEL] performed best on F1. The biggest lessons were about evaluation, not algorithms: handling the imbalance and choosing the threshold mattered more than chasing accuracy. Next, I would add weather forecasts, which is the biggest missing signal, try XGBoost on GPUs, run the full data on a real cluster, and use Spark streaming to update predictions on the day as earlier flights report delays.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[9:40-10:00] Thank you, I'm happy to take questions.
LIKELY QUESTIONS (prepare, don't read):
- Why not use departure delay? It's only known after the plane leaves, so the model would be useless for planning, and it inflates accuracy (leakage).
- Why is accuracy not enough? Always predicting "on time" already gets [BASELINE_ACCURACY]; we care about catching delays (recall) without too many false alarms (precision).
- Why target encoding? Hundreds of airports and thousands of routes; one-hot would explode the feature space and Spark trees need maxBins &gt;= categories. Fitted on training data only.
- Why did you sample the training data? Colab has 2 cores and ~12 GB RAM; validation and test were always scored in full. On a cluster I'd use everything.
- How would this scale? Same code, different master URL; LR and RF parallelise well, GBT is sequential across rounds. GPUs via RAPIDS or XGBoost-Spark.
- Could tail numbers leak? Slightly: aircraft can be swapped on the day. In production you'd use the planned rotation from the airline's schedule.
- Why PR-AUC for tuning? With a rare positive class, PR-AUC reflects performance on delays better than ROC-AUC.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73952"/>
            <a:ext cx="6400800" cy="274320"/>
          </a:xfrm>
          <a:prstGeom prst="rect">
            <a:avLst/>
          </a:prstGeom>
          <a:noFill/>
          <a:ln/>
        </p:spPr>
        <p:txBody>
          <a:bodyPr wrap="square" lIns="0" tIns="0" rIns="0" bIns="0" rtlCol="0" anchor="ctr"/>
          <a:lstStyle/>
          <a:p>
            <a:pPr indent="0" marL="0">
              <a:buNone/>
            </a:pPr>
            <a:r>
              <a:rPr lang="en-US" sz="1000" dirty="0">
                <a:solidFill>
                  <a:schemeClr val="accent6"/>
                </a:solidFill>
              </a:rPr>
              <a:t>Flight delay prediction with Apache Spark  ·  M33877 BDMLA</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lIns="0" tIns="0" rIns="0" bIns="0" rtlCol="0" anchor="b"/>
          <a:lstStyle/>
          <a:p>
            <a:pPr algn="l" indent="0" marL="0">
              <a:buNone/>
            </a:pPr>
            <a:r>
              <a:rPr lang="en-US" sz="4400" b="1" dirty="0">
                <a:solidFill>
                  <a:schemeClr val="bg1"/>
                </a:solidFill>
              </a:rPr>
              <a:t>Predicting Airline Flight Delays Using Apache Spark</a:t>
            </a: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lIns="0" tIns="0" rIns="0" bIns="0" rtlCol="0" anchor="t"/>
          <a:lstStyle/>
          <a:p>
            <a:pPr algn="l" indent="0" marL="0">
              <a:buNone/>
            </a:pPr>
            <a:r>
              <a:rPr lang="en-US" sz="1800" dirty="0">
                <a:solidFill>
                  <a:schemeClr val="accent5"/>
                </a:solidFill>
              </a:rPr>
              <a:t>Logistic Regression vs Random Forest vs Gradient-Boosted Trees on the full 2025 U.S. flight record</a:t>
            </a:r>
            <a:endParaRPr lang="en-US" sz="1800" dirty="0"/>
          </a:p>
          <a:p>
            <a:pPr algn="l" indent="0" marL="0">
              <a:buNone/>
            </a:pPr>
            <a:r>
              <a:rPr lang="en-US" sz="1000" dirty="0">
                <a:solidFill>
                  <a:schemeClr val="accent5"/>
                </a:solidFill>
              </a:rPr>
              <a:t> </a:t>
            </a:r>
            <a:endParaRPr lang="en-US" sz="1800" dirty="0"/>
          </a:p>
          <a:p>
            <a:pPr algn="l" indent="0" marL="0">
              <a:buNone/>
            </a:pPr>
            <a:r>
              <a:rPr lang="en-US" sz="1400" dirty="0">
                <a:solidFill>
                  <a:srgbClr val="000000"/>
                </a:solidFill>
                <a:highlight>
                  <a:srgbClr val="FFFF00"/>
                </a:highlight>
              </a:rPr>
              <a:t>[Your name / student ID]  ·  M33877 Big Data and Machine Learning Applications  ·  November 2026</a:t>
            </a:r>
            <a:endParaRPr lang="en-US" sz="1800" dirty="0"/>
          </a:p>
        </p:txBody>
      </p:sp>
      <p:sp>
        <p:nvSpPr>
          <p:cNvPr id="4" name="hero-circle"/>
          <p:cNvSpPr/>
          <p:nvPr/>
        </p:nvSpPr>
        <p:spPr>
          <a:xfrm>
            <a:off x="8778240" y="1920240"/>
            <a:ext cx="2651760" cy="2651760"/>
          </a:xfrm>
          <a:prstGeom prst="ellipse">
            <a:avLst/>
          </a:prstGeom>
          <a:solidFill>
            <a:srgbClr val="EB6834"/>
          </a:solidFill>
          <a:ln w="12700">
            <a:solidFill>
              <a:srgbClr val="EB6834"/>
            </a:solidFill>
            <a:prstDash val="solid"/>
          </a:ln>
        </p:spPr>
      </p:sp>
      <p:pic>
        <p:nvPicPr>
          <p:cNvPr id="5" name="hero-icon" descr="preencoded.png">    </p:cNvPr>
          <p:cNvPicPr>
            <a:picLocks noChangeAspect="1"/>
          </p:cNvPicPr>
          <p:nvPr/>
        </p:nvPicPr>
        <p:blipFill>
          <a:blip r:embed="rId1"/>
          <a:stretch>
            <a:fillRect/>
          </a:stretch>
        </p:blipFill>
        <p:spPr>
          <a:xfrm>
            <a:off x="9441180" y="2583180"/>
            <a:ext cx="1325880" cy="1325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Delays are costly, and mostly a surprise</a:t>
            </a:r>
            <a:endParaRPr lang="en-US" sz="3200" dirty="0"/>
          </a:p>
        </p:txBody>
      </p:sp>
      <p:sp>
        <p:nvSpPr>
          <p:cNvPr id="3" name="stat-0"/>
          <p:cNvSpPr/>
          <p:nvPr/>
        </p:nvSpPr>
        <p:spPr>
          <a:xfrm>
            <a:off x="548640" y="1417320"/>
            <a:ext cx="4937760" cy="1280160"/>
          </a:xfrm>
          <a:prstGeom prst="roundRect">
            <a:avLst>
              <a:gd name="adj" fmla="val 5714"/>
            </a:avLst>
          </a:prstGeom>
          <a:solidFill>
            <a:schemeClr val="bg2"/>
          </a:solidFill>
          <a:ln w="12700">
            <a:solidFill>
              <a:schemeClr val="bg2"/>
            </a:solidFill>
            <a:prstDash val="solid"/>
          </a:ln>
        </p:spPr>
      </p:sp>
      <p:sp>
        <p:nvSpPr>
          <p:cNvPr id="4" name="Text 2"/>
          <p:cNvSpPr txBox="1"/>
          <p:nvPr/>
        </p:nvSpPr>
        <p:spPr>
          <a:xfrm>
            <a:off x="822960" y="1554480"/>
            <a:ext cx="2377440" cy="1005840"/>
          </a:xfrm>
          <a:prstGeom prst="rect">
            <a:avLst/>
          </a:prstGeom>
          <a:noFill/>
          <a:ln/>
        </p:spPr>
        <p:txBody>
          <a:bodyPr wrap="square" lIns="0" tIns="0" rIns="0" bIns="0" rtlCol="0" anchor="ctr">
            <a:normAutofit/>
          </a:bodyPr>
          <a:lstStyle/>
          <a:p>
            <a:pPr indent="0" marL="0">
              <a:buNone/>
            </a:pPr>
            <a:r>
              <a:rPr lang="en-US" sz="3600" b="1" dirty="0">
                <a:solidFill>
                  <a:srgbClr val="EB6834"/>
                </a:solidFill>
              </a:rPr>
              <a:t>$32.9B</a:t>
            </a:r>
            <a:endParaRPr lang="en-US" sz="3600" dirty="0"/>
          </a:p>
        </p:txBody>
      </p:sp>
      <p:sp>
        <p:nvSpPr>
          <p:cNvPr id="5" name="Text 3"/>
          <p:cNvSpPr txBox="1"/>
          <p:nvPr/>
        </p:nvSpPr>
        <p:spPr>
          <a:xfrm>
            <a:off x="3246120" y="1554480"/>
            <a:ext cx="2103120" cy="1005840"/>
          </a:xfrm>
          <a:prstGeom prst="rect">
            <a:avLst/>
          </a:prstGeom>
          <a:noFill/>
          <a:ln/>
        </p:spPr>
        <p:txBody>
          <a:bodyPr wrap="square" lIns="0" tIns="0" rIns="0" bIns="0" rtlCol="0" anchor="ctr"/>
          <a:lstStyle/>
          <a:p>
            <a:pPr indent="0" marL="0">
              <a:buNone/>
            </a:pPr>
            <a:r>
              <a:rPr lang="en-US" sz="1300" dirty="0">
                <a:solidFill>
                  <a:schemeClr val="tx1"/>
                </a:solidFill>
              </a:rPr>
              <a:t>cost of U.S. flight delays</a:t>
            </a:r>
            <a:endParaRPr lang="en-US" sz="1300" dirty="0"/>
          </a:p>
          <a:p>
            <a:pPr indent="0" marL="0">
              <a:buNone/>
            </a:pPr>
            <a:r>
              <a:rPr lang="en-US" sz="1300" dirty="0">
                <a:solidFill>
                  <a:schemeClr val="tx1"/>
                </a:solidFill>
              </a:rPr>
              <a:t>in 2007 (Ball et al., 2010)</a:t>
            </a:r>
            <a:endParaRPr lang="en-US" sz="1300" dirty="0"/>
          </a:p>
        </p:txBody>
      </p:sp>
      <p:sp>
        <p:nvSpPr>
          <p:cNvPr id="6" name="stat-1"/>
          <p:cNvSpPr/>
          <p:nvPr/>
        </p:nvSpPr>
        <p:spPr>
          <a:xfrm>
            <a:off x="548640" y="2926080"/>
            <a:ext cx="4937760" cy="1280160"/>
          </a:xfrm>
          <a:prstGeom prst="roundRect">
            <a:avLst>
              <a:gd name="adj" fmla="val 5714"/>
            </a:avLst>
          </a:prstGeom>
          <a:solidFill>
            <a:schemeClr val="bg2"/>
          </a:solidFill>
          <a:ln w="12700">
            <a:solidFill>
              <a:schemeClr val="bg2"/>
            </a:solidFill>
            <a:prstDash val="solid"/>
          </a:ln>
        </p:spPr>
      </p:sp>
      <p:sp>
        <p:nvSpPr>
          <p:cNvPr id="7" name="Text 5"/>
          <p:cNvSpPr txBox="1"/>
          <p:nvPr/>
        </p:nvSpPr>
        <p:spPr>
          <a:xfrm>
            <a:off x="822960" y="3063240"/>
            <a:ext cx="2377440" cy="1005840"/>
          </a:xfrm>
          <a:prstGeom prst="rect">
            <a:avLst/>
          </a:prstGeom>
          <a:noFill/>
          <a:ln/>
        </p:spPr>
        <p:txBody>
          <a:bodyPr wrap="square" lIns="0" tIns="0" rIns="0" bIns="0" rtlCol="0" anchor="ctr">
            <a:normAutofit/>
          </a:bodyPr>
          <a:lstStyle/>
          <a:p>
            <a:pPr indent="0" marL="0">
              <a:buNone/>
            </a:pPr>
            <a:r>
              <a:rPr lang="en-US" sz="3600" b="1" dirty="0">
                <a:solidFill>
                  <a:srgbClr val="2A78D6"/>
                </a:solidFill>
              </a:rPr>
              <a:t>15 min</a:t>
            </a:r>
            <a:endParaRPr lang="en-US" sz="3600" dirty="0"/>
          </a:p>
        </p:txBody>
      </p:sp>
      <p:sp>
        <p:nvSpPr>
          <p:cNvPr id="8" name="Text 6"/>
          <p:cNvSpPr txBox="1"/>
          <p:nvPr/>
        </p:nvSpPr>
        <p:spPr>
          <a:xfrm>
            <a:off x="3246120" y="3063240"/>
            <a:ext cx="2103120" cy="1005840"/>
          </a:xfrm>
          <a:prstGeom prst="rect">
            <a:avLst/>
          </a:prstGeom>
          <a:noFill/>
          <a:ln/>
        </p:spPr>
        <p:txBody>
          <a:bodyPr wrap="square" lIns="0" tIns="0" rIns="0" bIns="0" rtlCol="0" anchor="ctr"/>
          <a:lstStyle/>
          <a:p>
            <a:pPr indent="0" marL="0">
              <a:buNone/>
            </a:pPr>
            <a:r>
              <a:rPr lang="en-US" sz="1300" dirty="0">
                <a:solidFill>
                  <a:schemeClr val="tx1"/>
                </a:solidFill>
              </a:rPr>
              <a:t>BTS definition of a</a:t>
            </a:r>
            <a:endParaRPr lang="en-US" sz="1300" dirty="0"/>
          </a:p>
          <a:p>
            <a:pPr indent="0" marL="0">
              <a:buNone/>
            </a:pPr>
            <a:r>
              <a:rPr lang="en-US" sz="1300" dirty="0">
                <a:solidFill>
                  <a:schemeClr val="tx1"/>
                </a:solidFill>
              </a:rPr>
              <a:t>"delayed" arrival</a:t>
            </a:r>
            <a:endParaRPr lang="en-US" sz="1300" dirty="0"/>
          </a:p>
        </p:txBody>
      </p:sp>
      <p:sp>
        <p:nvSpPr>
          <p:cNvPr id="9" name="stat-2"/>
          <p:cNvSpPr/>
          <p:nvPr/>
        </p:nvSpPr>
        <p:spPr>
          <a:xfrm>
            <a:off x="548640" y="4434840"/>
            <a:ext cx="4937760" cy="1280160"/>
          </a:xfrm>
          <a:prstGeom prst="roundRect">
            <a:avLst>
              <a:gd name="adj" fmla="val 5714"/>
            </a:avLst>
          </a:prstGeom>
          <a:solidFill>
            <a:schemeClr val="bg2"/>
          </a:solidFill>
          <a:ln w="12700">
            <a:solidFill>
              <a:schemeClr val="bg2"/>
            </a:solidFill>
            <a:prstDash val="solid"/>
          </a:ln>
        </p:spPr>
      </p:sp>
      <p:sp>
        <p:nvSpPr>
          <p:cNvPr id="10" name="Text 8"/>
          <p:cNvSpPr txBox="1"/>
          <p:nvPr/>
        </p:nvSpPr>
        <p:spPr>
          <a:xfrm>
            <a:off x="822960" y="4572000"/>
            <a:ext cx="2377440" cy="1005840"/>
          </a:xfrm>
          <a:prstGeom prst="rect">
            <a:avLst/>
          </a:prstGeom>
          <a:noFill/>
          <a:ln/>
        </p:spPr>
        <p:txBody>
          <a:bodyPr wrap="square" lIns="0" tIns="0" rIns="0" bIns="0" rtlCol="0" anchor="ctr">
            <a:normAutofit/>
          </a:bodyPr>
          <a:lstStyle/>
          <a:p>
            <a:pPr indent="0" marL="0">
              <a:buNone/>
            </a:pPr>
            <a:r>
              <a:rPr lang="en-US" sz="3600" b="1" dirty="0">
                <a:solidFill>
                  <a:srgbClr val="000000"/>
                </a:solidFill>
                <a:highlight>
                  <a:srgbClr val="FFFF00"/>
                </a:highlight>
              </a:rPr>
              <a:t>[RAW_ROWS]</a:t>
            </a:r>
            <a:endParaRPr lang="en-US" sz="3600" dirty="0"/>
          </a:p>
        </p:txBody>
      </p:sp>
      <p:sp>
        <p:nvSpPr>
          <p:cNvPr id="11" name="Text 9"/>
          <p:cNvSpPr txBox="1"/>
          <p:nvPr/>
        </p:nvSpPr>
        <p:spPr>
          <a:xfrm>
            <a:off x="3246120" y="4572000"/>
            <a:ext cx="2103120" cy="1005840"/>
          </a:xfrm>
          <a:prstGeom prst="rect">
            <a:avLst/>
          </a:prstGeom>
          <a:noFill/>
          <a:ln/>
        </p:spPr>
        <p:txBody>
          <a:bodyPr wrap="square" lIns="0" tIns="0" rIns="0" bIns="0" rtlCol="0" anchor="ctr"/>
          <a:lstStyle/>
          <a:p>
            <a:pPr indent="0" marL="0">
              <a:buNone/>
            </a:pPr>
            <a:r>
              <a:rPr lang="en-US" sz="1300" dirty="0">
                <a:solidFill>
                  <a:schemeClr val="tx1"/>
                </a:solidFill>
              </a:rPr>
              <a:t>flights in 2025 BTS on-time data</a:t>
            </a:r>
            <a:endParaRPr lang="en-US" sz="1300" dirty="0"/>
          </a:p>
        </p:txBody>
      </p:sp>
      <p:sp>
        <p:nvSpPr>
          <p:cNvPr id="12" name="who-0-circle"/>
          <p:cNvSpPr/>
          <p:nvPr/>
        </p:nvSpPr>
        <p:spPr>
          <a:xfrm>
            <a:off x="6172200" y="1508760"/>
            <a:ext cx="822960" cy="822960"/>
          </a:xfrm>
          <a:prstGeom prst="ellipse">
            <a:avLst/>
          </a:prstGeom>
          <a:solidFill>
            <a:srgbClr val="13315C"/>
          </a:solidFill>
          <a:ln w="12700">
            <a:solidFill>
              <a:srgbClr val="13315C"/>
            </a:solidFill>
            <a:prstDash val="solid"/>
          </a:ln>
        </p:spPr>
      </p:sp>
      <p:pic>
        <p:nvPicPr>
          <p:cNvPr id="13" name="who-0-icon" descr="preencoded.png">    </p:cNvPr>
          <p:cNvPicPr>
            <a:picLocks noChangeAspect="1"/>
          </p:cNvPicPr>
          <p:nvPr/>
        </p:nvPicPr>
        <p:blipFill>
          <a:blip r:embed="rId1"/>
          <a:stretch>
            <a:fillRect/>
          </a:stretch>
        </p:blipFill>
        <p:spPr>
          <a:xfrm>
            <a:off x="6377940" y="1714500"/>
            <a:ext cx="411480" cy="411480"/>
          </a:xfrm>
          <a:prstGeom prst="rect">
            <a:avLst/>
          </a:prstGeom>
        </p:spPr>
      </p:pic>
      <p:sp>
        <p:nvSpPr>
          <p:cNvPr id="14" name="Text 11"/>
          <p:cNvSpPr txBox="1"/>
          <p:nvPr/>
        </p:nvSpPr>
        <p:spPr>
          <a:xfrm>
            <a:off x="7223760" y="146304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Airlines</a:t>
            </a:r>
            <a:endParaRPr lang="en-US" sz="2000" dirty="0"/>
          </a:p>
        </p:txBody>
      </p:sp>
      <p:sp>
        <p:nvSpPr>
          <p:cNvPr id="15" name="Text 12"/>
          <p:cNvSpPr txBox="1"/>
          <p:nvPr/>
        </p:nvSpPr>
        <p:spPr>
          <a:xfrm>
            <a:off x="7223760" y="189280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Re-plan crews, gates and spare aircraft before problems hit</a:t>
            </a:r>
            <a:endParaRPr lang="en-US" sz="1500" dirty="0"/>
          </a:p>
        </p:txBody>
      </p:sp>
      <p:sp>
        <p:nvSpPr>
          <p:cNvPr id="16" name="who-1-circle"/>
          <p:cNvSpPr/>
          <p:nvPr/>
        </p:nvSpPr>
        <p:spPr>
          <a:xfrm>
            <a:off x="6172200" y="3017520"/>
            <a:ext cx="822960" cy="822960"/>
          </a:xfrm>
          <a:prstGeom prst="ellipse">
            <a:avLst/>
          </a:prstGeom>
          <a:solidFill>
            <a:srgbClr val="13315C"/>
          </a:solidFill>
          <a:ln w="12700">
            <a:solidFill>
              <a:srgbClr val="13315C"/>
            </a:solidFill>
            <a:prstDash val="solid"/>
          </a:ln>
        </p:spPr>
      </p:sp>
      <p:pic>
        <p:nvPicPr>
          <p:cNvPr id="17" name="who-1-icon" descr="preencoded.png">    </p:cNvPr>
          <p:cNvPicPr>
            <a:picLocks noChangeAspect="1"/>
          </p:cNvPicPr>
          <p:nvPr/>
        </p:nvPicPr>
        <p:blipFill>
          <a:blip r:embed="rId2"/>
          <a:stretch>
            <a:fillRect/>
          </a:stretch>
        </p:blipFill>
        <p:spPr>
          <a:xfrm>
            <a:off x="6377940" y="3223260"/>
            <a:ext cx="411480" cy="411480"/>
          </a:xfrm>
          <a:prstGeom prst="rect">
            <a:avLst/>
          </a:prstGeom>
        </p:spPr>
      </p:pic>
      <p:sp>
        <p:nvSpPr>
          <p:cNvPr id="18" name="Text 14"/>
          <p:cNvSpPr txBox="1"/>
          <p:nvPr/>
        </p:nvSpPr>
        <p:spPr>
          <a:xfrm>
            <a:off x="7223760" y="297180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Passengers</a:t>
            </a:r>
            <a:endParaRPr lang="en-US" sz="2000" dirty="0"/>
          </a:p>
        </p:txBody>
      </p:sp>
      <p:sp>
        <p:nvSpPr>
          <p:cNvPr id="19" name="Text 15"/>
          <p:cNvSpPr txBox="1"/>
          <p:nvPr/>
        </p:nvSpPr>
        <p:spPr>
          <a:xfrm>
            <a:off x="7223760" y="340156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Earlier warnings for tight connections</a:t>
            </a:r>
            <a:endParaRPr lang="en-US" sz="1500" dirty="0"/>
          </a:p>
        </p:txBody>
      </p:sp>
      <p:sp>
        <p:nvSpPr>
          <p:cNvPr id="20" name="who-2-circle"/>
          <p:cNvSpPr/>
          <p:nvPr/>
        </p:nvSpPr>
        <p:spPr>
          <a:xfrm>
            <a:off x="6172200" y="4526280"/>
            <a:ext cx="822960" cy="822960"/>
          </a:xfrm>
          <a:prstGeom prst="ellipse">
            <a:avLst/>
          </a:prstGeom>
          <a:solidFill>
            <a:srgbClr val="13315C"/>
          </a:solidFill>
          <a:ln w="12700">
            <a:solidFill>
              <a:srgbClr val="13315C"/>
            </a:solidFill>
            <a:prstDash val="solid"/>
          </a:ln>
        </p:spPr>
      </p:sp>
      <p:pic>
        <p:nvPicPr>
          <p:cNvPr id="21" name="who-2-icon" descr="preencoded.png">    </p:cNvPr>
          <p:cNvPicPr>
            <a:picLocks noChangeAspect="1"/>
          </p:cNvPicPr>
          <p:nvPr/>
        </p:nvPicPr>
        <p:blipFill>
          <a:blip r:embed="rId3"/>
          <a:stretch>
            <a:fillRect/>
          </a:stretch>
        </p:blipFill>
        <p:spPr>
          <a:xfrm>
            <a:off x="6377940" y="4732020"/>
            <a:ext cx="411480" cy="411480"/>
          </a:xfrm>
          <a:prstGeom prst="rect">
            <a:avLst/>
          </a:prstGeom>
        </p:spPr>
      </p:pic>
      <p:sp>
        <p:nvSpPr>
          <p:cNvPr id="22" name="Text 17"/>
          <p:cNvSpPr txBox="1"/>
          <p:nvPr/>
        </p:nvSpPr>
        <p:spPr>
          <a:xfrm>
            <a:off x="7223760" y="4480560"/>
            <a:ext cx="4389120" cy="411480"/>
          </a:xfrm>
          <a:prstGeom prst="rect">
            <a:avLst/>
          </a:prstGeom>
          <a:noFill/>
          <a:ln/>
        </p:spPr>
        <p:txBody>
          <a:bodyPr wrap="square" lIns="0" tIns="0" rIns="0" bIns="0" rtlCol="0" anchor="ctr"/>
          <a:lstStyle/>
          <a:p>
            <a:pPr indent="0" marL="0">
              <a:buNone/>
            </a:pPr>
            <a:r>
              <a:rPr lang="en-US" sz="2000" b="1" dirty="0">
                <a:solidFill>
                  <a:schemeClr val="tx1"/>
                </a:solidFill>
              </a:rPr>
              <a:t>Airports</a:t>
            </a:r>
            <a:endParaRPr lang="en-US" sz="2000" dirty="0"/>
          </a:p>
        </p:txBody>
      </p:sp>
      <p:sp>
        <p:nvSpPr>
          <p:cNvPr id="23" name="Text 18"/>
          <p:cNvSpPr txBox="1"/>
          <p:nvPr/>
        </p:nvSpPr>
        <p:spPr>
          <a:xfrm>
            <a:off x="7223760" y="4910328"/>
            <a:ext cx="4389120" cy="548640"/>
          </a:xfrm>
          <a:prstGeom prst="rect">
            <a:avLst/>
          </a:prstGeom>
          <a:noFill/>
          <a:ln/>
        </p:spPr>
        <p:txBody>
          <a:bodyPr wrap="square" lIns="0" tIns="0" rIns="0" bIns="0" rtlCol="0" anchor="ctr"/>
          <a:lstStyle/>
          <a:p>
            <a:pPr indent="0" marL="0">
              <a:buNone/>
            </a:pPr>
            <a:r>
              <a:rPr lang="en-US" sz="1500" dirty="0">
                <a:solidFill>
                  <a:schemeClr val="accent6"/>
                </a:solidFill>
              </a:rPr>
              <a:t>Anticipate congestion at peak hours</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Problem statement and objectives</a:t>
            </a:r>
            <a:endParaRPr lang="en-US" sz="3200" dirty="0"/>
          </a:p>
        </p:txBody>
      </p:sp>
      <p:sp>
        <p:nvSpPr>
          <p:cNvPr id="3" name="question-card"/>
          <p:cNvSpPr/>
          <p:nvPr/>
        </p:nvSpPr>
        <p:spPr>
          <a:xfrm>
            <a:off x="548640" y="1325880"/>
            <a:ext cx="11094415" cy="1234440"/>
          </a:xfrm>
          <a:prstGeom prst="roundRect">
            <a:avLst>
              <a:gd name="adj" fmla="val 5926"/>
            </a:avLst>
          </a:prstGeom>
          <a:solidFill>
            <a:srgbClr val="0B1F3A"/>
          </a:solidFill>
          <a:ln w="12700">
            <a:solidFill>
              <a:srgbClr val="0B1F3A"/>
            </a:solidFill>
            <a:prstDash val="solid"/>
          </a:ln>
        </p:spPr>
      </p:sp>
      <p:sp>
        <p:nvSpPr>
          <p:cNvPr id="4" name="Text 2"/>
          <p:cNvSpPr txBox="1"/>
          <p:nvPr/>
        </p:nvSpPr>
        <p:spPr>
          <a:xfrm>
            <a:off x="914400" y="1325880"/>
            <a:ext cx="10362895" cy="1234440"/>
          </a:xfrm>
          <a:prstGeom prst="rect">
            <a:avLst/>
          </a:prstGeom>
          <a:noFill/>
          <a:ln/>
        </p:spPr>
        <p:txBody>
          <a:bodyPr wrap="square" lIns="0" tIns="0" rIns="0" bIns="0" rtlCol="0" anchor="ctr"/>
          <a:lstStyle/>
          <a:p>
            <a:pPr indent="0" marL="0">
              <a:buNone/>
            </a:pPr>
            <a:r>
              <a:rPr lang="en-US" sz="2400" dirty="0">
                <a:solidFill>
                  <a:srgbClr val="FFFFFF"/>
                </a:solidFill>
              </a:rPr>
              <a:t>Using only information known before departure, </a:t>
            </a:r>
            <a:pPr indent="0" marL="0">
              <a:buNone/>
            </a:pPr>
            <a:r>
              <a:rPr lang="en-US" sz="2400" b="1" dirty="0">
                <a:solidFill>
                  <a:srgbClr val="FFB48F"/>
                </a:solidFill>
              </a:rPr>
              <a:t>will this flight arrive 15+ minutes late?</a:t>
            </a:r>
            <a:endParaRPr lang="en-US" sz="2400" dirty="0"/>
          </a:p>
        </p:txBody>
      </p:sp>
      <p:sp>
        <p:nvSpPr>
          <p:cNvPr id="5" name="obj-0"/>
          <p:cNvSpPr/>
          <p:nvPr/>
        </p:nvSpPr>
        <p:spPr>
          <a:xfrm>
            <a:off x="548640" y="2926080"/>
            <a:ext cx="1999427" cy="2880360"/>
          </a:xfrm>
          <a:prstGeom prst="roundRect">
            <a:avLst>
              <a:gd name="adj" fmla="val 3659"/>
            </a:avLst>
          </a:prstGeom>
          <a:solidFill>
            <a:schemeClr val="bg2"/>
          </a:solidFill>
          <a:ln w="12700">
            <a:solidFill>
              <a:schemeClr val="bg2"/>
            </a:solidFill>
            <a:prstDash val="solid"/>
          </a:ln>
        </p:spPr>
      </p:sp>
      <p:sp>
        <p:nvSpPr>
          <p:cNvPr id="6" name="obj-icon-0-circle"/>
          <p:cNvSpPr/>
          <p:nvPr/>
        </p:nvSpPr>
        <p:spPr>
          <a:xfrm>
            <a:off x="822960" y="3154680"/>
            <a:ext cx="685800" cy="685800"/>
          </a:xfrm>
          <a:prstGeom prst="ellipse">
            <a:avLst/>
          </a:prstGeom>
          <a:solidFill>
            <a:srgbClr val="2A78D6"/>
          </a:solidFill>
          <a:ln w="12700">
            <a:solidFill>
              <a:srgbClr val="2A78D6"/>
            </a:solidFill>
            <a:prstDash val="solid"/>
          </a:ln>
        </p:spPr>
      </p:sp>
      <p:pic>
        <p:nvPicPr>
          <p:cNvPr id="7" name="obj-icon-0-icon" descr="preencoded.png">    </p:cNvPr>
          <p:cNvPicPr>
            <a:picLocks noChangeAspect="1"/>
          </p:cNvPicPr>
          <p:nvPr/>
        </p:nvPicPr>
        <p:blipFill>
          <a:blip r:embed="rId1"/>
          <a:stretch>
            <a:fillRect/>
          </a:stretch>
        </p:blipFill>
        <p:spPr>
          <a:xfrm>
            <a:off x="994410" y="3326130"/>
            <a:ext cx="342900" cy="342900"/>
          </a:xfrm>
          <a:prstGeom prst="rect">
            <a:avLst/>
          </a:prstGeom>
        </p:spPr>
      </p:pic>
      <p:sp>
        <p:nvSpPr>
          <p:cNvPr id="8" name="Text 5"/>
          <p:cNvSpPr txBox="1"/>
          <p:nvPr/>
        </p:nvSpPr>
        <p:spPr>
          <a:xfrm>
            <a:off x="822960"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O1  Ingest</a:t>
            </a:r>
            <a:endParaRPr lang="en-US" sz="1800" dirty="0"/>
          </a:p>
        </p:txBody>
      </p:sp>
      <p:sp>
        <p:nvSpPr>
          <p:cNvPr id="9" name="Text 6"/>
          <p:cNvSpPr txBox="1"/>
          <p:nvPr/>
        </p:nvSpPr>
        <p:spPr>
          <a:xfrm>
            <a:off x="822960"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Union and clean all 12 monthly files with Spark</a:t>
            </a:r>
            <a:endParaRPr lang="en-US" sz="1400" dirty="0"/>
          </a:p>
        </p:txBody>
      </p:sp>
      <p:sp>
        <p:nvSpPr>
          <p:cNvPr id="10" name="obj-1"/>
          <p:cNvSpPr/>
          <p:nvPr/>
        </p:nvSpPr>
        <p:spPr>
          <a:xfrm>
            <a:off x="2822387" y="2926080"/>
            <a:ext cx="1999427" cy="2880360"/>
          </a:xfrm>
          <a:prstGeom prst="roundRect">
            <a:avLst>
              <a:gd name="adj" fmla="val 3659"/>
            </a:avLst>
          </a:prstGeom>
          <a:solidFill>
            <a:schemeClr val="bg2"/>
          </a:solidFill>
          <a:ln w="12700">
            <a:solidFill>
              <a:schemeClr val="bg2"/>
            </a:solidFill>
            <a:prstDash val="solid"/>
          </a:ln>
        </p:spPr>
      </p:sp>
      <p:sp>
        <p:nvSpPr>
          <p:cNvPr id="11" name="obj-icon-1-circle"/>
          <p:cNvSpPr/>
          <p:nvPr/>
        </p:nvSpPr>
        <p:spPr>
          <a:xfrm>
            <a:off x="3096707" y="3154680"/>
            <a:ext cx="685800" cy="685800"/>
          </a:xfrm>
          <a:prstGeom prst="ellipse">
            <a:avLst/>
          </a:prstGeom>
          <a:solidFill>
            <a:srgbClr val="EB6834"/>
          </a:solidFill>
          <a:ln w="12700">
            <a:solidFill>
              <a:srgbClr val="EB6834"/>
            </a:solidFill>
            <a:prstDash val="solid"/>
          </a:ln>
        </p:spPr>
      </p:sp>
      <p:pic>
        <p:nvPicPr>
          <p:cNvPr id="12" name="obj-icon-1-icon" descr="preencoded.png">    </p:cNvPr>
          <p:cNvPicPr>
            <a:picLocks noChangeAspect="1"/>
          </p:cNvPicPr>
          <p:nvPr/>
        </p:nvPicPr>
        <p:blipFill>
          <a:blip r:embed="rId2"/>
          <a:stretch>
            <a:fillRect/>
          </a:stretch>
        </p:blipFill>
        <p:spPr>
          <a:xfrm>
            <a:off x="3268157" y="3326130"/>
            <a:ext cx="342900" cy="342900"/>
          </a:xfrm>
          <a:prstGeom prst="rect">
            <a:avLst/>
          </a:prstGeom>
        </p:spPr>
      </p:pic>
      <p:sp>
        <p:nvSpPr>
          <p:cNvPr id="13" name="Text 9"/>
          <p:cNvSpPr txBox="1"/>
          <p:nvPr/>
        </p:nvSpPr>
        <p:spPr>
          <a:xfrm>
            <a:off x="3096707"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O2  No leakage</a:t>
            </a:r>
            <a:endParaRPr lang="en-US" sz="1800" dirty="0"/>
          </a:p>
        </p:txBody>
      </p:sp>
      <p:sp>
        <p:nvSpPr>
          <p:cNvPr id="14" name="Text 10"/>
          <p:cNvSpPr txBox="1"/>
          <p:nvPr/>
        </p:nvSpPr>
        <p:spPr>
          <a:xfrm>
            <a:off x="3096707"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Pre-departure features only</a:t>
            </a:r>
            <a:endParaRPr lang="en-US" sz="1400" dirty="0"/>
          </a:p>
        </p:txBody>
      </p:sp>
      <p:sp>
        <p:nvSpPr>
          <p:cNvPr id="15" name="obj-2"/>
          <p:cNvSpPr/>
          <p:nvPr/>
        </p:nvSpPr>
        <p:spPr>
          <a:xfrm>
            <a:off x="5096134" y="2926080"/>
            <a:ext cx="1999427" cy="2880360"/>
          </a:xfrm>
          <a:prstGeom prst="roundRect">
            <a:avLst>
              <a:gd name="adj" fmla="val 3659"/>
            </a:avLst>
          </a:prstGeom>
          <a:solidFill>
            <a:schemeClr val="bg2"/>
          </a:solidFill>
          <a:ln w="12700">
            <a:solidFill>
              <a:schemeClr val="bg2"/>
            </a:solidFill>
            <a:prstDash val="solid"/>
          </a:ln>
        </p:spPr>
      </p:sp>
      <p:sp>
        <p:nvSpPr>
          <p:cNvPr id="16" name="obj-icon-2-circle"/>
          <p:cNvSpPr/>
          <p:nvPr/>
        </p:nvSpPr>
        <p:spPr>
          <a:xfrm>
            <a:off x="5370454" y="3154680"/>
            <a:ext cx="685800" cy="685800"/>
          </a:xfrm>
          <a:prstGeom prst="ellipse">
            <a:avLst/>
          </a:prstGeom>
          <a:solidFill>
            <a:srgbClr val="2A78D6"/>
          </a:solidFill>
          <a:ln w="12700">
            <a:solidFill>
              <a:srgbClr val="2A78D6"/>
            </a:solidFill>
            <a:prstDash val="solid"/>
          </a:ln>
        </p:spPr>
      </p:sp>
      <p:pic>
        <p:nvPicPr>
          <p:cNvPr id="17" name="obj-icon-2-icon" descr="preencoded.png">    </p:cNvPr>
          <p:cNvPicPr>
            <a:picLocks noChangeAspect="1"/>
          </p:cNvPicPr>
          <p:nvPr/>
        </p:nvPicPr>
        <p:blipFill>
          <a:blip r:embed="rId3"/>
          <a:stretch>
            <a:fillRect/>
          </a:stretch>
        </p:blipFill>
        <p:spPr>
          <a:xfrm>
            <a:off x="5541904" y="3326130"/>
            <a:ext cx="342900" cy="342900"/>
          </a:xfrm>
          <a:prstGeom prst="rect">
            <a:avLst/>
          </a:prstGeom>
        </p:spPr>
      </p:pic>
      <p:sp>
        <p:nvSpPr>
          <p:cNvPr id="18" name="Text 13"/>
          <p:cNvSpPr txBox="1"/>
          <p:nvPr/>
        </p:nvSpPr>
        <p:spPr>
          <a:xfrm>
            <a:off x="5370454"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O3  Model</a:t>
            </a:r>
            <a:endParaRPr lang="en-US" sz="1800" dirty="0"/>
          </a:p>
        </p:txBody>
      </p:sp>
      <p:sp>
        <p:nvSpPr>
          <p:cNvPr id="19" name="Text 14"/>
          <p:cNvSpPr txBox="1"/>
          <p:nvPr/>
        </p:nvSpPr>
        <p:spPr>
          <a:xfrm>
            <a:off x="5370454"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LR, Random Forest and GBT in Spark MLlib</a:t>
            </a:r>
            <a:endParaRPr lang="en-US" sz="1400" dirty="0"/>
          </a:p>
        </p:txBody>
      </p:sp>
      <p:sp>
        <p:nvSpPr>
          <p:cNvPr id="20" name="obj-3"/>
          <p:cNvSpPr/>
          <p:nvPr/>
        </p:nvSpPr>
        <p:spPr>
          <a:xfrm>
            <a:off x="7369881" y="2926080"/>
            <a:ext cx="1999427" cy="2880360"/>
          </a:xfrm>
          <a:prstGeom prst="roundRect">
            <a:avLst>
              <a:gd name="adj" fmla="val 3659"/>
            </a:avLst>
          </a:prstGeom>
          <a:solidFill>
            <a:schemeClr val="bg2"/>
          </a:solidFill>
          <a:ln w="12700">
            <a:solidFill>
              <a:schemeClr val="bg2"/>
            </a:solidFill>
            <a:prstDash val="solid"/>
          </a:ln>
        </p:spPr>
      </p:sp>
      <p:sp>
        <p:nvSpPr>
          <p:cNvPr id="21" name="obj-icon-3-circle"/>
          <p:cNvSpPr/>
          <p:nvPr/>
        </p:nvSpPr>
        <p:spPr>
          <a:xfrm>
            <a:off x="7644201" y="3154680"/>
            <a:ext cx="685800" cy="685800"/>
          </a:xfrm>
          <a:prstGeom prst="ellipse">
            <a:avLst/>
          </a:prstGeom>
          <a:solidFill>
            <a:srgbClr val="2A78D6"/>
          </a:solidFill>
          <a:ln w="12700">
            <a:solidFill>
              <a:srgbClr val="2A78D6"/>
            </a:solidFill>
            <a:prstDash val="solid"/>
          </a:ln>
        </p:spPr>
      </p:sp>
      <p:pic>
        <p:nvPicPr>
          <p:cNvPr id="22" name="obj-icon-3-icon" descr="preencoded.png">    </p:cNvPr>
          <p:cNvPicPr>
            <a:picLocks noChangeAspect="1"/>
          </p:cNvPicPr>
          <p:nvPr/>
        </p:nvPicPr>
        <p:blipFill>
          <a:blip r:embed="rId4"/>
          <a:stretch>
            <a:fillRect/>
          </a:stretch>
        </p:blipFill>
        <p:spPr>
          <a:xfrm>
            <a:off x="7815651" y="3326130"/>
            <a:ext cx="342900" cy="342900"/>
          </a:xfrm>
          <a:prstGeom prst="rect">
            <a:avLst/>
          </a:prstGeom>
        </p:spPr>
      </p:pic>
      <p:sp>
        <p:nvSpPr>
          <p:cNvPr id="23" name="Text 17"/>
          <p:cNvSpPr txBox="1"/>
          <p:nvPr/>
        </p:nvSpPr>
        <p:spPr>
          <a:xfrm>
            <a:off x="7644201"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O4  Evaluate</a:t>
            </a:r>
            <a:endParaRPr lang="en-US" sz="1800" dirty="0"/>
          </a:p>
        </p:txBody>
      </p:sp>
      <p:sp>
        <p:nvSpPr>
          <p:cNvPr id="24" name="Text 18"/>
          <p:cNvSpPr txBox="1"/>
          <p:nvPr/>
        </p:nvSpPr>
        <p:spPr>
          <a:xfrm>
            <a:off x="7644201"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Imbalance-aware metrics + training time</a:t>
            </a:r>
            <a:endParaRPr lang="en-US" sz="1400" dirty="0"/>
          </a:p>
        </p:txBody>
      </p:sp>
      <p:sp>
        <p:nvSpPr>
          <p:cNvPr id="25" name="obj-4"/>
          <p:cNvSpPr/>
          <p:nvPr/>
        </p:nvSpPr>
        <p:spPr>
          <a:xfrm>
            <a:off x="9643628" y="2926080"/>
            <a:ext cx="1999427" cy="2880360"/>
          </a:xfrm>
          <a:prstGeom prst="roundRect">
            <a:avLst>
              <a:gd name="adj" fmla="val 3659"/>
            </a:avLst>
          </a:prstGeom>
          <a:solidFill>
            <a:schemeClr val="bg2"/>
          </a:solidFill>
          <a:ln w="12700">
            <a:solidFill>
              <a:schemeClr val="bg2"/>
            </a:solidFill>
            <a:prstDash val="solid"/>
          </a:ln>
        </p:spPr>
      </p:sp>
      <p:sp>
        <p:nvSpPr>
          <p:cNvPr id="26" name="obj-icon-4-circle"/>
          <p:cNvSpPr/>
          <p:nvPr/>
        </p:nvSpPr>
        <p:spPr>
          <a:xfrm>
            <a:off x="9917948" y="3154680"/>
            <a:ext cx="685800" cy="685800"/>
          </a:xfrm>
          <a:prstGeom prst="ellipse">
            <a:avLst/>
          </a:prstGeom>
          <a:solidFill>
            <a:srgbClr val="2A78D6"/>
          </a:solidFill>
          <a:ln w="12700">
            <a:solidFill>
              <a:srgbClr val="2A78D6"/>
            </a:solidFill>
            <a:prstDash val="solid"/>
          </a:ln>
        </p:spPr>
      </p:sp>
      <p:pic>
        <p:nvPicPr>
          <p:cNvPr id="27" name="obj-icon-4-icon" descr="preencoded.png">    </p:cNvPr>
          <p:cNvPicPr>
            <a:picLocks noChangeAspect="1"/>
          </p:cNvPicPr>
          <p:nvPr/>
        </p:nvPicPr>
        <p:blipFill>
          <a:blip r:embed="rId5"/>
          <a:stretch>
            <a:fillRect/>
          </a:stretch>
        </p:blipFill>
        <p:spPr>
          <a:xfrm>
            <a:off x="10089398" y="3326130"/>
            <a:ext cx="342900" cy="342900"/>
          </a:xfrm>
          <a:prstGeom prst="rect">
            <a:avLst/>
          </a:prstGeom>
        </p:spPr>
      </p:pic>
      <p:sp>
        <p:nvSpPr>
          <p:cNvPr id="28" name="Text 21"/>
          <p:cNvSpPr txBox="1"/>
          <p:nvPr/>
        </p:nvSpPr>
        <p:spPr>
          <a:xfrm>
            <a:off x="9917948" y="3977640"/>
            <a:ext cx="1542227" cy="457200"/>
          </a:xfrm>
          <a:prstGeom prst="rect">
            <a:avLst/>
          </a:prstGeom>
          <a:noFill/>
          <a:ln/>
        </p:spPr>
        <p:txBody>
          <a:bodyPr wrap="square" lIns="0" tIns="0" rIns="0" bIns="0" rtlCol="0" anchor="ctr"/>
          <a:lstStyle/>
          <a:p>
            <a:pPr indent="0" marL="0">
              <a:buNone/>
            </a:pPr>
            <a:r>
              <a:rPr lang="en-US" sz="1800" b="1" dirty="0">
                <a:solidFill>
                  <a:schemeClr val="tx1"/>
                </a:solidFill>
              </a:rPr>
              <a:t>O5  Scale</a:t>
            </a:r>
            <a:endParaRPr lang="en-US" sz="1800" dirty="0"/>
          </a:p>
        </p:txBody>
      </p:sp>
      <p:sp>
        <p:nvSpPr>
          <p:cNvPr id="29" name="Text 22"/>
          <p:cNvSpPr txBox="1"/>
          <p:nvPr/>
        </p:nvSpPr>
        <p:spPr>
          <a:xfrm>
            <a:off x="9917948" y="4480560"/>
            <a:ext cx="1542227" cy="1188720"/>
          </a:xfrm>
          <a:prstGeom prst="rect">
            <a:avLst/>
          </a:prstGeom>
          <a:noFill/>
          <a:ln/>
        </p:spPr>
        <p:txBody>
          <a:bodyPr wrap="square" lIns="0" tIns="0" rIns="0" bIns="0" rtlCol="0" anchor="t"/>
          <a:lstStyle/>
          <a:p>
            <a:pPr indent="0" marL="0">
              <a:buNone/>
            </a:pPr>
            <a:r>
              <a:rPr lang="en-US" sz="1400" dirty="0">
                <a:solidFill>
                  <a:schemeClr val="accent6"/>
                </a:solidFill>
              </a:rPr>
              <a:t>Show how it scales out to more cores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Dataset: BTS Reporting Carrier On-Time Performance, 2025</a:t>
            </a:r>
            <a:endParaRPr lang="en-US" sz="3200" dirty="0"/>
          </a:p>
        </p:txBody>
      </p:sp>
      <p:sp>
        <p:nvSpPr>
          <p:cNvPr id="3" name="ds-0"/>
          <p:cNvSpPr/>
          <p:nvPr/>
        </p:nvSpPr>
        <p:spPr>
          <a:xfrm>
            <a:off x="548640" y="1371600"/>
            <a:ext cx="2514600" cy="1645920"/>
          </a:xfrm>
          <a:prstGeom prst="roundRect">
            <a:avLst>
              <a:gd name="adj" fmla="val 4444"/>
            </a:avLst>
          </a:prstGeom>
          <a:solidFill>
            <a:schemeClr val="bg2"/>
          </a:solidFill>
          <a:ln w="12700">
            <a:solidFill>
              <a:schemeClr val="bg2"/>
            </a:solidFill>
            <a:prstDash val="solid"/>
          </a:ln>
        </p:spPr>
      </p:sp>
      <p:sp>
        <p:nvSpPr>
          <p:cNvPr id="4" name="Text 2"/>
          <p:cNvSpPr txBox="1"/>
          <p:nvPr/>
        </p:nvSpPr>
        <p:spPr>
          <a:xfrm>
            <a:off x="777240" y="15544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12</a:t>
            </a:r>
            <a:endParaRPr lang="en-US" sz="3000" dirty="0"/>
          </a:p>
        </p:txBody>
      </p:sp>
      <p:sp>
        <p:nvSpPr>
          <p:cNvPr id="5" name="Text 3"/>
          <p:cNvSpPr txBox="1"/>
          <p:nvPr/>
        </p:nvSpPr>
        <p:spPr>
          <a:xfrm>
            <a:off x="777240" y="22402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monthly CSV files</a:t>
            </a:r>
            <a:endParaRPr lang="en-US" sz="1300" dirty="0"/>
          </a:p>
          <a:p>
            <a:pPr indent="0" marL="0">
              <a:buNone/>
            </a:pPr>
            <a:r>
              <a:rPr lang="en-US" sz="1300" dirty="0">
                <a:solidFill>
                  <a:schemeClr val="accent6"/>
                </a:solidFill>
              </a:rPr>
              <a:t>(Jan-Dec 2025)</a:t>
            </a:r>
            <a:endParaRPr lang="en-US" sz="1300" dirty="0"/>
          </a:p>
        </p:txBody>
      </p:sp>
      <p:sp>
        <p:nvSpPr>
          <p:cNvPr id="6" name="ds-1"/>
          <p:cNvSpPr/>
          <p:nvPr/>
        </p:nvSpPr>
        <p:spPr>
          <a:xfrm>
            <a:off x="3246120" y="1371600"/>
            <a:ext cx="2514600" cy="1645920"/>
          </a:xfrm>
          <a:prstGeom prst="roundRect">
            <a:avLst>
              <a:gd name="adj" fmla="val 4444"/>
            </a:avLst>
          </a:prstGeom>
          <a:solidFill>
            <a:schemeClr val="bg2"/>
          </a:solidFill>
          <a:ln w="12700">
            <a:solidFill>
              <a:schemeClr val="bg2"/>
            </a:solidFill>
            <a:prstDash val="solid"/>
          </a:ln>
        </p:spPr>
      </p:sp>
      <p:sp>
        <p:nvSpPr>
          <p:cNvPr id="7" name="Text 5"/>
          <p:cNvSpPr txBox="1"/>
          <p:nvPr/>
        </p:nvSpPr>
        <p:spPr>
          <a:xfrm>
            <a:off x="3474720" y="15544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~3 GB</a:t>
            </a:r>
            <a:endParaRPr lang="en-US" sz="3000" dirty="0"/>
          </a:p>
        </p:txBody>
      </p:sp>
      <p:sp>
        <p:nvSpPr>
          <p:cNvPr id="8" name="Text 6"/>
          <p:cNvSpPr txBox="1"/>
          <p:nvPr/>
        </p:nvSpPr>
        <p:spPr>
          <a:xfrm>
            <a:off x="3474720" y="22402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raw CSV in</a:t>
            </a:r>
            <a:endParaRPr lang="en-US" sz="1300" dirty="0"/>
          </a:p>
          <a:p>
            <a:pPr indent="0" marL="0">
              <a:buNone/>
            </a:pPr>
            <a:r>
              <a:rPr lang="en-US" sz="1300" dirty="0">
                <a:solidFill>
                  <a:schemeClr val="accent6"/>
                </a:solidFill>
              </a:rPr>
              <a:t>Google Drive</a:t>
            </a:r>
            <a:endParaRPr lang="en-US" sz="1300" dirty="0"/>
          </a:p>
        </p:txBody>
      </p:sp>
      <p:sp>
        <p:nvSpPr>
          <p:cNvPr id="9" name="ds-2"/>
          <p:cNvSpPr/>
          <p:nvPr/>
        </p:nvSpPr>
        <p:spPr>
          <a:xfrm>
            <a:off x="548640" y="3200400"/>
            <a:ext cx="2514600" cy="1645920"/>
          </a:xfrm>
          <a:prstGeom prst="roundRect">
            <a:avLst>
              <a:gd name="adj" fmla="val 4444"/>
            </a:avLst>
          </a:prstGeom>
          <a:solidFill>
            <a:schemeClr val="bg2"/>
          </a:solidFill>
          <a:ln w="12700">
            <a:solidFill>
              <a:schemeClr val="bg2"/>
            </a:solidFill>
            <a:prstDash val="solid"/>
          </a:ln>
        </p:spPr>
      </p:sp>
      <p:sp>
        <p:nvSpPr>
          <p:cNvPr id="10" name="Text 8"/>
          <p:cNvSpPr txBox="1"/>
          <p:nvPr/>
        </p:nvSpPr>
        <p:spPr>
          <a:xfrm>
            <a:off x="777240" y="3383280"/>
            <a:ext cx="2103120" cy="685800"/>
          </a:xfrm>
          <a:prstGeom prst="rect">
            <a:avLst/>
          </a:prstGeom>
          <a:noFill/>
          <a:ln/>
        </p:spPr>
        <p:txBody>
          <a:bodyPr wrap="square" lIns="0" tIns="0" rIns="0" bIns="0" rtlCol="0" anchor="t">
            <a:normAutofit/>
          </a:bodyPr>
          <a:lstStyle/>
          <a:p>
            <a:pPr indent="0" marL="0">
              <a:buNone/>
            </a:pPr>
            <a:r>
              <a:rPr lang="en-US" sz="3000" b="1" dirty="0">
                <a:solidFill>
                  <a:srgbClr val="000000"/>
                </a:solidFill>
                <a:highlight>
                  <a:srgbClr val="FFFF00"/>
                </a:highlight>
              </a:rPr>
              <a:t>[RAW_ROWS]</a:t>
            </a:r>
            <a:endParaRPr lang="en-US" sz="3000" dirty="0"/>
          </a:p>
        </p:txBody>
      </p:sp>
      <p:sp>
        <p:nvSpPr>
          <p:cNvPr id="11" name="Text 9"/>
          <p:cNvSpPr txBox="1"/>
          <p:nvPr/>
        </p:nvSpPr>
        <p:spPr>
          <a:xfrm>
            <a:off x="777240" y="40690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flights before cleaning</a:t>
            </a:r>
            <a:endParaRPr lang="en-US" sz="1300" dirty="0"/>
          </a:p>
        </p:txBody>
      </p:sp>
      <p:sp>
        <p:nvSpPr>
          <p:cNvPr id="12" name="ds-3"/>
          <p:cNvSpPr/>
          <p:nvPr/>
        </p:nvSpPr>
        <p:spPr>
          <a:xfrm>
            <a:off x="3246120" y="3200400"/>
            <a:ext cx="2514600" cy="1645920"/>
          </a:xfrm>
          <a:prstGeom prst="roundRect">
            <a:avLst>
              <a:gd name="adj" fmla="val 4444"/>
            </a:avLst>
          </a:prstGeom>
          <a:solidFill>
            <a:schemeClr val="bg2"/>
          </a:solidFill>
          <a:ln w="12700">
            <a:solidFill>
              <a:schemeClr val="bg2"/>
            </a:solidFill>
            <a:prstDash val="solid"/>
          </a:ln>
        </p:spPr>
      </p:sp>
      <p:sp>
        <p:nvSpPr>
          <p:cNvPr id="13" name="Text 11"/>
          <p:cNvSpPr txBox="1"/>
          <p:nvPr/>
        </p:nvSpPr>
        <p:spPr>
          <a:xfrm>
            <a:off x="3474720" y="3383280"/>
            <a:ext cx="2103120" cy="685800"/>
          </a:xfrm>
          <a:prstGeom prst="rect">
            <a:avLst/>
          </a:prstGeom>
          <a:noFill/>
          <a:ln/>
        </p:spPr>
        <p:txBody>
          <a:bodyPr wrap="square" lIns="0" tIns="0" rIns="0" bIns="0" rtlCol="0" anchor="t">
            <a:normAutofit/>
          </a:bodyPr>
          <a:lstStyle/>
          <a:p>
            <a:pPr indent="0" marL="0">
              <a:buNone/>
            </a:pPr>
            <a:r>
              <a:rPr lang="en-US" sz="3000" b="1" dirty="0">
                <a:solidFill>
                  <a:schemeClr val="accent1"/>
                </a:solidFill>
              </a:rPr>
              <a:t>17 / ~110</a:t>
            </a:r>
            <a:endParaRPr lang="en-US" sz="3000" dirty="0"/>
          </a:p>
        </p:txBody>
      </p:sp>
      <p:sp>
        <p:nvSpPr>
          <p:cNvPr id="14" name="Text 12"/>
          <p:cNvSpPr txBox="1"/>
          <p:nvPr/>
        </p:nvSpPr>
        <p:spPr>
          <a:xfrm>
            <a:off x="3474720" y="4069080"/>
            <a:ext cx="2103120" cy="685800"/>
          </a:xfrm>
          <a:prstGeom prst="rect">
            <a:avLst/>
          </a:prstGeom>
          <a:noFill/>
          <a:ln/>
        </p:spPr>
        <p:txBody>
          <a:bodyPr wrap="square" lIns="0" tIns="0" rIns="0" bIns="0" rtlCol="0" anchor="ctr"/>
          <a:lstStyle/>
          <a:p>
            <a:pPr indent="0" marL="0">
              <a:buNone/>
            </a:pPr>
            <a:r>
              <a:rPr lang="en-US" sz="1300" dirty="0">
                <a:solidFill>
                  <a:schemeClr val="accent6"/>
                </a:solidFill>
              </a:rPr>
              <a:t>columns kept by the</a:t>
            </a:r>
            <a:endParaRPr lang="en-US" sz="1300" dirty="0"/>
          </a:p>
          <a:p>
            <a:pPr indent="0" marL="0">
              <a:buNone/>
            </a:pPr>
            <a:r>
              <a:rPr lang="en-US" sz="1300" dirty="0">
                <a:solidFill>
                  <a:schemeClr val="accent6"/>
                </a:solidFill>
              </a:rPr>
              <a:t>allow-list</a:t>
            </a:r>
            <a:endParaRPr lang="en-US" sz="1300" dirty="0"/>
          </a:p>
        </p:txBody>
      </p:sp>
      <p:sp>
        <p:nvSpPr>
          <p:cNvPr id="15" name="Text 13"/>
          <p:cNvSpPr txBox="1"/>
          <p:nvPr/>
        </p:nvSpPr>
        <p:spPr>
          <a:xfrm>
            <a:off x="548640" y="5166360"/>
            <a:ext cx="5212080" cy="731520"/>
          </a:xfrm>
          <a:prstGeom prst="rect">
            <a:avLst/>
          </a:prstGeom>
          <a:noFill/>
          <a:ln/>
        </p:spPr>
        <p:txBody>
          <a:bodyPr wrap="square" lIns="0" tIns="0" rIns="0" bIns="0" rtlCol="0" anchor="t"/>
          <a:lstStyle/>
          <a:p>
            <a:pPr indent="0" marL="0">
              <a:buNone/>
            </a:pPr>
            <a:r>
              <a:rPr lang="en-US" sz="1400" dirty="0">
                <a:solidFill>
                  <a:schemeClr val="tx1"/>
                </a:solidFill>
              </a:rPr>
              <a:t>Target: DELAYED = 1 if ARR_DELAY ≥ 15 min.  Delayed share after cleaning: </a:t>
            </a:r>
            <a:pPr indent="0" marL="0">
              <a:buNone/>
            </a:pPr>
            <a:r>
              <a:rPr lang="en-US" sz="1400" dirty="0">
                <a:solidFill>
                  <a:srgbClr val="000000"/>
                </a:solidFill>
                <a:highlight>
                  <a:srgbClr val="FFFF00"/>
                </a:highlight>
              </a:rPr>
              <a:t>[DELAY_RATE]</a:t>
            </a:r>
            <a:endParaRPr lang="en-US" sz="1400" dirty="0"/>
          </a:p>
        </p:txBody>
      </p:sp>
      <p:sp>
        <p:nvSpPr>
          <p:cNvPr id="16" name="ph-hourly"/>
          <p:cNvSpPr/>
          <p:nvPr/>
        </p:nvSpPr>
        <p:spPr>
          <a:xfrm>
            <a:off x="6172200" y="1325880"/>
            <a:ext cx="5486400" cy="4480560"/>
          </a:xfrm>
          <a:prstGeom prst="roundRect">
            <a:avLst>
              <a:gd name="adj" fmla="val 1224"/>
            </a:avLst>
          </a:prstGeom>
          <a:solidFill>
            <a:srgbClr val="FFF8DB"/>
          </a:solidFill>
          <a:ln w="15875">
            <a:solidFill>
              <a:srgbClr val="EDA100"/>
            </a:solidFill>
            <a:prstDash val="dash"/>
          </a:ln>
        </p:spPr>
      </p:sp>
      <p:sp>
        <p:nvSpPr>
          <p:cNvPr id="17" name="Text 15"/>
          <p:cNvSpPr txBox="1"/>
          <p:nvPr/>
        </p:nvSpPr>
        <p:spPr>
          <a:xfrm>
            <a:off x="6172200" y="1325880"/>
            <a:ext cx="5486400" cy="4480560"/>
          </a:xfrm>
          <a:prstGeom prst="rect">
            <a:avLst/>
          </a:prstGeom>
          <a:noFill/>
          <a:ln/>
        </p:spPr>
        <p:txBody>
          <a:bodyPr wrap="square" lIns="76200" tIns="76200" rIns="76200" bIns="76200" rtlCol="0" anchor="ctr"/>
          <a:lstStyle/>
          <a:p>
            <a:pPr algn="ctr" indent="0" marL="0">
              <a:buNone/>
            </a:pPr>
            <a:r>
              <a:rPr lang="en-US" sz="1400" dirty="0">
                <a:solidFill>
                  <a:srgbClr val="7F6000"/>
                </a:solidFill>
              </a:rPr>
              <a:t>Chart: delay rate by departure hour</a:t>
            </a:r>
            <a:endParaRPr lang="en-US" sz="1400" dirty="0"/>
          </a:p>
          <a:p>
            <a:pPr algn="ctr" indent="0" marL="0">
              <a:buNone/>
            </a:pPr>
            <a:r>
              <a:rPr lang="en-US" sz="1400" dirty="0">
                <a:solidFill>
                  <a:srgbClr val="7F6000"/>
                </a:solidFill>
              </a:rPr>
              <a:t>(rebuild with notebook outputs: tables/delay_rate_by_dep_hour.csv)</a:t>
            </a:r>
            <a:endParaRPr lang="en-US" sz="1400" dirty="0"/>
          </a:p>
        </p:txBody>
      </p:sp>
      <p:sp>
        <p:nvSpPr>
          <p:cNvPr id="18" name="Text 16"/>
          <p:cNvSpPr txBox="1"/>
          <p:nvPr/>
        </p:nvSpPr>
        <p:spPr>
          <a:xfrm>
            <a:off x="548640" y="6144768"/>
            <a:ext cx="11094415" cy="274320"/>
          </a:xfrm>
          <a:prstGeom prst="rect">
            <a:avLst/>
          </a:prstGeom>
          <a:noFill/>
          <a:ln/>
        </p:spPr>
        <p:txBody>
          <a:bodyPr wrap="square" lIns="0" tIns="0" rIns="0" bIns="0" rtlCol="0" anchor="ctr"/>
          <a:lstStyle/>
          <a:p>
            <a:pPr indent="0" marL="0">
              <a:buNone/>
            </a:pPr>
            <a:r>
              <a:rPr lang="en-US" sz="1000" i="1" dirty="0">
                <a:solidFill>
                  <a:schemeClr val="accent6"/>
                </a:solidFill>
              </a:rPr>
              <a:t>Source: Bureau of Transportation Statistics (2026), Reporting Carrier On-Time Performance.</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End-to-end Spark pipeline</a:t>
            </a:r>
            <a:endParaRPr lang="en-US" sz="3200" dirty="0"/>
          </a:p>
        </p:txBody>
      </p:sp>
      <p:pic>
        <p:nvPicPr>
          <p:cNvPr id="3" name="pipeline-diagram" descr="/home/user/clone-21092024/bdmla-flight-delay/assets/architecture_pipeline.png">    </p:cNvPr>
          <p:cNvPicPr>
            <a:picLocks noChangeAspect="1"/>
          </p:cNvPicPr>
          <p:nvPr/>
        </p:nvPicPr>
        <p:blipFill>
          <a:blip r:embed="rId1"/>
          <a:stretch>
            <a:fillRect/>
          </a:stretch>
        </p:blipFill>
        <p:spPr>
          <a:xfrm>
            <a:off x="548640" y="1280160"/>
            <a:ext cx="11064240" cy="4425696"/>
          </a:xfrm>
          <a:prstGeom prst="rect">
            <a:avLst/>
          </a:prstGeom>
        </p:spPr>
      </p:pic>
      <p:sp>
        <p:nvSpPr>
          <p:cNvPr id="4" name="Text 1"/>
          <p:cNvSpPr txBox="1"/>
          <p:nvPr/>
        </p:nvSpPr>
        <p:spPr>
          <a:xfrm>
            <a:off x="548640" y="5852160"/>
            <a:ext cx="11064240" cy="365760"/>
          </a:xfrm>
          <a:prstGeom prst="rect">
            <a:avLst/>
          </a:prstGeom>
          <a:noFill/>
          <a:ln/>
        </p:spPr>
        <p:txBody>
          <a:bodyPr wrap="square" lIns="0" tIns="0" rIns="0" bIns="0" rtlCol="0" anchor="ctr"/>
          <a:lstStyle/>
          <a:p>
            <a:pPr indent="0" marL="0">
              <a:buNone/>
            </a:pPr>
            <a:r>
              <a:rPr lang="en-US" sz="1400" dirty="0">
                <a:solidFill>
                  <a:schemeClr val="accent6"/>
                </a:solidFill>
              </a:rPr>
              <a:t>Google Colab · PySpark 4.0 · Spark SQL / DataFrames for processing · Spark MLlib for modelling</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Making a full year work on a free Colab machine</a:t>
            </a:r>
            <a:endParaRPr lang="en-US" sz="3200" dirty="0"/>
          </a:p>
        </p:txBody>
      </p:sp>
      <p:pic>
        <p:nvPicPr>
          <p:cNvPr id="3" name="spark-diagram" descr="/home/user/clone-21092024/bdmla-flight-delay/assets/spark_architecture.png">    </p:cNvPr>
          <p:cNvPicPr>
            <a:picLocks noChangeAspect="1"/>
          </p:cNvPicPr>
          <p:nvPr/>
        </p:nvPicPr>
        <p:blipFill>
          <a:blip r:embed="rId1"/>
          <a:stretch>
            <a:fillRect/>
          </a:stretch>
        </p:blipFill>
        <p:spPr>
          <a:xfrm>
            <a:off x="548640" y="1371600"/>
            <a:ext cx="5852160" cy="2457907"/>
          </a:xfrm>
          <a:prstGeom prst="rect">
            <a:avLst/>
          </a:prstGeom>
        </p:spPr>
      </p:pic>
      <p:sp>
        <p:nvSpPr>
          <p:cNvPr id="4" name="parquet-stat"/>
          <p:cNvSpPr/>
          <p:nvPr/>
        </p:nvSpPr>
        <p:spPr>
          <a:xfrm>
            <a:off x="548640" y="4069080"/>
            <a:ext cx="2834640" cy="1783080"/>
          </a:xfrm>
          <a:prstGeom prst="roundRect">
            <a:avLst>
              <a:gd name="adj" fmla="val 4103"/>
            </a:avLst>
          </a:prstGeom>
          <a:solidFill>
            <a:schemeClr val="bg2"/>
          </a:solidFill>
          <a:ln w="12700">
            <a:solidFill>
              <a:schemeClr val="bg2"/>
            </a:solidFill>
            <a:prstDash val="solid"/>
          </a:ln>
        </p:spPr>
      </p:sp>
      <p:sp>
        <p:nvSpPr>
          <p:cNvPr id="5" name="Text 2"/>
          <p:cNvSpPr txBox="1"/>
          <p:nvPr/>
        </p:nvSpPr>
        <p:spPr>
          <a:xfrm>
            <a:off x="777240" y="4206240"/>
            <a:ext cx="2377440" cy="777240"/>
          </a:xfrm>
          <a:prstGeom prst="rect">
            <a:avLst/>
          </a:prstGeom>
          <a:noFill/>
          <a:ln/>
        </p:spPr>
        <p:txBody>
          <a:bodyPr wrap="square" lIns="0" tIns="0" rIns="0" bIns="0" rtlCol="0" anchor="t">
            <a:normAutofit/>
          </a:bodyPr>
          <a:lstStyle/>
          <a:p>
            <a:pPr indent="0" marL="0">
              <a:buNone/>
            </a:pPr>
            <a:r>
              <a:rPr lang="en-US" sz="3600" b="1" dirty="0">
                <a:solidFill>
                  <a:srgbClr val="000000"/>
                </a:solidFill>
                <a:highlight>
                  <a:srgbClr val="FFFF00"/>
                </a:highlight>
              </a:rPr>
              <a:t>[PARQUET_SPEEDUP]</a:t>
            </a:r>
            <a:endParaRPr lang="en-US" sz="3600" dirty="0"/>
          </a:p>
        </p:txBody>
      </p:sp>
      <p:sp>
        <p:nvSpPr>
          <p:cNvPr id="6" name="Text 3"/>
          <p:cNvSpPr txBox="1"/>
          <p:nvPr/>
        </p:nvSpPr>
        <p:spPr>
          <a:xfrm>
            <a:off x="777240" y="4983480"/>
            <a:ext cx="2377440" cy="731520"/>
          </a:xfrm>
          <a:prstGeom prst="rect">
            <a:avLst/>
          </a:prstGeom>
          <a:noFill/>
          <a:ln/>
        </p:spPr>
        <p:txBody>
          <a:bodyPr wrap="square" lIns="0" tIns="0" rIns="0" bIns="0" rtlCol="0" anchor="ctr"/>
          <a:lstStyle/>
          <a:p>
            <a:pPr indent="0" marL="0">
              <a:buNone/>
            </a:pPr>
            <a:r>
              <a:rPr lang="en-US" sz="1300" dirty="0">
                <a:solidFill>
                  <a:schemeClr val="accent6"/>
                </a:solidFill>
              </a:rPr>
              <a:t>faster scan on Parquet than on the raw CSVs</a:t>
            </a:r>
            <a:endParaRPr lang="en-US" sz="1300" dirty="0"/>
          </a:p>
        </p:txBody>
      </p:sp>
      <p:sp>
        <p:nvSpPr>
          <p:cNvPr id="7" name="scale-stat"/>
          <p:cNvSpPr/>
          <p:nvPr/>
        </p:nvSpPr>
        <p:spPr>
          <a:xfrm>
            <a:off x="3566160" y="4069080"/>
            <a:ext cx="2834640" cy="1783080"/>
          </a:xfrm>
          <a:prstGeom prst="roundRect">
            <a:avLst>
              <a:gd name="adj" fmla="val 4103"/>
            </a:avLst>
          </a:prstGeom>
          <a:solidFill>
            <a:schemeClr val="bg2"/>
          </a:solidFill>
          <a:ln w="12700">
            <a:solidFill>
              <a:schemeClr val="bg2"/>
            </a:solidFill>
            <a:prstDash val="solid"/>
          </a:ln>
        </p:spPr>
      </p:sp>
      <p:sp>
        <p:nvSpPr>
          <p:cNvPr id="8" name="Text 5"/>
          <p:cNvSpPr txBox="1"/>
          <p:nvPr/>
        </p:nvSpPr>
        <p:spPr>
          <a:xfrm>
            <a:off x="3794760" y="4206240"/>
            <a:ext cx="2377440" cy="777240"/>
          </a:xfrm>
          <a:prstGeom prst="rect">
            <a:avLst/>
          </a:prstGeom>
          <a:noFill/>
          <a:ln/>
        </p:spPr>
        <p:txBody>
          <a:bodyPr wrap="square" lIns="0" tIns="0" rIns="0" bIns="0" rtlCol="0" anchor="t">
            <a:normAutofit/>
          </a:bodyPr>
          <a:lstStyle/>
          <a:p>
            <a:pPr indent="0" marL="0">
              <a:buNone/>
            </a:pPr>
            <a:r>
              <a:rPr lang="en-US" sz="3600" b="1" dirty="0">
                <a:solidFill>
                  <a:srgbClr val="000000"/>
                </a:solidFill>
                <a:highlight>
                  <a:srgbClr val="FFFF00"/>
                </a:highlight>
              </a:rPr>
              <a:t>[SCALE_LR_SPEEDUP]</a:t>
            </a:r>
            <a:endParaRPr lang="en-US" sz="3600" dirty="0"/>
          </a:p>
        </p:txBody>
      </p:sp>
      <p:sp>
        <p:nvSpPr>
          <p:cNvPr id="9" name="Text 6"/>
          <p:cNvSpPr txBox="1"/>
          <p:nvPr/>
        </p:nvSpPr>
        <p:spPr>
          <a:xfrm>
            <a:off x="3794760" y="4983480"/>
            <a:ext cx="2377440" cy="731520"/>
          </a:xfrm>
          <a:prstGeom prst="rect">
            <a:avLst/>
          </a:prstGeom>
          <a:noFill/>
          <a:ln/>
        </p:spPr>
        <p:txBody>
          <a:bodyPr wrap="square" lIns="0" tIns="0" rIns="0" bIns="0" rtlCol="0" anchor="t"/>
          <a:lstStyle/>
          <a:p>
            <a:pPr indent="0" marL="0">
              <a:buNone/>
            </a:pPr>
            <a:r>
              <a:rPr lang="en-US" sz="1300" dirty="0">
                <a:solidFill>
                  <a:schemeClr val="accent6"/>
                </a:solidFill>
              </a:rPr>
              <a:t>LR training speed-up, 1 → </a:t>
            </a:r>
            <a:pPr indent="0" marL="0">
              <a:buNone/>
            </a:pPr>
            <a:r>
              <a:rPr lang="en-US" sz="1300" dirty="0">
                <a:solidFill>
                  <a:srgbClr val="000000"/>
                </a:solidFill>
                <a:highlight>
                  <a:srgbClr val="FFFF00"/>
                </a:highlight>
              </a:rPr>
              <a:t>[SCALE_MAX_CORES]</a:t>
            </a:r>
            <a:pPr indent="0" marL="0">
              <a:buNone/>
            </a:pPr>
            <a:r>
              <a:rPr lang="en-US" sz="1300" dirty="0">
                <a:solidFill>
                  <a:schemeClr val="accent6"/>
                </a:solidFill>
              </a:rPr>
              <a:t> cores</a:t>
            </a:r>
            <a:endParaRPr lang="en-US" sz="1300" dirty="0"/>
          </a:p>
        </p:txBody>
      </p:sp>
      <p:sp>
        <p:nvSpPr>
          <p:cNvPr id="10" name="Text 7"/>
          <p:cNvSpPr txBox="1"/>
          <p:nvPr/>
        </p:nvSpPr>
        <p:spPr>
          <a:xfrm>
            <a:off x="6720840" y="1417320"/>
            <a:ext cx="4937760" cy="448056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Allow-list + Parquet: read 3 GB of text once, then columnar</a:t>
            </a:r>
            <a:endParaRPr lang="en-US" sz="1500" dirty="0"/>
          </a:p>
          <a:p>
            <a:pPr marL="203200" indent="-203200">
              <a:spcAft>
                <a:spcPts val="600"/>
              </a:spcAft>
              <a:buSzPct val="100000"/>
              <a:buChar char="•"/>
            </a:pPr>
            <a:r>
              <a:rPr lang="en-US" sz="1500" dirty="0">
                <a:solidFill>
                  <a:schemeClr val="tx1"/>
                </a:solidFill>
              </a:rPr>
              <a:t>Shuffle partitions cut from 200 → a few per core, plus AQE</a:t>
            </a:r>
            <a:endParaRPr lang="en-US" sz="1500" dirty="0"/>
          </a:p>
          <a:p>
            <a:pPr marL="203200" indent="-203200">
              <a:spcAft>
                <a:spcPts val="600"/>
              </a:spcAft>
              <a:buSzPct val="100000"/>
              <a:buChar char="•"/>
            </a:pPr>
            <a:r>
              <a:rPr lang="en-US" sz="1500" dirty="0">
                <a:solidFill>
                  <a:schemeClr val="tx1"/>
                </a:solidFill>
              </a:rPr>
              <a:t>Broadcast joins for small encoding tables</a:t>
            </a:r>
            <a:endParaRPr lang="en-US" sz="1500" dirty="0"/>
          </a:p>
          <a:p>
            <a:pPr marL="203200" indent="-203200">
              <a:spcAft>
                <a:spcPts val="600"/>
              </a:spcAft>
              <a:buSzPct val="100000"/>
              <a:buChar char="•"/>
            </a:pPr>
            <a:r>
              <a:rPr lang="en-US" sz="1500" dirty="0">
                <a:solidFill>
                  <a:schemeClr val="tx1"/>
                </a:solidFill>
              </a:rPr>
              <a:t>Cache the model-ready data that trees scan repeatedly</a:t>
            </a:r>
            <a:endParaRPr lang="en-US" sz="1500" dirty="0"/>
          </a:p>
          <a:p>
            <a:pPr marL="203200" indent="-203200">
              <a:spcAft>
                <a:spcPts val="600"/>
              </a:spcAft>
              <a:buSzPct val="100000"/>
              <a:buChar char="•"/>
            </a:pPr>
            <a:r>
              <a:rPr lang="en-US" sz="1500" dirty="0">
                <a:solidFill>
                  <a:schemeClr val="tx1"/>
                </a:solidFill>
              </a:rPr>
              <a:t>Metrics in one Spark aggregation, nothing big collected</a:t>
            </a:r>
            <a:endParaRPr lang="en-US" sz="1500" dirty="0"/>
          </a:p>
          <a:p>
            <a:pPr marL="203200" indent="-203200">
              <a:spcAft>
                <a:spcPts val="600"/>
              </a:spcAft>
              <a:buSzPct val="100000"/>
              <a:buChar char="•"/>
            </a:pPr>
            <a:r>
              <a:rPr lang="en-US" sz="1500" dirty="0">
                <a:solidFill>
                  <a:schemeClr val="tx1"/>
                </a:solidFill>
              </a:rPr>
              <a:t>Same code on a cluster: change the master URL; GPUs via RAPIDS / XGBoost-Spark</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Cleaning, and keeping the future out of the features</a:t>
            </a:r>
            <a:endParaRPr lang="en-US" sz="3200" dirty="0"/>
          </a:p>
        </p:txBody>
      </p:sp>
      <p:sp>
        <p:nvSpPr>
          <p:cNvPr id="3" name="Text 1"/>
          <p:cNvSpPr txBox="1"/>
          <p:nvPr/>
        </p:nvSpPr>
        <p:spPr>
          <a:xfrm>
            <a:off x="548640" y="1463040"/>
            <a:ext cx="5486400" cy="4206240"/>
          </a:xfrm>
          <a:prstGeom prst="rect">
            <a:avLst/>
          </a:prstGeom>
          <a:noFill/>
          <a:ln/>
        </p:spPr>
        <p:txBody>
          <a:bodyPr wrap="square" lIns="0" tIns="0" rIns="0" bIns="0" rtlCol="0" anchor="t"/>
          <a:lstStyle/>
          <a:p>
            <a:pPr marL="203200" indent="-203200">
              <a:spcAft>
                <a:spcPts val="600"/>
              </a:spcAft>
              <a:buSzPct val="100000"/>
              <a:buChar char="•"/>
            </a:pPr>
            <a:r>
              <a:rPr lang="en-US" sz="1700" dirty="0">
                <a:solidFill>
                  <a:schemeClr val="tx1"/>
                </a:solidFill>
              </a:rPr>
              <a:t>Remove cancelled flights</a:t>
            </a:r>
            <a:endParaRPr lang="en-US" sz="1700" dirty="0"/>
          </a:p>
          <a:p>
            <a:pPr marL="203200" indent="-203200">
              <a:spcAft>
                <a:spcPts val="600"/>
              </a:spcAft>
              <a:buSzPct val="100000"/>
              <a:buChar char="•"/>
            </a:pPr>
            <a:r>
              <a:rPr lang="en-US" sz="1700" dirty="0">
                <a:solidFill>
                  <a:schemeClr val="tx1"/>
                </a:solidFill>
              </a:rPr>
              <a:t>Remove diverted flights</a:t>
            </a:r>
            <a:endParaRPr lang="en-US" sz="1700" dirty="0"/>
          </a:p>
          <a:p>
            <a:pPr marL="203200" indent="-203200">
              <a:spcAft>
                <a:spcPts val="600"/>
              </a:spcAft>
              <a:buSzPct val="100000"/>
              <a:buChar char="•"/>
            </a:pPr>
            <a:r>
              <a:rPr lang="en-US" sz="1700" dirty="0">
                <a:solidFill>
                  <a:schemeClr val="tx1"/>
                </a:solidFill>
              </a:rPr>
              <a:t>Remove rows with null ARR_DELAY</a:t>
            </a:r>
            <a:endParaRPr lang="en-US" sz="1700" dirty="0"/>
          </a:p>
          <a:p>
            <a:pPr marL="203200" indent="-203200">
              <a:spcAft>
                <a:spcPts val="600"/>
              </a:spcAft>
              <a:buSzPct val="100000"/>
              <a:buChar char="•"/>
            </a:pPr>
            <a:r>
              <a:rPr lang="en-US" sz="1700" dirty="0">
                <a:solidFill>
                  <a:schemeClr val="tx1"/>
                </a:solidFill>
              </a:rPr>
              <a:t>Remove duplicate records</a:t>
            </a:r>
            <a:endParaRPr lang="en-US" sz="1700" dirty="0"/>
          </a:p>
          <a:p>
            <a:pPr marL="203200" indent="-203200">
              <a:spcAft>
                <a:spcPts val="600"/>
              </a:spcAft>
              <a:buSzPct val="100000"/>
              <a:buChar char="•"/>
            </a:pPr>
            <a:r>
              <a:rPr lang="en-US" sz="1700" dirty="0">
                <a:solidFill>
                  <a:schemeClr val="tx1"/>
                </a:solidFill>
              </a:rPr>
              <a:t>Remove impossible schedule values</a:t>
            </a:r>
            <a:endParaRPr lang="en-US" sz="1700" dirty="0"/>
          </a:p>
          <a:p>
            <a:pPr marL="203200" indent="-203200">
              <a:spcAft>
                <a:spcPts val="600"/>
              </a:spcAft>
              <a:buSzPct val="100000"/>
              <a:buChar char="•"/>
            </a:pPr>
            <a:r>
              <a:rPr lang="en-US" sz="1700" dirty="0">
                <a:solidFill>
                  <a:srgbClr val="000000"/>
                </a:solidFill>
                <a:highlight>
                  <a:srgbClr val="FFFF00"/>
                </a:highlight>
              </a:rPr>
              <a:t>Rows: [FUNNEL_0_ROWS] → [FUNNEL_5_ROWS]</a:t>
            </a:r>
            <a:endParaRPr lang="en-US" sz="1700" dirty="0"/>
          </a:p>
        </p:txBody>
      </p:sp>
      <p:sp>
        <p:nvSpPr>
          <p:cNvPr id="4" name="leak-card"/>
          <p:cNvSpPr/>
          <p:nvPr/>
        </p:nvSpPr>
        <p:spPr>
          <a:xfrm>
            <a:off x="6400800" y="1280160"/>
            <a:ext cx="5239512" cy="4526280"/>
          </a:xfrm>
          <a:prstGeom prst="roundRect">
            <a:avLst>
              <a:gd name="adj" fmla="val 1616"/>
            </a:avLst>
          </a:prstGeom>
          <a:solidFill>
            <a:schemeClr val="bg2"/>
          </a:solidFill>
          <a:ln w="12700">
            <a:solidFill>
              <a:schemeClr val="bg2"/>
            </a:solidFill>
            <a:prstDash val="solid"/>
          </a:ln>
        </p:spPr>
      </p:sp>
      <p:sp>
        <p:nvSpPr>
          <p:cNvPr id="5" name="leak-circle"/>
          <p:cNvSpPr/>
          <p:nvPr/>
        </p:nvSpPr>
        <p:spPr>
          <a:xfrm>
            <a:off x="6675120" y="1508760"/>
            <a:ext cx="685800" cy="685800"/>
          </a:xfrm>
          <a:prstGeom prst="ellipse">
            <a:avLst/>
          </a:prstGeom>
          <a:solidFill>
            <a:srgbClr val="EB6834"/>
          </a:solidFill>
          <a:ln w="12700">
            <a:solidFill>
              <a:srgbClr val="EB6834"/>
            </a:solidFill>
            <a:prstDash val="solid"/>
          </a:ln>
        </p:spPr>
      </p:sp>
      <p:pic>
        <p:nvPicPr>
          <p:cNvPr id="6" name="leak-icon" descr="preencoded.png">    </p:cNvPr>
          <p:cNvPicPr>
            <a:picLocks noChangeAspect="1"/>
          </p:cNvPicPr>
          <p:nvPr/>
        </p:nvPicPr>
        <p:blipFill>
          <a:blip r:embed="rId1"/>
          <a:stretch>
            <a:fillRect/>
          </a:stretch>
        </p:blipFill>
        <p:spPr>
          <a:xfrm>
            <a:off x="6846570" y="1680210"/>
            <a:ext cx="342900" cy="342900"/>
          </a:xfrm>
          <a:prstGeom prst="rect">
            <a:avLst/>
          </a:prstGeom>
        </p:spPr>
      </p:pic>
      <p:sp>
        <p:nvSpPr>
          <p:cNvPr id="7" name="Text 4"/>
          <p:cNvSpPr txBox="1"/>
          <p:nvPr/>
        </p:nvSpPr>
        <p:spPr>
          <a:xfrm>
            <a:off x="7543800" y="1600200"/>
            <a:ext cx="3840480" cy="502920"/>
          </a:xfrm>
          <a:prstGeom prst="rect">
            <a:avLst/>
          </a:prstGeom>
          <a:noFill/>
          <a:ln/>
        </p:spPr>
        <p:txBody>
          <a:bodyPr wrap="square" lIns="0" tIns="0" rIns="0" bIns="0" rtlCol="0" anchor="ctr"/>
          <a:lstStyle/>
          <a:p>
            <a:pPr indent="0" marL="0">
              <a:buNone/>
            </a:pPr>
            <a:r>
              <a:rPr lang="en-US" sz="2000" b="1" dirty="0">
                <a:solidFill>
                  <a:schemeClr val="tx1"/>
                </a:solidFill>
              </a:rPr>
              <a:t>Leakage guard</a:t>
            </a:r>
            <a:endParaRPr lang="en-US" sz="2000" dirty="0"/>
          </a:p>
        </p:txBody>
      </p:sp>
      <p:sp>
        <p:nvSpPr>
          <p:cNvPr id="8" name="Text 5"/>
          <p:cNvSpPr txBox="1"/>
          <p:nvPr/>
        </p:nvSpPr>
        <p:spPr>
          <a:xfrm>
            <a:off x="6675120" y="2377440"/>
            <a:ext cx="4754880" cy="32918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Allow-list at ingestion: post-flight columns are never loaded</a:t>
            </a:r>
            <a:endParaRPr lang="en-US" sz="1500" dirty="0"/>
          </a:p>
          <a:p>
            <a:pPr marL="203200" indent="-203200">
              <a:spcAft>
                <a:spcPts val="600"/>
              </a:spcAft>
              <a:buSzPct val="100000"/>
              <a:buChar char="•"/>
            </a:pPr>
            <a:r>
              <a:rPr lang="en-US" sz="1500" dirty="0">
                <a:solidFill>
                  <a:schemeClr val="tx1"/>
                </a:solidFill>
              </a:rPr>
              <a:t>Also excluded: DEP_DELAY, DEP_TIME, TAXI_OUT, DEP_DEL15</a:t>
            </a:r>
            <a:endParaRPr lang="en-US" sz="1500" dirty="0"/>
          </a:p>
          <a:p>
            <a:pPr marL="203200" indent="-203200">
              <a:spcAft>
                <a:spcPts val="600"/>
              </a:spcAft>
              <a:buSzPct val="100000"/>
              <a:buChar char="•"/>
            </a:pPr>
            <a:r>
              <a:rPr lang="en-US" sz="1500" dirty="0">
                <a:solidFill>
                  <a:schemeClr val="tx1"/>
                </a:solidFill>
              </a:rPr>
              <a:t>ARR_DELAY only builds the label, then it is dropped</a:t>
            </a:r>
            <a:endParaRPr lang="en-US" sz="1500" dirty="0"/>
          </a:p>
          <a:p>
            <a:pPr marL="203200" indent="-203200">
              <a:spcAft>
                <a:spcPts val="600"/>
              </a:spcAft>
              <a:buSzPct val="100000"/>
              <a:buChar char="•"/>
            </a:pPr>
            <a:r>
              <a:rPr lang="en-US" sz="1500" dirty="0">
                <a:solidFill>
                  <a:schemeClr val="tx1"/>
                </a:solidFill>
              </a:rPr>
              <a:t>Schedule counts use the full schedule, before cancelled flights are removed</a:t>
            </a:r>
            <a:endParaRPr lang="en-US" sz="1500" dirty="0"/>
          </a:p>
          <a:p>
            <a:pPr marL="203200" indent="-203200">
              <a:spcAft>
                <a:spcPts val="600"/>
              </a:spcAft>
              <a:buSzPct val="100000"/>
              <a:buChar char="•"/>
            </a:pPr>
            <a:r>
              <a:rPr lang="en-US" sz="1500" dirty="0">
                <a:solidFill>
                  <a:schemeClr val="tx1"/>
                </a:solidFill>
              </a:rPr>
              <a:t>Assertion fails the run if a forbidden column reaches the features</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Feature engineering: </a:t>
            </a:r>
            <a:pPr algn="l" indent="0" marL="0">
              <a:buNone/>
            </a:pPr>
            <a:r>
              <a:rPr lang="en-US" sz="3200" b="1" dirty="0">
                <a:solidFill>
                  <a:srgbClr val="000000"/>
                </a:solidFill>
                <a:highlight>
                  <a:srgbClr val="FFFF00"/>
                </a:highlight>
              </a:rPr>
              <a:t>[N_FEATURES]</a:t>
            </a:r>
            <a:pPr algn="l" indent="0" marL="0">
              <a:buNone/>
            </a:pPr>
            <a:r>
              <a:rPr lang="en-US" sz="3200" b="1" dirty="0">
                <a:solidFill>
                  <a:schemeClr val="tx1"/>
                </a:solidFill>
              </a:rPr>
              <a:t> pre-departure features</a:t>
            </a:r>
            <a:endParaRPr lang="en-US" sz="3200" dirty="0"/>
          </a:p>
        </p:txBody>
      </p:sp>
      <p:sp>
        <p:nvSpPr>
          <p:cNvPr id="3" name="fg-0"/>
          <p:cNvSpPr/>
          <p:nvPr/>
        </p:nvSpPr>
        <p:spPr>
          <a:xfrm>
            <a:off x="548640" y="1325880"/>
            <a:ext cx="5440680" cy="1508760"/>
          </a:xfrm>
          <a:prstGeom prst="roundRect">
            <a:avLst>
              <a:gd name="adj" fmla="val 4848"/>
            </a:avLst>
          </a:prstGeom>
          <a:solidFill>
            <a:schemeClr val="bg2"/>
          </a:solidFill>
          <a:ln w="12700">
            <a:solidFill>
              <a:schemeClr val="bg2"/>
            </a:solidFill>
            <a:prstDash val="solid"/>
          </a:ln>
        </p:spPr>
      </p:sp>
      <p:sp>
        <p:nvSpPr>
          <p:cNvPr id="4" name="fg-icon-0-circle"/>
          <p:cNvSpPr/>
          <p:nvPr/>
        </p:nvSpPr>
        <p:spPr>
          <a:xfrm>
            <a:off x="777240" y="1691640"/>
            <a:ext cx="777240" cy="777240"/>
          </a:xfrm>
          <a:prstGeom prst="ellipse">
            <a:avLst/>
          </a:prstGeom>
          <a:solidFill>
            <a:srgbClr val="2A78D6"/>
          </a:solidFill>
          <a:ln w="12700">
            <a:solidFill>
              <a:srgbClr val="2A78D6"/>
            </a:solidFill>
            <a:prstDash val="solid"/>
          </a:ln>
        </p:spPr>
      </p:sp>
      <p:pic>
        <p:nvPicPr>
          <p:cNvPr id="5" name="fg-icon-0-icon" descr="preencoded.png">    </p:cNvPr>
          <p:cNvPicPr>
            <a:picLocks noChangeAspect="1"/>
          </p:cNvPicPr>
          <p:nvPr/>
        </p:nvPicPr>
        <p:blipFill>
          <a:blip r:embed="rId1"/>
          <a:stretch>
            <a:fillRect/>
          </a:stretch>
        </p:blipFill>
        <p:spPr>
          <a:xfrm>
            <a:off x="971550" y="1885950"/>
            <a:ext cx="388620" cy="388620"/>
          </a:xfrm>
          <a:prstGeom prst="rect">
            <a:avLst/>
          </a:prstGeom>
        </p:spPr>
      </p:pic>
      <p:sp>
        <p:nvSpPr>
          <p:cNvPr id="6" name="Text 3"/>
          <p:cNvSpPr txBox="1"/>
          <p:nvPr/>
        </p:nvSpPr>
        <p:spPr>
          <a:xfrm>
            <a:off x="1783080" y="149047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Calendar and time</a:t>
            </a:r>
            <a:endParaRPr lang="en-US" sz="1800" dirty="0"/>
          </a:p>
        </p:txBody>
      </p:sp>
      <p:sp>
        <p:nvSpPr>
          <p:cNvPr id="7" name="Text 4"/>
          <p:cNvSpPr txBox="1"/>
          <p:nvPr/>
        </p:nvSpPr>
        <p:spPr>
          <a:xfrm>
            <a:off x="1783080" y="192024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Month, day, weekday, departure and arrival hour (with sin/cos), days to the nearest federal holiday</a:t>
            </a:r>
            <a:endParaRPr lang="en-US" sz="1400" dirty="0"/>
          </a:p>
        </p:txBody>
      </p:sp>
      <p:sp>
        <p:nvSpPr>
          <p:cNvPr id="8" name="fg-1"/>
          <p:cNvSpPr/>
          <p:nvPr/>
        </p:nvSpPr>
        <p:spPr>
          <a:xfrm>
            <a:off x="6172200" y="1325880"/>
            <a:ext cx="5440680" cy="1508760"/>
          </a:xfrm>
          <a:prstGeom prst="roundRect">
            <a:avLst>
              <a:gd name="adj" fmla="val 4848"/>
            </a:avLst>
          </a:prstGeom>
          <a:solidFill>
            <a:schemeClr val="bg2"/>
          </a:solidFill>
          <a:ln w="12700">
            <a:solidFill>
              <a:schemeClr val="bg2"/>
            </a:solidFill>
            <a:prstDash val="solid"/>
          </a:ln>
        </p:spPr>
      </p:sp>
      <p:sp>
        <p:nvSpPr>
          <p:cNvPr id="9" name="fg-icon-1-circle"/>
          <p:cNvSpPr/>
          <p:nvPr/>
        </p:nvSpPr>
        <p:spPr>
          <a:xfrm>
            <a:off x="6400800" y="1691640"/>
            <a:ext cx="777240" cy="777240"/>
          </a:xfrm>
          <a:prstGeom prst="ellipse">
            <a:avLst/>
          </a:prstGeom>
          <a:solidFill>
            <a:srgbClr val="2A78D6"/>
          </a:solidFill>
          <a:ln w="12700">
            <a:solidFill>
              <a:srgbClr val="2A78D6"/>
            </a:solidFill>
            <a:prstDash val="solid"/>
          </a:ln>
        </p:spPr>
      </p:sp>
      <p:pic>
        <p:nvPicPr>
          <p:cNvPr id="10" name="fg-icon-1-icon" descr="preencoded.png">    </p:cNvPr>
          <p:cNvPicPr>
            <a:picLocks noChangeAspect="1"/>
          </p:cNvPicPr>
          <p:nvPr/>
        </p:nvPicPr>
        <p:blipFill>
          <a:blip r:embed="rId2"/>
          <a:stretch>
            <a:fillRect/>
          </a:stretch>
        </p:blipFill>
        <p:spPr>
          <a:xfrm>
            <a:off x="6595110" y="1885950"/>
            <a:ext cx="388620" cy="388620"/>
          </a:xfrm>
          <a:prstGeom prst="rect">
            <a:avLst/>
          </a:prstGeom>
        </p:spPr>
      </p:pic>
      <p:sp>
        <p:nvSpPr>
          <p:cNvPr id="11" name="Text 7"/>
          <p:cNvSpPr txBox="1"/>
          <p:nvPr/>
        </p:nvSpPr>
        <p:spPr>
          <a:xfrm>
            <a:off x="7406640" y="149047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Flight and airline</a:t>
            </a:r>
            <a:endParaRPr lang="en-US" sz="1800" dirty="0"/>
          </a:p>
        </p:txBody>
      </p:sp>
      <p:sp>
        <p:nvSpPr>
          <p:cNvPr id="12" name="Text 8"/>
          <p:cNvSpPr txBox="1"/>
          <p:nvPr/>
        </p:nvSpPr>
        <p:spPr>
          <a:xfrm>
            <a:off x="7406640" y="192024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Scheduled duration, distance, airline (one-hot)</a:t>
            </a:r>
            <a:endParaRPr lang="en-US" sz="1400" dirty="0"/>
          </a:p>
        </p:txBody>
      </p:sp>
      <p:sp>
        <p:nvSpPr>
          <p:cNvPr id="13" name="fg-2"/>
          <p:cNvSpPr/>
          <p:nvPr/>
        </p:nvSpPr>
        <p:spPr>
          <a:xfrm>
            <a:off x="548640" y="3017520"/>
            <a:ext cx="5440680" cy="1508760"/>
          </a:xfrm>
          <a:prstGeom prst="roundRect">
            <a:avLst>
              <a:gd name="adj" fmla="val 4848"/>
            </a:avLst>
          </a:prstGeom>
          <a:solidFill>
            <a:schemeClr val="bg2"/>
          </a:solidFill>
          <a:ln w="12700">
            <a:solidFill>
              <a:schemeClr val="bg2"/>
            </a:solidFill>
            <a:prstDash val="solid"/>
          </a:ln>
        </p:spPr>
      </p:sp>
      <p:sp>
        <p:nvSpPr>
          <p:cNvPr id="14" name="fg-icon-2-circle"/>
          <p:cNvSpPr/>
          <p:nvPr/>
        </p:nvSpPr>
        <p:spPr>
          <a:xfrm>
            <a:off x="777240" y="3383280"/>
            <a:ext cx="777240" cy="777240"/>
          </a:xfrm>
          <a:prstGeom prst="ellipse">
            <a:avLst/>
          </a:prstGeom>
          <a:solidFill>
            <a:srgbClr val="2A78D6"/>
          </a:solidFill>
          <a:ln w="12700">
            <a:solidFill>
              <a:srgbClr val="2A78D6"/>
            </a:solidFill>
            <a:prstDash val="solid"/>
          </a:ln>
        </p:spPr>
      </p:sp>
      <p:pic>
        <p:nvPicPr>
          <p:cNvPr id="15" name="fg-icon-2-icon" descr="preencoded.png">    </p:cNvPr>
          <p:cNvPicPr>
            <a:picLocks noChangeAspect="1"/>
          </p:cNvPicPr>
          <p:nvPr/>
        </p:nvPicPr>
        <p:blipFill>
          <a:blip r:embed="rId3"/>
          <a:stretch>
            <a:fillRect/>
          </a:stretch>
        </p:blipFill>
        <p:spPr>
          <a:xfrm>
            <a:off x="971550" y="3577590"/>
            <a:ext cx="388620" cy="388620"/>
          </a:xfrm>
          <a:prstGeom prst="rect">
            <a:avLst/>
          </a:prstGeom>
        </p:spPr>
      </p:pic>
      <p:sp>
        <p:nvSpPr>
          <p:cNvPr id="16" name="Text 11"/>
          <p:cNvSpPr txBox="1"/>
          <p:nvPr/>
        </p:nvSpPr>
        <p:spPr>
          <a:xfrm>
            <a:off x="1783080" y="318211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Airport congestion</a:t>
            </a:r>
            <a:endParaRPr lang="en-US" sz="1800" dirty="0"/>
          </a:p>
        </p:txBody>
      </p:sp>
      <p:sp>
        <p:nvSpPr>
          <p:cNvPr id="17" name="Text 12"/>
          <p:cNvSpPr txBox="1"/>
          <p:nvPr/>
        </p:nvSpPr>
        <p:spPr>
          <a:xfrm>
            <a:off x="1783080" y="361188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Scheduled departures and arrivals at the airport that hour; daily airport and carrier volume</a:t>
            </a:r>
            <a:endParaRPr lang="en-US" sz="1400" dirty="0"/>
          </a:p>
        </p:txBody>
      </p:sp>
      <p:sp>
        <p:nvSpPr>
          <p:cNvPr id="18" name="fg-3"/>
          <p:cNvSpPr/>
          <p:nvPr/>
        </p:nvSpPr>
        <p:spPr>
          <a:xfrm>
            <a:off x="6172200" y="3017520"/>
            <a:ext cx="5440680" cy="1508760"/>
          </a:xfrm>
          <a:prstGeom prst="roundRect">
            <a:avLst>
              <a:gd name="adj" fmla="val 4848"/>
            </a:avLst>
          </a:prstGeom>
          <a:solidFill>
            <a:schemeClr val="bg2"/>
          </a:solidFill>
          <a:ln w="12700">
            <a:solidFill>
              <a:schemeClr val="bg2"/>
            </a:solidFill>
            <a:prstDash val="solid"/>
          </a:ln>
        </p:spPr>
      </p:sp>
      <p:sp>
        <p:nvSpPr>
          <p:cNvPr id="19" name="fg-icon-3-circle"/>
          <p:cNvSpPr/>
          <p:nvPr/>
        </p:nvSpPr>
        <p:spPr>
          <a:xfrm>
            <a:off x="6400800" y="3383280"/>
            <a:ext cx="777240" cy="777240"/>
          </a:xfrm>
          <a:prstGeom prst="ellipse">
            <a:avLst/>
          </a:prstGeom>
          <a:solidFill>
            <a:srgbClr val="EB6834"/>
          </a:solidFill>
          <a:ln w="12700">
            <a:solidFill>
              <a:srgbClr val="EB6834"/>
            </a:solidFill>
            <a:prstDash val="solid"/>
          </a:ln>
        </p:spPr>
      </p:sp>
      <p:pic>
        <p:nvPicPr>
          <p:cNvPr id="20" name="fg-icon-3-icon" descr="preencoded.png">    </p:cNvPr>
          <p:cNvPicPr>
            <a:picLocks noChangeAspect="1"/>
          </p:cNvPicPr>
          <p:nvPr/>
        </p:nvPicPr>
        <p:blipFill>
          <a:blip r:embed="rId4"/>
          <a:stretch>
            <a:fillRect/>
          </a:stretch>
        </p:blipFill>
        <p:spPr>
          <a:xfrm>
            <a:off x="6595110" y="3577590"/>
            <a:ext cx="388620" cy="388620"/>
          </a:xfrm>
          <a:prstGeom prst="rect">
            <a:avLst/>
          </a:prstGeom>
        </p:spPr>
      </p:pic>
      <p:sp>
        <p:nvSpPr>
          <p:cNvPr id="21" name="Text 15"/>
          <p:cNvSpPr txBox="1"/>
          <p:nvPr/>
        </p:nvSpPr>
        <p:spPr>
          <a:xfrm>
            <a:off x="7406640" y="3182112"/>
            <a:ext cx="4023360" cy="411480"/>
          </a:xfrm>
          <a:prstGeom prst="rect">
            <a:avLst/>
          </a:prstGeom>
          <a:noFill/>
          <a:ln/>
        </p:spPr>
        <p:txBody>
          <a:bodyPr wrap="square" lIns="0" tIns="0" rIns="0" bIns="0" rtlCol="0" anchor="ctr"/>
          <a:lstStyle/>
          <a:p>
            <a:pPr indent="0" marL="0">
              <a:buNone/>
            </a:pPr>
            <a:r>
              <a:rPr lang="en-US" sz="1800" b="1" dirty="0">
                <a:solidFill>
                  <a:schemeClr val="tx1"/>
                </a:solidFill>
              </a:rPr>
              <a:t>Aircraft rotation</a:t>
            </a:r>
            <a:endParaRPr lang="en-US" sz="1800" dirty="0"/>
          </a:p>
        </p:txBody>
      </p:sp>
      <p:sp>
        <p:nvSpPr>
          <p:cNvPr id="22" name="Text 16"/>
          <p:cNvSpPr txBox="1"/>
          <p:nvPr/>
        </p:nvSpPr>
        <p:spPr>
          <a:xfrm>
            <a:off x="7406640" y="3611880"/>
            <a:ext cx="4023360" cy="822960"/>
          </a:xfrm>
          <a:prstGeom prst="rect">
            <a:avLst/>
          </a:prstGeom>
          <a:noFill/>
          <a:ln/>
        </p:spPr>
        <p:txBody>
          <a:bodyPr wrap="square" lIns="0" tIns="0" rIns="0" bIns="0" rtlCol="0" anchor="ctr"/>
          <a:lstStyle/>
          <a:p>
            <a:pPr indent="0" marL="0">
              <a:buNone/>
            </a:pPr>
            <a:r>
              <a:rPr lang="en-US" sz="1400" dirty="0">
                <a:solidFill>
                  <a:schemeClr val="accent6"/>
                </a:solidFill>
              </a:rPr>
              <a:t>Leg of the day for this tail number and the scheduled turnaround since its last flight (window function)</a:t>
            </a:r>
            <a:endParaRPr lang="en-US" sz="1400" dirty="0"/>
          </a:p>
        </p:txBody>
      </p:sp>
      <p:sp>
        <p:nvSpPr>
          <p:cNvPr id="23" name="te-card"/>
          <p:cNvSpPr/>
          <p:nvPr/>
        </p:nvSpPr>
        <p:spPr>
          <a:xfrm>
            <a:off x="548640" y="4800600"/>
            <a:ext cx="11094415" cy="1051560"/>
          </a:xfrm>
          <a:prstGeom prst="roundRect">
            <a:avLst>
              <a:gd name="adj" fmla="val 6957"/>
            </a:avLst>
          </a:prstGeom>
          <a:solidFill>
            <a:srgbClr val="0B1F3A"/>
          </a:solidFill>
          <a:ln w="12700">
            <a:solidFill>
              <a:srgbClr val="0B1F3A"/>
            </a:solidFill>
            <a:prstDash val="solid"/>
          </a:ln>
        </p:spPr>
      </p:sp>
      <p:sp>
        <p:nvSpPr>
          <p:cNvPr id="24" name="Text 18"/>
          <p:cNvSpPr txBox="1"/>
          <p:nvPr/>
        </p:nvSpPr>
        <p:spPr>
          <a:xfrm>
            <a:off x="868680" y="4800600"/>
            <a:ext cx="10454335" cy="1051560"/>
          </a:xfrm>
          <a:prstGeom prst="rect">
            <a:avLst/>
          </a:prstGeom>
          <a:noFill/>
          <a:ln/>
        </p:spPr>
        <p:txBody>
          <a:bodyPr wrap="square" lIns="0" tIns="0" rIns="0" bIns="0" rtlCol="0" anchor="ctr"/>
          <a:lstStyle/>
          <a:p>
            <a:pPr indent="0" marL="0">
              <a:buNone/>
            </a:pPr>
            <a:r>
              <a:rPr lang="en-US" sz="1500" b="1" dirty="0">
                <a:solidFill>
                  <a:srgbClr val="FFFFFF"/>
                </a:solidFill>
              </a:rPr>
              <a:t>High-cardinality categories → smoothed target encoding.  </a:t>
            </a:r>
            <a:pPr indent="0" marL="0">
              <a:buNone/>
            </a:pPr>
            <a:r>
              <a:rPr lang="en-US" sz="1500" dirty="0">
                <a:solidFill>
                  <a:srgbClr val="C9D6E3"/>
                </a:solidFill>
              </a:rPr>
              <a:t>Origin, destination, route, origin×hour and carrier×origin become their historical delay rate, fitted on the training split only.</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Three Spark MLlib classifiers, one fair setup</a:t>
            </a:r>
            <a:endParaRPr lang="en-US" sz="3200" dirty="0"/>
          </a:p>
        </p:txBody>
      </p:sp>
      <p:sp>
        <p:nvSpPr>
          <p:cNvPr id="3" name="model-0"/>
          <p:cNvSpPr/>
          <p:nvPr/>
        </p:nvSpPr>
        <p:spPr>
          <a:xfrm>
            <a:off x="548640" y="1325880"/>
            <a:ext cx="3515258" cy="2926080"/>
          </a:xfrm>
          <a:prstGeom prst="roundRect">
            <a:avLst>
              <a:gd name="adj" fmla="val 2500"/>
            </a:avLst>
          </a:prstGeom>
          <a:solidFill>
            <a:schemeClr val="bg2"/>
          </a:solidFill>
          <a:ln w="12700">
            <a:solidFill>
              <a:schemeClr val="bg2"/>
            </a:solidFill>
            <a:prstDash val="solid"/>
          </a:ln>
        </p:spPr>
      </p:sp>
      <p:sp>
        <p:nvSpPr>
          <p:cNvPr id="4" name="model-icon-0-circle"/>
          <p:cNvSpPr/>
          <p:nvPr/>
        </p:nvSpPr>
        <p:spPr>
          <a:xfrm>
            <a:off x="822960" y="1554480"/>
            <a:ext cx="731520" cy="731520"/>
          </a:xfrm>
          <a:prstGeom prst="ellipse">
            <a:avLst/>
          </a:prstGeom>
          <a:solidFill>
            <a:srgbClr val="2A78D6"/>
          </a:solidFill>
          <a:ln w="12700">
            <a:solidFill>
              <a:srgbClr val="2A78D6"/>
            </a:solidFill>
            <a:prstDash val="solid"/>
          </a:ln>
        </p:spPr>
      </p:sp>
      <p:pic>
        <p:nvPicPr>
          <p:cNvPr id="5" name="model-icon-0-icon" descr="preencoded.png">    </p:cNvPr>
          <p:cNvPicPr>
            <a:picLocks noChangeAspect="1"/>
          </p:cNvPicPr>
          <p:nvPr/>
        </p:nvPicPr>
        <p:blipFill>
          <a:blip r:embed="rId1"/>
          <a:stretch>
            <a:fillRect/>
          </a:stretch>
        </p:blipFill>
        <p:spPr>
          <a:xfrm>
            <a:off x="1005840" y="1737360"/>
            <a:ext cx="365760" cy="365760"/>
          </a:xfrm>
          <a:prstGeom prst="rect">
            <a:avLst/>
          </a:prstGeom>
        </p:spPr>
      </p:pic>
      <p:sp>
        <p:nvSpPr>
          <p:cNvPr id="6" name="Text 3"/>
          <p:cNvSpPr txBox="1"/>
          <p:nvPr/>
        </p:nvSpPr>
        <p:spPr>
          <a:xfrm>
            <a:off x="1691640"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Logistic Regression</a:t>
            </a:r>
            <a:endParaRPr lang="en-US" sz="1900" dirty="0"/>
          </a:p>
        </p:txBody>
      </p:sp>
      <p:sp>
        <p:nvSpPr>
          <p:cNvPr id="7" name="Text 4"/>
          <p:cNvSpPr txBox="1"/>
          <p:nvPr/>
        </p:nvSpPr>
        <p:spPr>
          <a:xfrm>
            <a:off x="822960"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Linear baseline; interpretable coefficients</a:t>
            </a:r>
            <a:endParaRPr lang="en-US" sz="1500" dirty="0"/>
          </a:p>
        </p:txBody>
      </p:sp>
      <p:sp>
        <p:nvSpPr>
          <p:cNvPr id="8" name="Text 5"/>
          <p:cNvSpPr txBox="1"/>
          <p:nvPr/>
        </p:nvSpPr>
        <p:spPr>
          <a:xfrm>
            <a:off x="822960"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Gradient summed across partitions: scales almost linearly</a:t>
            </a:r>
            <a:endParaRPr lang="en-US" sz="1300" dirty="0"/>
          </a:p>
        </p:txBody>
      </p:sp>
      <p:sp>
        <p:nvSpPr>
          <p:cNvPr id="9" name="model-1"/>
          <p:cNvSpPr/>
          <p:nvPr/>
        </p:nvSpPr>
        <p:spPr>
          <a:xfrm>
            <a:off x="4338218" y="1325880"/>
            <a:ext cx="3515258" cy="2926080"/>
          </a:xfrm>
          <a:prstGeom prst="roundRect">
            <a:avLst>
              <a:gd name="adj" fmla="val 2500"/>
            </a:avLst>
          </a:prstGeom>
          <a:solidFill>
            <a:schemeClr val="bg2"/>
          </a:solidFill>
          <a:ln w="12700">
            <a:solidFill>
              <a:schemeClr val="bg2"/>
            </a:solidFill>
            <a:prstDash val="solid"/>
          </a:ln>
        </p:spPr>
      </p:sp>
      <p:sp>
        <p:nvSpPr>
          <p:cNvPr id="10" name="model-icon-1-circle"/>
          <p:cNvSpPr/>
          <p:nvPr/>
        </p:nvSpPr>
        <p:spPr>
          <a:xfrm>
            <a:off x="4612538" y="1554480"/>
            <a:ext cx="731520" cy="731520"/>
          </a:xfrm>
          <a:prstGeom prst="ellipse">
            <a:avLst/>
          </a:prstGeom>
          <a:solidFill>
            <a:srgbClr val="EB6834"/>
          </a:solidFill>
          <a:ln w="12700">
            <a:solidFill>
              <a:srgbClr val="EB6834"/>
            </a:solidFill>
            <a:prstDash val="solid"/>
          </a:ln>
        </p:spPr>
      </p:sp>
      <p:pic>
        <p:nvPicPr>
          <p:cNvPr id="11" name="model-icon-1-icon" descr="preencoded.png">    </p:cNvPr>
          <p:cNvPicPr>
            <a:picLocks noChangeAspect="1"/>
          </p:cNvPicPr>
          <p:nvPr/>
        </p:nvPicPr>
        <p:blipFill>
          <a:blip r:embed="rId2"/>
          <a:stretch>
            <a:fillRect/>
          </a:stretch>
        </p:blipFill>
        <p:spPr>
          <a:xfrm>
            <a:off x="4795418" y="1737360"/>
            <a:ext cx="365760" cy="365760"/>
          </a:xfrm>
          <a:prstGeom prst="rect">
            <a:avLst/>
          </a:prstGeom>
        </p:spPr>
      </p:pic>
      <p:sp>
        <p:nvSpPr>
          <p:cNvPr id="12" name="Text 8"/>
          <p:cNvSpPr txBox="1"/>
          <p:nvPr/>
        </p:nvSpPr>
        <p:spPr>
          <a:xfrm>
            <a:off x="5481218"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Random Forest</a:t>
            </a:r>
            <a:endParaRPr lang="en-US" sz="1900" dirty="0"/>
          </a:p>
        </p:txBody>
      </p:sp>
      <p:sp>
        <p:nvSpPr>
          <p:cNvPr id="13" name="Text 9"/>
          <p:cNvSpPr txBox="1"/>
          <p:nvPr/>
        </p:nvSpPr>
        <p:spPr>
          <a:xfrm>
            <a:off x="4612538"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Many decorrelated trees, averaged</a:t>
            </a:r>
            <a:endParaRPr lang="en-US" sz="1500" dirty="0"/>
          </a:p>
        </p:txBody>
      </p:sp>
      <p:sp>
        <p:nvSpPr>
          <p:cNvPr id="14" name="Text 10"/>
          <p:cNvSpPr txBox="1"/>
          <p:nvPr/>
        </p:nvSpPr>
        <p:spPr>
          <a:xfrm>
            <a:off x="4612538"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Trees are independent: easy to parallelise</a:t>
            </a:r>
            <a:endParaRPr lang="en-US" sz="1300" dirty="0"/>
          </a:p>
        </p:txBody>
      </p:sp>
      <p:sp>
        <p:nvSpPr>
          <p:cNvPr id="15" name="model-2"/>
          <p:cNvSpPr/>
          <p:nvPr/>
        </p:nvSpPr>
        <p:spPr>
          <a:xfrm>
            <a:off x="8127797" y="1325880"/>
            <a:ext cx="3515258" cy="2926080"/>
          </a:xfrm>
          <a:prstGeom prst="roundRect">
            <a:avLst>
              <a:gd name="adj" fmla="val 2500"/>
            </a:avLst>
          </a:prstGeom>
          <a:solidFill>
            <a:schemeClr val="bg2"/>
          </a:solidFill>
          <a:ln w="12700">
            <a:solidFill>
              <a:schemeClr val="bg2"/>
            </a:solidFill>
            <a:prstDash val="solid"/>
          </a:ln>
        </p:spPr>
      </p:sp>
      <p:sp>
        <p:nvSpPr>
          <p:cNvPr id="16" name="model-icon-2-circle"/>
          <p:cNvSpPr/>
          <p:nvPr/>
        </p:nvSpPr>
        <p:spPr>
          <a:xfrm>
            <a:off x="8402117" y="1554480"/>
            <a:ext cx="731520" cy="731520"/>
          </a:xfrm>
          <a:prstGeom prst="ellipse">
            <a:avLst/>
          </a:prstGeom>
          <a:solidFill>
            <a:srgbClr val="1BAF7A"/>
          </a:solidFill>
          <a:ln w="12700">
            <a:solidFill>
              <a:srgbClr val="1BAF7A"/>
            </a:solidFill>
            <a:prstDash val="solid"/>
          </a:ln>
        </p:spPr>
      </p:sp>
      <p:pic>
        <p:nvPicPr>
          <p:cNvPr id="17" name="model-icon-2-icon" descr="preencoded.png">    </p:cNvPr>
          <p:cNvPicPr>
            <a:picLocks noChangeAspect="1"/>
          </p:cNvPicPr>
          <p:nvPr/>
        </p:nvPicPr>
        <p:blipFill>
          <a:blip r:embed="rId3"/>
          <a:stretch>
            <a:fillRect/>
          </a:stretch>
        </p:blipFill>
        <p:spPr>
          <a:xfrm>
            <a:off x="8584997" y="1737360"/>
            <a:ext cx="365760" cy="365760"/>
          </a:xfrm>
          <a:prstGeom prst="rect">
            <a:avLst/>
          </a:prstGeom>
        </p:spPr>
      </p:pic>
      <p:sp>
        <p:nvSpPr>
          <p:cNvPr id="18" name="Text 13"/>
          <p:cNvSpPr txBox="1"/>
          <p:nvPr/>
        </p:nvSpPr>
        <p:spPr>
          <a:xfrm>
            <a:off x="9270797" y="1645920"/>
            <a:ext cx="2189378" cy="548640"/>
          </a:xfrm>
          <a:prstGeom prst="rect">
            <a:avLst/>
          </a:prstGeom>
          <a:noFill/>
          <a:ln/>
        </p:spPr>
        <p:txBody>
          <a:bodyPr wrap="square" lIns="0" tIns="0" rIns="0" bIns="0" rtlCol="0" anchor="ctr"/>
          <a:lstStyle/>
          <a:p>
            <a:pPr indent="0" marL="0">
              <a:buNone/>
            </a:pPr>
            <a:r>
              <a:rPr lang="en-US" sz="1900" b="1" dirty="0">
                <a:solidFill>
                  <a:schemeClr val="tx1"/>
                </a:solidFill>
              </a:rPr>
              <a:t>Gradient-Boosted Trees</a:t>
            </a:r>
            <a:endParaRPr lang="en-US" sz="1900" dirty="0"/>
          </a:p>
        </p:txBody>
      </p:sp>
      <p:sp>
        <p:nvSpPr>
          <p:cNvPr id="19" name="Text 14"/>
          <p:cNvSpPr txBox="1"/>
          <p:nvPr/>
        </p:nvSpPr>
        <p:spPr>
          <a:xfrm>
            <a:off x="8402117" y="2514600"/>
            <a:ext cx="2966618" cy="731520"/>
          </a:xfrm>
          <a:prstGeom prst="rect">
            <a:avLst/>
          </a:prstGeom>
          <a:noFill/>
          <a:ln/>
        </p:spPr>
        <p:txBody>
          <a:bodyPr wrap="square" lIns="0" tIns="0" rIns="0" bIns="0" rtlCol="0" anchor="ctr"/>
          <a:lstStyle/>
          <a:p>
            <a:pPr indent="0" marL="0">
              <a:buNone/>
            </a:pPr>
            <a:r>
              <a:rPr lang="en-US" sz="1500" dirty="0">
                <a:solidFill>
                  <a:schemeClr val="tx1"/>
                </a:solidFill>
              </a:rPr>
              <a:t>Trees added in sequence, each fixing the last</a:t>
            </a:r>
            <a:endParaRPr lang="en-US" sz="1500" dirty="0"/>
          </a:p>
        </p:txBody>
      </p:sp>
      <p:sp>
        <p:nvSpPr>
          <p:cNvPr id="20" name="Text 15"/>
          <p:cNvSpPr txBox="1"/>
          <p:nvPr/>
        </p:nvSpPr>
        <p:spPr>
          <a:xfrm>
            <a:off x="8402117" y="3291840"/>
            <a:ext cx="2966618" cy="822960"/>
          </a:xfrm>
          <a:prstGeom prst="rect">
            <a:avLst/>
          </a:prstGeom>
          <a:noFill/>
          <a:ln/>
        </p:spPr>
        <p:txBody>
          <a:bodyPr wrap="square" lIns="0" tIns="0" rIns="0" bIns="0" rtlCol="0" anchor="ctr"/>
          <a:lstStyle/>
          <a:p>
            <a:pPr indent="0" marL="0">
              <a:buNone/>
            </a:pPr>
            <a:r>
              <a:rPr lang="en-US" sz="1300" i="1" dirty="0">
                <a:solidFill>
                  <a:schemeClr val="accent6"/>
                </a:solidFill>
              </a:rPr>
              <a:t>Sequential rounds: hardest to scale</a:t>
            </a:r>
            <a:endParaRPr lang="en-US" sz="1300" dirty="0"/>
          </a:p>
        </p:txBody>
      </p:sp>
      <p:sp>
        <p:nvSpPr>
          <p:cNvPr id="21" name="Text 16"/>
          <p:cNvSpPr txBox="1"/>
          <p:nvPr/>
        </p:nvSpPr>
        <p:spPr>
          <a:xfrm>
            <a:off x="548640" y="45262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Split</a:t>
            </a:r>
            <a:endParaRPr lang="en-US" sz="1500" dirty="0"/>
          </a:p>
        </p:txBody>
      </p:sp>
      <p:sp>
        <p:nvSpPr>
          <p:cNvPr id="22" name="Text 17"/>
          <p:cNvSpPr txBox="1"/>
          <p:nvPr/>
        </p:nvSpPr>
        <p:spPr>
          <a:xfrm>
            <a:off x="2103120" y="4526280"/>
            <a:ext cx="9509760" cy="411480"/>
          </a:xfrm>
          <a:prstGeom prst="rect">
            <a:avLst/>
          </a:prstGeom>
          <a:noFill/>
          <a:ln/>
        </p:spPr>
        <p:txBody>
          <a:bodyPr wrap="square" lIns="0" tIns="0" rIns="0" bIns="0" rtlCol="0" anchor="ctr"/>
          <a:lstStyle/>
          <a:p>
            <a:pPr indent="0" marL="0">
              <a:buNone/>
            </a:pPr>
            <a:r>
              <a:rPr lang="en-US" sz="1500" dirty="0">
                <a:solidFill>
                  <a:schemeClr val="tx1"/>
                </a:solidFill>
              </a:rPr>
              <a:t>70 / 10 / 20 train, validation, test; plus a temporal test (Jan-Sep → Oct-Dec)</a:t>
            </a:r>
            <a:endParaRPr lang="en-US" sz="1500" dirty="0"/>
          </a:p>
        </p:txBody>
      </p:sp>
      <p:sp>
        <p:nvSpPr>
          <p:cNvPr id="23" name="Text 18"/>
          <p:cNvSpPr txBox="1"/>
          <p:nvPr/>
        </p:nvSpPr>
        <p:spPr>
          <a:xfrm>
            <a:off x="548640" y="49834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Imbalance</a:t>
            </a:r>
            <a:endParaRPr lang="en-US" sz="1500" dirty="0"/>
          </a:p>
        </p:txBody>
      </p:sp>
      <p:sp>
        <p:nvSpPr>
          <p:cNvPr id="24" name="Text 19"/>
          <p:cNvSpPr txBox="1"/>
          <p:nvPr/>
        </p:nvSpPr>
        <p:spPr>
          <a:xfrm>
            <a:off x="2103120" y="4983480"/>
            <a:ext cx="9509760" cy="411480"/>
          </a:xfrm>
          <a:prstGeom prst="rect">
            <a:avLst/>
          </a:prstGeom>
          <a:noFill/>
          <a:ln/>
        </p:spPr>
        <p:txBody>
          <a:bodyPr wrap="square" lIns="0" tIns="0" rIns="0" bIns="0" rtlCol="0" anchor="ctr"/>
          <a:lstStyle/>
          <a:p>
            <a:pPr indent="0" marL="0">
              <a:buNone/>
            </a:pPr>
            <a:r>
              <a:rPr lang="en-US" sz="1500" dirty="0">
                <a:solidFill>
                  <a:schemeClr val="tx1"/>
                </a:solidFill>
              </a:rPr>
              <a:t>Class weights via weightCol + decision threshold tuned on validation for F1</a:t>
            </a:r>
            <a:endParaRPr lang="en-US" sz="1500" dirty="0"/>
          </a:p>
        </p:txBody>
      </p:sp>
      <p:sp>
        <p:nvSpPr>
          <p:cNvPr id="25" name="Text 20"/>
          <p:cNvSpPr txBox="1"/>
          <p:nvPr/>
        </p:nvSpPr>
        <p:spPr>
          <a:xfrm>
            <a:off x="548640" y="5440680"/>
            <a:ext cx="1463040" cy="411480"/>
          </a:xfrm>
          <a:prstGeom prst="rect">
            <a:avLst/>
          </a:prstGeom>
          <a:noFill/>
          <a:ln/>
        </p:spPr>
        <p:txBody>
          <a:bodyPr wrap="square" lIns="0" tIns="0" rIns="0" bIns="0" rtlCol="0" anchor="ctr"/>
          <a:lstStyle/>
          <a:p>
            <a:pPr indent="0" marL="0">
              <a:buNone/>
            </a:pPr>
            <a:r>
              <a:rPr lang="en-US" sz="1500" b="1" dirty="0">
                <a:solidFill>
                  <a:schemeClr val="accent2"/>
                </a:solidFill>
              </a:rPr>
              <a:t>Tuning</a:t>
            </a:r>
            <a:endParaRPr lang="en-US" sz="1500" dirty="0"/>
          </a:p>
        </p:txBody>
      </p:sp>
      <p:sp>
        <p:nvSpPr>
          <p:cNvPr id="26" name="Text 21"/>
          <p:cNvSpPr txBox="1"/>
          <p:nvPr/>
        </p:nvSpPr>
        <p:spPr>
          <a:xfrm>
            <a:off x="2103120" y="5440680"/>
            <a:ext cx="9509760" cy="411480"/>
          </a:xfrm>
          <a:prstGeom prst="rect">
            <a:avLst/>
          </a:prstGeom>
          <a:noFill/>
          <a:ln/>
        </p:spPr>
        <p:txBody>
          <a:bodyPr wrap="square" lIns="0" tIns="0" rIns="0" bIns="0" rtlCol="0" anchor="ctr"/>
          <a:lstStyle/>
          <a:p>
            <a:pPr indent="0" marL="0">
              <a:buNone/>
            </a:pPr>
            <a:r>
              <a:rPr lang="en-US" sz="1500" dirty="0">
                <a:solidFill>
                  <a:schemeClr val="tx1"/>
                </a:solidFill>
              </a:rPr>
              <a:t>3-fold CrossValidator optimising PR-AUC; best settings refitted</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Results on the held-out test set</a:t>
            </a:r>
            <a:endParaRPr lang="en-US" sz="3200" dirty="0"/>
          </a:p>
        </p:txBody>
      </p:sp>
      <p:sp>
        <p:nvSpPr>
          <p:cNvPr id="3" name="ph-metrics"/>
          <p:cNvSpPr/>
          <p:nvPr/>
        </p:nvSpPr>
        <p:spPr>
          <a:xfrm>
            <a:off x="548640" y="1280160"/>
            <a:ext cx="6675120" cy="4572000"/>
          </a:xfrm>
          <a:prstGeom prst="roundRect">
            <a:avLst>
              <a:gd name="adj" fmla="val 1200"/>
            </a:avLst>
          </a:prstGeom>
          <a:solidFill>
            <a:srgbClr val="FFF8DB"/>
          </a:solidFill>
          <a:ln w="15875">
            <a:solidFill>
              <a:srgbClr val="EDA100"/>
            </a:solidFill>
            <a:prstDash val="dash"/>
          </a:ln>
        </p:spPr>
      </p:sp>
      <p:sp>
        <p:nvSpPr>
          <p:cNvPr id="4" name="Text 2"/>
          <p:cNvSpPr txBox="1"/>
          <p:nvPr/>
        </p:nvSpPr>
        <p:spPr>
          <a:xfrm>
            <a:off x="548640" y="1280160"/>
            <a:ext cx="6675120" cy="4572000"/>
          </a:xfrm>
          <a:prstGeom prst="rect">
            <a:avLst/>
          </a:prstGeom>
          <a:noFill/>
          <a:ln/>
        </p:spPr>
        <p:txBody>
          <a:bodyPr wrap="square" lIns="76200" tIns="76200" rIns="76200" bIns="76200" rtlCol="0" anchor="ctr"/>
          <a:lstStyle/>
          <a:p>
            <a:pPr algn="ctr" indent="0" marL="0">
              <a:buNone/>
            </a:pPr>
            <a:r>
              <a:rPr lang="en-US" sz="1400" dirty="0">
                <a:solidFill>
                  <a:srgbClr val="7F6000"/>
                </a:solidFill>
              </a:rPr>
              <a:t>Native chart: precision, recall, F1, ROC-AUC, PR-AUC per model</a:t>
            </a:r>
            <a:endParaRPr lang="en-US" sz="1400" dirty="0"/>
          </a:p>
          <a:p>
            <a:pPr algn="ctr" indent="0" marL="0">
              <a:buNone/>
            </a:pPr>
            <a:r>
              <a:rPr lang="en-US" sz="1400" dirty="0">
                <a:solidFill>
                  <a:srgbClr val="7F6000"/>
                </a:solidFill>
              </a:rPr>
              <a:t>(rebuild with notebook outputs)</a:t>
            </a:r>
            <a:endParaRPr lang="en-US" sz="1400" dirty="0"/>
          </a:p>
        </p:txBody>
      </p:sp>
      <p:graphicFrame>
        <p:nvGraphicFramePr>
          <p:cNvPr id="11" name="results-table"/>
          <p:cNvGraphicFramePr>
            <a:graphicFrameLocks noGrp="1"/>
          </p:cNvGraphicFramePr>
          <p:nvPr>
            <p:extLst>
              <p:ext uri="{D42A27DB-BD31-4B8C-83A1-F6EECF244321}">
                <p14:modId xmlns:p14="http://schemas.microsoft.com/office/powerpoint/2010/main" val="1579011935"/>
              </p:ext>
            </p:extLst>
          </p:nvPr>
        </p:nvGraphicFramePr>
        <p:xfrm>
          <a:off x="7452360" y="1371600"/>
          <a:ext cx="4187952" cy="914400"/>
        </p:xfrm>
        <a:graphic>
          <a:graphicData uri="http://schemas.openxmlformats.org/drawingml/2006/table">
            <a:tbl>
              <a:tblPr/>
              <a:tblGrid>
                <a:gridCol w="1737360"/>
                <a:gridCol w="621792"/>
                <a:gridCol w="603504"/>
                <a:gridCol w="603504"/>
                <a:gridCol w="621792"/>
              </a:tblGrid>
              <a:tr h="438912">
                <a:tc>
                  <a:txBody>
                    <a:bodyPr/>
                    <a:lstStyle/>
                    <a:p>
                      <a:pPr algn="l" indent="0" marL="0">
                        <a:buNone/>
                      </a:pP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Acc.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c>
                  <a:txBody>
                    <a:bodyPr/>
                    <a:lstStyle/>
                    <a:p>
                      <a:pPr algn="r" indent="0" marL="0">
                        <a:buNone/>
                      </a:pPr>
                      <a:r>
                        <a:rPr lang="en-US" sz="1300" b="1" dirty="0">
                          <a:solidFill>
                            <a:srgbClr val="FFFFFF"/>
                          </a:solidFill>
                        </a:rPr>
                        <a:t>Train</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0B1F3A"/>
                    </a:solidFill>
                  </a:tcPr>
                </a:tc>
              </a:tr>
              <a:tr h="438912">
                <a:tc>
                  <a:txBody>
                    <a:bodyPr/>
                    <a:lstStyle/>
                    <a:p>
                      <a:pPr algn="l" indent="0" marL="0">
                        <a:buNone/>
                      </a:pPr>
                      <a:r>
                        <a:rPr lang="en-US" sz="1300" b="1" dirty="0">
                          <a:solidFill>
                            <a:srgbClr val="2A78D6"/>
                          </a:solidFill>
                        </a:rPr>
                        <a:t>Logistic Regression</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[LR_ROC_AUC]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[LR_TRAIN_S]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b="1" dirty="0">
                          <a:solidFill>
                            <a:srgbClr val="EB6834"/>
                          </a:solidFill>
                        </a:rPr>
                        <a:t>Random Forest</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[RF_ROC_AUC]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[RF_TRAIN_S]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r>
              <a:tr h="438912">
                <a:tc>
                  <a:txBody>
                    <a:bodyPr/>
                    <a:lstStyle/>
                    <a:p>
                      <a:pPr algn="l" indent="0" marL="0">
                        <a:buNone/>
                      </a:pPr>
                      <a:r>
                        <a:rPr lang="en-US" sz="1300" b="1" dirty="0">
                          <a:solidFill>
                            <a:srgbClr val="1BAF7A"/>
                          </a:solidFill>
                        </a:rPr>
                        <a:t>Gradient-Boosted Trees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[GBT_F1]</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[GBT_ROC_AUC]</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B1F3A"/>
                          </a:solidFill>
                          <a:highlight>
                            <a:srgbClr val="FFFF00"/>
                          </a:highlight>
                        </a:rPr>
                        <a:t>[GBT_TRAIN_S]</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38912">
                <a:tc>
                  <a:txBody>
                    <a:bodyPr/>
                    <a:lstStyle/>
                    <a:p>
                      <a:pPr algn="l" indent="0" marL="0">
                        <a:buNone/>
                      </a:pPr>
                      <a:r>
                        <a:rPr lang="en-US" sz="1300" b="1" dirty="0">
                          <a:solidFill>
                            <a:srgbClr val="0B1F3A"/>
                          </a:solidFill>
                        </a:rPr>
                        <a:t>Always 'on time'</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highlight>
                            <a:srgbClr val="FFFF00"/>
                          </a:highlight>
                        </a:rPr>
                        <a:t>[BASELINE_ACCURACY]</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0.000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0.500</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c>
                  <a:txBody>
                    <a:bodyPr/>
                    <a:lstStyle/>
                    <a:p>
                      <a:pPr algn="r" indent="0" marL="0">
                        <a:buNone/>
                      </a:pPr>
                      <a:r>
                        <a:rPr lang="en-US" sz="1300" dirty="0">
                          <a:solidFill>
                            <a:srgbClr val="0B1F3A"/>
                          </a:solidFill>
                        </a:rPr>
                        <a:t>-</a:t>
                      </a:r>
                      <a:endParaRPr lang="en-US" sz="1300" dirty="0"/>
                    </a:p>
                  </a:txBody>
                  <a:tcPr marL="45720" marR="4572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EEF3F8"/>
                    </a:solidFill>
                  </a:tcPr>
                </a:tc>
              </a:tr>
            </a:tbl>
          </a:graphicData>
        </a:graphic>
      </p:graphicFrame>
      <p:sp>
        <p:nvSpPr>
          <p:cNvPr id="6" name="Text 3"/>
          <p:cNvSpPr txBox="1"/>
          <p:nvPr/>
        </p:nvSpPr>
        <p:spPr>
          <a:xfrm>
            <a:off x="7452360" y="4343400"/>
            <a:ext cx="4187952" cy="1280160"/>
          </a:xfrm>
          <a:prstGeom prst="rect">
            <a:avLst/>
          </a:prstGeom>
          <a:noFill/>
          <a:ln/>
        </p:spPr>
        <p:txBody>
          <a:bodyPr wrap="square" lIns="0" tIns="0" rIns="0" bIns="0" rtlCol="0" anchor="t"/>
          <a:lstStyle/>
          <a:p>
            <a:pPr indent="0" marL="0">
              <a:buNone/>
            </a:pPr>
            <a:r>
              <a:rPr lang="en-US" sz="1500" b="1" dirty="0">
                <a:solidFill>
                  <a:schemeClr val="tx1"/>
                </a:solidFill>
              </a:rPr>
              <a:t>Best F1: </a:t>
            </a:r>
            <a:pPr indent="0" marL="0">
              <a:buNone/>
            </a:pPr>
            <a:r>
              <a:rPr lang="en-US" sz="1500" b="1" dirty="0">
                <a:solidFill>
                  <a:srgbClr val="000000"/>
                </a:solidFill>
                <a:highlight>
                  <a:srgbClr val="FFFF00"/>
                </a:highlight>
              </a:rPr>
              <a:t>[BEST_F1_MODEL]</a:t>
            </a:r>
            <a:pPr indent="0" marL="0">
              <a:buNone/>
            </a:pPr>
            <a:r>
              <a:rPr lang="en-US" sz="1500" b="1" dirty="0">
                <a:solidFill>
                  <a:schemeClr val="tx1"/>
                </a:solidFill>
              </a:rPr>
              <a:t> (</a:t>
            </a:r>
            <a:pPr indent="0" marL="0">
              <a:buNone/>
            </a:pPr>
            <a:r>
              <a:rPr lang="en-US" sz="1500" b="1" dirty="0">
                <a:solidFill>
                  <a:srgbClr val="000000"/>
                </a:solidFill>
                <a:highlight>
                  <a:srgbClr val="FFFF00"/>
                </a:highlight>
              </a:rPr>
              <a:t>[BEST_F1_VALUE]</a:t>
            </a:r>
            <a:pPr indent="0" marL="0">
              <a:buNone/>
            </a:pPr>
            <a:r>
              <a:rPr lang="en-US" sz="1500" b="1" dirty="0">
                <a:solidFill>
                  <a:schemeClr val="tx1"/>
                </a:solidFill>
              </a:rPr>
              <a:t>)</a:t>
            </a:r>
            <a:endParaRPr lang="en-US" sz="1500" dirty="0"/>
          </a:p>
          <a:p>
            <a:pPr indent="0" marL="0">
              <a:buNone/>
            </a:pPr>
            <a:r>
              <a:rPr lang="en-US" sz="1500" b="1" dirty="0">
                <a:solidFill>
                  <a:schemeClr val="tx1"/>
                </a:solidFill>
              </a:rPr>
              <a:t>Fastest to train: </a:t>
            </a:r>
            <a:endParaRPr lang="en-US" sz="1500" dirty="0"/>
          </a:p>
          <a:p>
            <a:pPr indent="0" marL="0">
              <a:buNone/>
            </a:pPr>
            <a:r>
              <a:rPr lang="en-US" sz="1500" b="1" dirty="0">
                <a:solidFill>
                  <a:srgbClr val="000000"/>
                </a:solidFill>
                <a:highlight>
                  <a:srgbClr val="FFFF00"/>
                </a:highlight>
              </a:rPr>
              <a:t>[FASTEST_MODEL]</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What drives the predictions, and do they hold up?</a:t>
            </a:r>
            <a:endParaRPr lang="en-US" sz="3200" dirty="0"/>
          </a:p>
        </p:txBody>
      </p:sp>
      <p:sp>
        <p:nvSpPr>
          <p:cNvPr id="3" name="ph-importance"/>
          <p:cNvSpPr/>
          <p:nvPr/>
        </p:nvSpPr>
        <p:spPr>
          <a:xfrm>
            <a:off x="548640" y="1280160"/>
            <a:ext cx="5577840" cy="4572000"/>
          </a:xfrm>
          <a:prstGeom prst="roundRect">
            <a:avLst>
              <a:gd name="adj" fmla="val 1200"/>
            </a:avLst>
          </a:prstGeom>
          <a:solidFill>
            <a:srgbClr val="FFF8DB"/>
          </a:solidFill>
          <a:ln w="15875">
            <a:solidFill>
              <a:srgbClr val="EDA100"/>
            </a:solidFill>
            <a:prstDash val="dash"/>
          </a:ln>
        </p:spPr>
      </p:sp>
      <p:sp>
        <p:nvSpPr>
          <p:cNvPr id="4" name="Text 2"/>
          <p:cNvSpPr txBox="1"/>
          <p:nvPr/>
        </p:nvSpPr>
        <p:spPr>
          <a:xfrm>
            <a:off x="548640" y="1280160"/>
            <a:ext cx="5577840" cy="4572000"/>
          </a:xfrm>
          <a:prstGeom prst="rect">
            <a:avLst/>
          </a:prstGeom>
          <a:noFill/>
          <a:ln/>
        </p:spPr>
        <p:txBody>
          <a:bodyPr wrap="square" lIns="76200" tIns="76200" rIns="76200" bIns="76200" rtlCol="0" anchor="ctr"/>
          <a:lstStyle/>
          <a:p>
            <a:pPr algn="ctr" indent="0" marL="0">
              <a:buNone/>
            </a:pPr>
            <a:r>
              <a:rPr lang="en-US" sz="1400" dirty="0">
                <a:solidFill>
                  <a:srgbClr val="7F6000"/>
                </a:solidFill>
              </a:rPr>
              <a:t>Native chart: GBT top-8 feature importance</a:t>
            </a:r>
            <a:endParaRPr lang="en-US" sz="1400" dirty="0"/>
          </a:p>
          <a:p>
            <a:pPr algn="ctr" indent="0" marL="0">
              <a:buNone/>
            </a:pPr>
            <a:r>
              <a:rPr lang="en-US" sz="1400" dirty="0">
                <a:solidFill>
                  <a:srgbClr val="7F6000"/>
                </a:solidFill>
              </a:rPr>
              <a:t>(rebuild with notebook outputs: tables/feature_importance.csv)</a:t>
            </a:r>
            <a:endParaRPr lang="en-US" sz="1400" dirty="0"/>
          </a:p>
        </p:txBody>
      </p:sp>
      <p:sp>
        <p:nvSpPr>
          <p:cNvPr id="5" name="ph-temporal"/>
          <p:cNvSpPr/>
          <p:nvPr/>
        </p:nvSpPr>
        <p:spPr>
          <a:xfrm>
            <a:off x="6355080" y="1280160"/>
            <a:ext cx="5285232" cy="4572000"/>
          </a:xfrm>
          <a:prstGeom prst="roundRect">
            <a:avLst>
              <a:gd name="adj" fmla="val 1200"/>
            </a:avLst>
          </a:prstGeom>
          <a:solidFill>
            <a:srgbClr val="FFF8DB"/>
          </a:solidFill>
          <a:ln w="15875">
            <a:solidFill>
              <a:srgbClr val="EDA100"/>
            </a:solidFill>
            <a:prstDash val="dash"/>
          </a:ln>
        </p:spPr>
      </p:sp>
      <p:sp>
        <p:nvSpPr>
          <p:cNvPr id="6" name="Text 4"/>
          <p:cNvSpPr txBox="1"/>
          <p:nvPr/>
        </p:nvSpPr>
        <p:spPr>
          <a:xfrm>
            <a:off x="6355080" y="1280160"/>
            <a:ext cx="5285232" cy="4572000"/>
          </a:xfrm>
          <a:prstGeom prst="rect">
            <a:avLst/>
          </a:prstGeom>
          <a:noFill/>
          <a:ln/>
        </p:spPr>
        <p:txBody>
          <a:bodyPr wrap="square" lIns="76200" tIns="76200" rIns="76200" bIns="76200" rtlCol="0" anchor="ctr"/>
          <a:lstStyle/>
          <a:p>
            <a:pPr algn="ctr" indent="0" marL="0">
              <a:buNone/>
            </a:pPr>
            <a:r>
              <a:rPr lang="en-US" sz="1400" dirty="0">
                <a:solidFill>
                  <a:srgbClr val="7F6000"/>
                </a:solidFill>
              </a:rPr>
              <a:t>Native chart: ROC-AUC random vs temporal split</a:t>
            </a:r>
            <a:endParaRPr lang="en-US" sz="1400" dirty="0"/>
          </a:p>
          <a:p>
            <a:pPr algn="ctr" indent="0" marL="0">
              <a:buNone/>
            </a:pPr>
            <a:r>
              <a:rPr lang="en-US" sz="1400" dirty="0">
                <a:solidFill>
                  <a:srgbClr val="7F6000"/>
                </a:solidFill>
              </a:rPr>
              <a:t>(rebuild with notebook outputs)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Discussion</a:t>
            </a:r>
            <a:endParaRPr lang="en-US" sz="3200" dirty="0"/>
          </a:p>
        </p:txBody>
      </p:sp>
      <p:sp>
        <p:nvSpPr>
          <p:cNvPr id="3" name="disc-0"/>
          <p:cNvSpPr/>
          <p:nvPr/>
        </p:nvSpPr>
        <p:spPr>
          <a:xfrm>
            <a:off x="548640" y="1325880"/>
            <a:ext cx="3515258" cy="3246120"/>
          </a:xfrm>
          <a:prstGeom prst="roundRect">
            <a:avLst>
              <a:gd name="adj" fmla="val 2254"/>
            </a:avLst>
          </a:prstGeom>
          <a:solidFill>
            <a:schemeClr val="bg2"/>
          </a:solidFill>
          <a:ln w="12700">
            <a:solidFill>
              <a:schemeClr val="bg2"/>
            </a:solidFill>
            <a:prstDash val="solid"/>
          </a:ln>
        </p:spPr>
      </p:sp>
      <p:sp>
        <p:nvSpPr>
          <p:cNvPr id="4" name="disc-icon-0-circle"/>
          <p:cNvSpPr/>
          <p:nvPr/>
        </p:nvSpPr>
        <p:spPr>
          <a:xfrm>
            <a:off x="822960" y="1554480"/>
            <a:ext cx="731520" cy="731520"/>
          </a:xfrm>
          <a:prstGeom prst="ellipse">
            <a:avLst/>
          </a:prstGeom>
          <a:solidFill>
            <a:srgbClr val="EB6834"/>
          </a:solidFill>
          <a:ln w="12700">
            <a:solidFill>
              <a:srgbClr val="EB6834"/>
            </a:solidFill>
            <a:prstDash val="solid"/>
          </a:ln>
        </p:spPr>
      </p:sp>
      <p:pic>
        <p:nvPicPr>
          <p:cNvPr id="5" name="disc-icon-0-icon" descr="preencoded.png">    </p:cNvPr>
          <p:cNvPicPr>
            <a:picLocks noChangeAspect="1"/>
          </p:cNvPicPr>
          <p:nvPr/>
        </p:nvPicPr>
        <p:blipFill>
          <a:blip r:embed="rId1"/>
          <a:stretch>
            <a:fillRect/>
          </a:stretch>
        </p:blipFill>
        <p:spPr>
          <a:xfrm>
            <a:off x="1005840" y="1737360"/>
            <a:ext cx="365760" cy="365760"/>
          </a:xfrm>
          <a:prstGeom prst="rect">
            <a:avLst/>
          </a:prstGeom>
        </p:spPr>
      </p:pic>
      <p:sp>
        <p:nvSpPr>
          <p:cNvPr id="6" name="Text 3"/>
          <p:cNvSpPr txBox="1"/>
          <p:nvPr/>
        </p:nvSpPr>
        <p:spPr>
          <a:xfrm>
            <a:off x="822960"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The accuracy trap</a:t>
            </a:r>
            <a:endParaRPr lang="en-US" sz="1900" dirty="0"/>
          </a:p>
        </p:txBody>
      </p:sp>
      <p:sp>
        <p:nvSpPr>
          <p:cNvPr id="7" name="Text 4"/>
          <p:cNvSpPr txBox="1"/>
          <p:nvPr/>
        </p:nvSpPr>
        <p:spPr>
          <a:xfrm>
            <a:off x="822960" y="3017520"/>
            <a:ext cx="2966618" cy="1463040"/>
          </a:xfrm>
          <a:prstGeom prst="rect">
            <a:avLst/>
          </a:prstGeom>
          <a:noFill/>
          <a:ln/>
        </p:spPr>
        <p:txBody>
          <a:bodyPr wrap="square" lIns="0" tIns="0" rIns="0" bIns="0" rtlCol="0" anchor="t"/>
          <a:lstStyle/>
          <a:p>
            <a:pPr indent="0" marL="0">
              <a:buNone/>
            </a:pPr>
            <a:r>
              <a:rPr lang="en-US" sz="1500" dirty="0">
                <a:solidFill>
                  <a:schemeClr val="accent6"/>
                </a:solidFill>
              </a:rPr>
              <a:t>Doing nothing already scores </a:t>
            </a:r>
            <a:pPr indent="0" marL="0">
              <a:buNone/>
            </a:pPr>
            <a:r>
              <a:rPr lang="en-US" sz="1500" dirty="0">
                <a:solidFill>
                  <a:srgbClr val="000000"/>
                </a:solidFill>
                <a:highlight>
                  <a:srgbClr val="FFFF00"/>
                </a:highlight>
              </a:rPr>
              <a:t>[BASELINE_ACCURACY]</a:t>
            </a:r>
            <a:pPr indent="0" marL="0">
              <a:buNone/>
            </a:pPr>
            <a:r>
              <a:rPr lang="en-US" sz="1500" dirty="0">
                <a:solidFill>
                  <a:schemeClr val="accent6"/>
                </a:solidFill>
              </a:rPr>
              <a:t> accuracy. Recall, F1 and PR-AUC are what show real skill.</a:t>
            </a:r>
            <a:endParaRPr lang="en-US" sz="1500" dirty="0"/>
          </a:p>
        </p:txBody>
      </p:sp>
      <p:sp>
        <p:nvSpPr>
          <p:cNvPr id="8" name="disc-1"/>
          <p:cNvSpPr/>
          <p:nvPr/>
        </p:nvSpPr>
        <p:spPr>
          <a:xfrm>
            <a:off x="4338218" y="1325880"/>
            <a:ext cx="3515258" cy="3246120"/>
          </a:xfrm>
          <a:prstGeom prst="roundRect">
            <a:avLst>
              <a:gd name="adj" fmla="val 2254"/>
            </a:avLst>
          </a:prstGeom>
          <a:solidFill>
            <a:schemeClr val="bg2"/>
          </a:solidFill>
          <a:ln w="12700">
            <a:solidFill>
              <a:schemeClr val="bg2"/>
            </a:solidFill>
            <a:prstDash val="solid"/>
          </a:ln>
        </p:spPr>
      </p:sp>
      <p:sp>
        <p:nvSpPr>
          <p:cNvPr id="9" name="disc-icon-1-circle"/>
          <p:cNvSpPr/>
          <p:nvPr/>
        </p:nvSpPr>
        <p:spPr>
          <a:xfrm>
            <a:off x="4612538" y="1554480"/>
            <a:ext cx="731520" cy="731520"/>
          </a:xfrm>
          <a:prstGeom prst="ellipse">
            <a:avLst/>
          </a:prstGeom>
          <a:solidFill>
            <a:srgbClr val="2A78D6"/>
          </a:solidFill>
          <a:ln w="12700">
            <a:solidFill>
              <a:srgbClr val="2A78D6"/>
            </a:solidFill>
            <a:prstDash val="solid"/>
          </a:ln>
        </p:spPr>
      </p:sp>
      <p:pic>
        <p:nvPicPr>
          <p:cNvPr id="10" name="disc-icon-1-icon" descr="preencoded.png">    </p:cNvPr>
          <p:cNvPicPr>
            <a:picLocks noChangeAspect="1"/>
          </p:cNvPicPr>
          <p:nvPr/>
        </p:nvPicPr>
        <p:blipFill>
          <a:blip r:embed="rId2"/>
          <a:stretch>
            <a:fillRect/>
          </a:stretch>
        </p:blipFill>
        <p:spPr>
          <a:xfrm>
            <a:off x="4795418" y="1737360"/>
            <a:ext cx="365760" cy="365760"/>
          </a:xfrm>
          <a:prstGeom prst="rect">
            <a:avLst/>
          </a:prstGeom>
        </p:spPr>
      </p:pic>
      <p:sp>
        <p:nvSpPr>
          <p:cNvPr id="11" name="Text 7"/>
          <p:cNvSpPr txBox="1"/>
          <p:nvPr/>
        </p:nvSpPr>
        <p:spPr>
          <a:xfrm>
            <a:off x="4612538"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Threshold is a business choice</a:t>
            </a:r>
            <a:endParaRPr lang="en-US" sz="1900" dirty="0"/>
          </a:p>
        </p:txBody>
      </p:sp>
      <p:sp>
        <p:nvSpPr>
          <p:cNvPr id="12" name="Text 8"/>
          <p:cNvSpPr txBox="1"/>
          <p:nvPr/>
        </p:nvSpPr>
        <p:spPr>
          <a:xfrm>
            <a:off x="4612538" y="3017520"/>
            <a:ext cx="2966618" cy="1463040"/>
          </a:xfrm>
          <a:prstGeom prst="rect">
            <a:avLst/>
          </a:prstGeom>
          <a:noFill/>
          <a:ln/>
        </p:spPr>
        <p:txBody>
          <a:bodyPr wrap="square" lIns="0" tIns="0" rIns="0" bIns="0" rtlCol="0" anchor="t"/>
          <a:lstStyle/>
          <a:p>
            <a:pPr indent="0" marL="0">
              <a:buNone/>
            </a:pPr>
            <a:r>
              <a:rPr lang="en-US" sz="1500" dirty="0">
                <a:solidFill>
                  <a:schemeClr val="accent6"/>
                </a:solidFill>
              </a:rPr>
              <a:t>Spare-crew planning tolerates false alarms; passenger alerts need precision. Tune per use case.</a:t>
            </a:r>
            <a:endParaRPr lang="en-US" sz="1500" dirty="0"/>
          </a:p>
        </p:txBody>
      </p:sp>
      <p:sp>
        <p:nvSpPr>
          <p:cNvPr id="13" name="disc-2"/>
          <p:cNvSpPr/>
          <p:nvPr/>
        </p:nvSpPr>
        <p:spPr>
          <a:xfrm>
            <a:off x="8127797" y="1325880"/>
            <a:ext cx="3515258" cy="3246120"/>
          </a:xfrm>
          <a:prstGeom prst="roundRect">
            <a:avLst>
              <a:gd name="adj" fmla="val 2254"/>
            </a:avLst>
          </a:prstGeom>
          <a:solidFill>
            <a:schemeClr val="bg2"/>
          </a:solidFill>
          <a:ln w="12700">
            <a:solidFill>
              <a:schemeClr val="bg2"/>
            </a:solidFill>
            <a:prstDash val="solid"/>
          </a:ln>
        </p:spPr>
      </p:sp>
      <p:sp>
        <p:nvSpPr>
          <p:cNvPr id="14" name="disc-icon-2-circle"/>
          <p:cNvSpPr/>
          <p:nvPr/>
        </p:nvSpPr>
        <p:spPr>
          <a:xfrm>
            <a:off x="8402117" y="1554480"/>
            <a:ext cx="731520" cy="731520"/>
          </a:xfrm>
          <a:prstGeom prst="ellipse">
            <a:avLst/>
          </a:prstGeom>
          <a:solidFill>
            <a:srgbClr val="1BAF7A"/>
          </a:solidFill>
          <a:ln w="12700">
            <a:solidFill>
              <a:srgbClr val="1BAF7A"/>
            </a:solidFill>
            <a:prstDash val="solid"/>
          </a:ln>
        </p:spPr>
      </p:sp>
      <p:pic>
        <p:nvPicPr>
          <p:cNvPr id="15" name="disc-icon-2-icon" descr="preencoded.png">    </p:cNvPr>
          <p:cNvPicPr>
            <a:picLocks noChangeAspect="1"/>
          </p:cNvPicPr>
          <p:nvPr/>
        </p:nvPicPr>
        <p:blipFill>
          <a:blip r:embed="rId3"/>
          <a:stretch>
            <a:fillRect/>
          </a:stretch>
        </p:blipFill>
        <p:spPr>
          <a:xfrm>
            <a:off x="8584997" y="1737360"/>
            <a:ext cx="365760" cy="365760"/>
          </a:xfrm>
          <a:prstGeom prst="rect">
            <a:avLst/>
          </a:prstGeom>
        </p:spPr>
      </p:pic>
      <p:sp>
        <p:nvSpPr>
          <p:cNvPr id="16" name="Text 11"/>
          <p:cNvSpPr txBox="1"/>
          <p:nvPr/>
        </p:nvSpPr>
        <p:spPr>
          <a:xfrm>
            <a:off x="8402117" y="2468880"/>
            <a:ext cx="2966618" cy="502920"/>
          </a:xfrm>
          <a:prstGeom prst="rect">
            <a:avLst/>
          </a:prstGeom>
          <a:noFill/>
          <a:ln/>
        </p:spPr>
        <p:txBody>
          <a:bodyPr wrap="square" lIns="0" tIns="0" rIns="0" bIns="0" rtlCol="0" anchor="ctr"/>
          <a:lstStyle/>
          <a:p>
            <a:pPr indent="0" marL="0">
              <a:buNone/>
            </a:pPr>
            <a:r>
              <a:rPr lang="en-US" sz="1900" b="1" dirty="0">
                <a:solidFill>
                  <a:schemeClr val="tx1"/>
                </a:solidFill>
              </a:rPr>
              <a:t>Accuracy vs cost</a:t>
            </a:r>
            <a:endParaRPr lang="en-US" sz="1900" dirty="0"/>
          </a:p>
        </p:txBody>
      </p:sp>
      <p:sp>
        <p:nvSpPr>
          <p:cNvPr id="17" name="Text 12"/>
          <p:cNvSpPr txBox="1"/>
          <p:nvPr/>
        </p:nvSpPr>
        <p:spPr>
          <a:xfrm>
            <a:off x="8402117" y="3017520"/>
            <a:ext cx="2966618" cy="1463040"/>
          </a:xfrm>
          <a:prstGeom prst="rect">
            <a:avLst/>
          </a:prstGeom>
          <a:noFill/>
          <a:ln/>
        </p:spPr>
        <p:txBody>
          <a:bodyPr wrap="square" lIns="0" tIns="0" rIns="0" bIns="0" rtlCol="0" anchor="t"/>
          <a:lstStyle/>
          <a:p>
            <a:pPr indent="0" marL="0">
              <a:buNone/>
            </a:pPr>
            <a:r>
              <a:rPr lang="en-US" sz="1500" dirty="0">
                <a:solidFill>
                  <a:srgbClr val="000000"/>
                </a:solidFill>
                <a:highlight>
                  <a:srgbClr val="FFFF00"/>
                </a:highlight>
              </a:rPr>
              <a:t>[FASTEST_MODEL]</a:t>
            </a:r>
            <a:pPr indent="0" marL="0">
              <a:buNone/>
            </a:pPr>
            <a:r>
              <a:rPr lang="en-US" sz="1500" dirty="0">
                <a:solidFill>
                  <a:schemeClr val="accent6"/>
                </a:solidFill>
              </a:rPr>
              <a:t> trains fastest; </a:t>
            </a:r>
            <a:pPr indent="0" marL="0">
              <a:buNone/>
            </a:pPr>
            <a:r>
              <a:rPr lang="en-US" sz="1500" dirty="0">
                <a:solidFill>
                  <a:srgbClr val="000000"/>
                </a:solidFill>
                <a:highlight>
                  <a:srgbClr val="FFFF00"/>
                </a:highlight>
              </a:rPr>
              <a:t>[SLOWEST_MODEL]</a:t>
            </a:r>
            <a:pPr indent="0" marL="0">
              <a:buNone/>
            </a:pPr>
            <a:r>
              <a:rPr lang="en-US" sz="1500" dirty="0">
                <a:solidFill>
                  <a:schemeClr val="accent6"/>
                </a:solidFill>
              </a:rPr>
              <a:t> is slowest. Boosting is hardest to scale out.</a:t>
            </a:r>
            <a:endParaRPr lang="en-US" sz="1500" dirty="0"/>
          </a:p>
        </p:txBody>
      </p:sp>
      <p:sp>
        <p:nvSpPr>
          <p:cNvPr id="18" name="Text 13"/>
          <p:cNvSpPr txBox="1"/>
          <p:nvPr/>
        </p:nvSpPr>
        <p:spPr>
          <a:xfrm>
            <a:off x="548640" y="4800600"/>
            <a:ext cx="1828800" cy="365760"/>
          </a:xfrm>
          <a:prstGeom prst="rect">
            <a:avLst/>
          </a:prstGeom>
          <a:noFill/>
          <a:ln/>
        </p:spPr>
        <p:txBody>
          <a:bodyPr wrap="square" lIns="0" tIns="0" rIns="0" bIns="0" rtlCol="0" anchor="ctr"/>
          <a:lstStyle/>
          <a:p>
            <a:pPr indent="0" marL="0">
              <a:buNone/>
            </a:pPr>
            <a:r>
              <a:rPr lang="en-US" sz="1600" b="1" dirty="0">
                <a:solidFill>
                  <a:schemeClr val="accent2"/>
                </a:solidFill>
              </a:rPr>
              <a:t>Limitations</a:t>
            </a:r>
            <a:endParaRPr lang="en-US" sz="1600" dirty="0"/>
          </a:p>
        </p:txBody>
      </p:sp>
      <p:sp>
        <p:nvSpPr>
          <p:cNvPr id="19" name="Text 14"/>
          <p:cNvSpPr txBox="1"/>
          <p:nvPr/>
        </p:nvSpPr>
        <p:spPr>
          <a:xfrm>
            <a:off x="548640" y="5166360"/>
            <a:ext cx="11094415" cy="685800"/>
          </a:xfrm>
          <a:prstGeom prst="rect">
            <a:avLst/>
          </a:prstGeom>
          <a:noFill/>
          <a:ln/>
        </p:spPr>
        <p:txBody>
          <a:bodyPr wrap="square" lIns="0" tIns="0" rIns="0" bIns="0" rtlCol="0" anchor="ctr"/>
          <a:lstStyle/>
          <a:p>
            <a:pPr indent="0" marL="0">
              <a:buNone/>
            </a:pPr>
            <a:r>
              <a:rPr lang="en-US" sz="1400" dirty="0">
                <a:solidFill>
                  <a:schemeClr val="tx1"/>
                </a:solidFill>
              </a:rPr>
              <a:t>No weather data  ·  aircraft swaps on the day may leak slightly through tail numbers  ·  in-sample target encoding  ·  trained on a sample, 1 year, Colab-sized grids</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Conclusion and future work</a:t>
            </a:r>
            <a:endParaRPr lang="en-US" sz="3200" dirty="0"/>
          </a:p>
        </p:txBody>
      </p:sp>
      <p:sp>
        <p:nvSpPr>
          <p:cNvPr id="3" name="Text 1"/>
          <p:cNvSpPr txBox="1"/>
          <p:nvPr/>
        </p:nvSpPr>
        <p:spPr>
          <a:xfrm>
            <a:off x="548640" y="1371600"/>
            <a:ext cx="5303520" cy="457200"/>
          </a:xfrm>
          <a:prstGeom prst="rect">
            <a:avLst/>
          </a:prstGeom>
          <a:noFill/>
          <a:ln/>
        </p:spPr>
        <p:txBody>
          <a:bodyPr wrap="square" lIns="0" tIns="0" rIns="0" bIns="0" rtlCol="0" anchor="ctr"/>
          <a:lstStyle/>
          <a:p>
            <a:pPr indent="0" marL="0">
              <a:buNone/>
            </a:pPr>
            <a:r>
              <a:rPr lang="en-US" sz="2000" b="1" dirty="0">
                <a:solidFill>
                  <a:srgbClr val="FFB48F"/>
                </a:solidFill>
              </a:rPr>
              <a:t>What I showed</a:t>
            </a:r>
            <a:endParaRPr lang="en-US" sz="2000" dirty="0"/>
          </a:p>
        </p:txBody>
      </p:sp>
      <p:sp>
        <p:nvSpPr>
          <p:cNvPr id="4" name="Text 2"/>
          <p:cNvSpPr txBox="1"/>
          <p:nvPr/>
        </p:nvSpPr>
        <p:spPr>
          <a:xfrm>
            <a:off x="548640" y="1920240"/>
            <a:ext cx="5303520" cy="3840480"/>
          </a:xfrm>
          <a:prstGeom prst="rect">
            <a:avLst/>
          </a:prstGeom>
          <a:noFill/>
          <a:ln/>
        </p:spPr>
        <p:txBody>
          <a:bodyPr wrap="square" lIns="0" tIns="0" rIns="0" bIns="0" rtlCol="0" anchor="t"/>
          <a:lstStyle/>
          <a:p>
            <a:pPr marL="203200" indent="-203200">
              <a:spcAft>
                <a:spcPts val="600"/>
              </a:spcAft>
              <a:buSzPct val="100000"/>
              <a:buChar char="•"/>
            </a:pPr>
            <a:r>
              <a:rPr lang="en-US" sz="1900" dirty="0">
                <a:solidFill>
                  <a:srgbClr val="000000"/>
                </a:solidFill>
                <a:highlight>
                  <a:srgbClr val="FFFF00"/>
                </a:highlight>
              </a:rPr>
              <a:t>A leakage-free Spark pipeline over all [RAW_ROWS] 2025 flights</a:t>
            </a:r>
            <a:endParaRPr lang="en-US" sz="1900" dirty="0"/>
          </a:p>
          <a:p>
            <a:pPr marL="203200" indent="-203200">
              <a:spcAft>
                <a:spcPts val="600"/>
              </a:spcAft>
              <a:buSzPct val="100000"/>
              <a:buChar char="•"/>
            </a:pPr>
            <a:r>
              <a:rPr lang="en-US" sz="1900" dirty="0">
                <a:solidFill>
                  <a:srgbClr val="000000"/>
                </a:solidFill>
                <a:highlight>
                  <a:srgbClr val="FFFF00"/>
                </a:highlight>
              </a:rPr>
              <a:t>[BEST_F1_MODEL] gave the best F1 ([BEST_F1_VALUE])</a:t>
            </a:r>
            <a:endParaRPr lang="en-US" sz="1900" dirty="0"/>
          </a:p>
          <a:p>
            <a:pPr marL="203200" indent="-203200">
              <a:spcAft>
                <a:spcPts val="600"/>
              </a:spcAft>
              <a:buSzPct val="100000"/>
              <a:buChar char="•"/>
            </a:pPr>
            <a:r>
              <a:rPr lang="en-US" sz="1900" dirty="0">
                <a:solidFill>
                  <a:srgbClr val="FFFFFF"/>
                </a:solidFill>
              </a:rPr>
              <a:t>Class weights + tuned threshold matter more than raw accuracy</a:t>
            </a:r>
            <a:endParaRPr lang="en-US" sz="1900" dirty="0"/>
          </a:p>
          <a:p>
            <a:pPr marL="203200" indent="-203200">
              <a:spcAft>
                <a:spcPts val="600"/>
              </a:spcAft>
              <a:buSzPct val="100000"/>
              <a:buChar char="•"/>
            </a:pPr>
            <a:r>
              <a:rPr lang="en-US" sz="1900" dirty="0">
                <a:solidFill>
                  <a:srgbClr val="FFFFFF"/>
                </a:solidFill>
              </a:rPr>
              <a:t>Parquet, broadcast joins and in-Spark evaluation made it run on free Colab</a:t>
            </a:r>
            <a:endParaRPr lang="en-US" sz="1900" dirty="0"/>
          </a:p>
        </p:txBody>
      </p:sp>
      <p:sp>
        <p:nvSpPr>
          <p:cNvPr id="5" name="Text 3"/>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000" b="1" dirty="0">
                <a:solidFill>
                  <a:srgbClr val="FFB48F"/>
                </a:solidFill>
              </a:rPr>
              <a:t>Next steps</a:t>
            </a:r>
            <a:endParaRPr lang="en-US" sz="2000" dirty="0"/>
          </a:p>
        </p:txBody>
      </p:sp>
      <p:sp>
        <p:nvSpPr>
          <p:cNvPr id="6" name="fut-0-circle"/>
          <p:cNvSpPr/>
          <p:nvPr/>
        </p:nvSpPr>
        <p:spPr>
          <a:xfrm>
            <a:off x="6583680" y="1965960"/>
            <a:ext cx="548640" cy="548640"/>
          </a:xfrm>
          <a:prstGeom prst="ellipse">
            <a:avLst/>
          </a:prstGeom>
          <a:solidFill>
            <a:srgbClr val="13315C"/>
          </a:solidFill>
          <a:ln w="12700">
            <a:solidFill>
              <a:srgbClr val="13315C"/>
            </a:solidFill>
            <a:prstDash val="solid"/>
          </a:ln>
        </p:spPr>
      </p:sp>
      <p:pic>
        <p:nvPicPr>
          <p:cNvPr id="7" name="fut-0-icon" descr="preencoded.png">    </p:cNvPr>
          <p:cNvPicPr>
            <a:picLocks noChangeAspect="1"/>
          </p:cNvPicPr>
          <p:nvPr/>
        </p:nvPicPr>
        <p:blipFill>
          <a:blip r:embed="rId1"/>
          <a:stretch>
            <a:fillRect/>
          </a:stretch>
        </p:blipFill>
        <p:spPr>
          <a:xfrm>
            <a:off x="6720840" y="2103120"/>
            <a:ext cx="274320" cy="274320"/>
          </a:xfrm>
          <a:prstGeom prst="rect">
            <a:avLst/>
          </a:prstGeom>
        </p:spPr>
      </p:pic>
      <p:sp>
        <p:nvSpPr>
          <p:cNvPr id="8" name="Text 5"/>
          <p:cNvSpPr txBox="1"/>
          <p:nvPr/>
        </p:nvSpPr>
        <p:spPr>
          <a:xfrm>
            <a:off x="7315200" y="1965960"/>
            <a:ext cx="4297680" cy="548640"/>
          </a:xfrm>
          <a:prstGeom prst="rect">
            <a:avLst/>
          </a:prstGeom>
          <a:noFill/>
          <a:ln/>
        </p:spPr>
        <p:txBody>
          <a:bodyPr wrap="square" lIns="0" tIns="0" rIns="0" bIns="0" rtlCol="0" anchor="ctr"/>
          <a:lstStyle/>
          <a:p>
            <a:pPr indent="0" marL="0">
              <a:buNone/>
            </a:pPr>
            <a:r>
              <a:rPr lang="en-US" sz="1600" dirty="0">
                <a:solidFill>
                  <a:srgbClr val="FFFFFF"/>
                </a:solidFill>
              </a:rPr>
              <a:t>Join NOAA weather forecasts</a:t>
            </a:r>
            <a:endParaRPr lang="en-US" sz="1600" dirty="0"/>
          </a:p>
        </p:txBody>
      </p:sp>
      <p:sp>
        <p:nvSpPr>
          <p:cNvPr id="9" name="fut-1-circle"/>
          <p:cNvSpPr/>
          <p:nvPr/>
        </p:nvSpPr>
        <p:spPr>
          <a:xfrm>
            <a:off x="6583680" y="2715768"/>
            <a:ext cx="548640" cy="548640"/>
          </a:xfrm>
          <a:prstGeom prst="ellipse">
            <a:avLst/>
          </a:prstGeom>
          <a:solidFill>
            <a:srgbClr val="13315C"/>
          </a:solidFill>
          <a:ln w="12700">
            <a:solidFill>
              <a:srgbClr val="13315C"/>
            </a:solidFill>
            <a:prstDash val="solid"/>
          </a:ln>
        </p:spPr>
      </p:sp>
      <p:pic>
        <p:nvPicPr>
          <p:cNvPr id="10" name="fut-1-icon" descr="preencoded.png">    </p:cNvPr>
          <p:cNvPicPr>
            <a:picLocks noChangeAspect="1"/>
          </p:cNvPicPr>
          <p:nvPr/>
        </p:nvPicPr>
        <p:blipFill>
          <a:blip r:embed="rId2"/>
          <a:stretch>
            <a:fillRect/>
          </a:stretch>
        </p:blipFill>
        <p:spPr>
          <a:xfrm>
            <a:off x="6720840" y="2852928"/>
            <a:ext cx="274320" cy="274320"/>
          </a:xfrm>
          <a:prstGeom prst="rect">
            <a:avLst/>
          </a:prstGeom>
        </p:spPr>
      </p:pic>
      <p:sp>
        <p:nvSpPr>
          <p:cNvPr id="11" name="Text 7"/>
          <p:cNvSpPr txBox="1"/>
          <p:nvPr/>
        </p:nvSpPr>
        <p:spPr>
          <a:xfrm>
            <a:off x="7315200" y="2715768"/>
            <a:ext cx="4297680" cy="548640"/>
          </a:xfrm>
          <a:prstGeom prst="rect">
            <a:avLst/>
          </a:prstGeom>
          <a:noFill/>
          <a:ln/>
        </p:spPr>
        <p:txBody>
          <a:bodyPr wrap="square" lIns="0" tIns="0" rIns="0" bIns="0" rtlCol="0" anchor="ctr"/>
          <a:lstStyle/>
          <a:p>
            <a:pPr indent="0" marL="0">
              <a:buNone/>
            </a:pPr>
            <a:r>
              <a:rPr lang="en-US" sz="1600" dirty="0">
                <a:solidFill>
                  <a:srgbClr val="FFFFFF"/>
                </a:solidFill>
              </a:rPr>
              <a:t>XGBoost / LightGBM on Spark with GPUs</a:t>
            </a:r>
            <a:endParaRPr lang="en-US" sz="1600" dirty="0"/>
          </a:p>
        </p:txBody>
      </p:sp>
      <p:sp>
        <p:nvSpPr>
          <p:cNvPr id="12" name="fut-2-circle"/>
          <p:cNvSpPr/>
          <p:nvPr/>
        </p:nvSpPr>
        <p:spPr>
          <a:xfrm>
            <a:off x="6583680" y="3465576"/>
            <a:ext cx="548640" cy="548640"/>
          </a:xfrm>
          <a:prstGeom prst="ellipse">
            <a:avLst/>
          </a:prstGeom>
          <a:solidFill>
            <a:srgbClr val="13315C"/>
          </a:solidFill>
          <a:ln w="12700">
            <a:solidFill>
              <a:srgbClr val="13315C"/>
            </a:solidFill>
            <a:prstDash val="solid"/>
          </a:ln>
        </p:spPr>
      </p:sp>
      <p:pic>
        <p:nvPicPr>
          <p:cNvPr id="13" name="fut-2-icon" descr="preencoded.png">    </p:cNvPr>
          <p:cNvPicPr>
            <a:picLocks noChangeAspect="1"/>
          </p:cNvPicPr>
          <p:nvPr/>
        </p:nvPicPr>
        <p:blipFill>
          <a:blip r:embed="rId3"/>
          <a:stretch>
            <a:fillRect/>
          </a:stretch>
        </p:blipFill>
        <p:spPr>
          <a:xfrm>
            <a:off x="6720840" y="3602736"/>
            <a:ext cx="274320" cy="274320"/>
          </a:xfrm>
          <a:prstGeom prst="rect">
            <a:avLst/>
          </a:prstGeom>
        </p:spPr>
      </p:pic>
      <p:sp>
        <p:nvSpPr>
          <p:cNvPr id="14" name="Text 9"/>
          <p:cNvSpPr txBox="1"/>
          <p:nvPr/>
        </p:nvSpPr>
        <p:spPr>
          <a:xfrm>
            <a:off x="7315200" y="3465576"/>
            <a:ext cx="4297680" cy="548640"/>
          </a:xfrm>
          <a:prstGeom prst="rect">
            <a:avLst/>
          </a:prstGeom>
          <a:noFill/>
          <a:ln/>
        </p:spPr>
        <p:txBody>
          <a:bodyPr wrap="square" lIns="0" tIns="0" rIns="0" bIns="0" rtlCol="0" anchor="ctr"/>
          <a:lstStyle/>
          <a:p>
            <a:pPr indent="0" marL="0">
              <a:buNone/>
            </a:pPr>
            <a:r>
              <a:rPr lang="en-US" sz="1600" dirty="0">
                <a:solidFill>
                  <a:srgbClr val="FFFFFF"/>
                </a:solidFill>
              </a:rPr>
              <a:t>Full data on a Dataproc cluster, bigger grids</a:t>
            </a:r>
            <a:endParaRPr lang="en-US" sz="1600" dirty="0"/>
          </a:p>
        </p:txBody>
      </p:sp>
      <p:sp>
        <p:nvSpPr>
          <p:cNvPr id="15" name="fut-3-circle"/>
          <p:cNvSpPr/>
          <p:nvPr/>
        </p:nvSpPr>
        <p:spPr>
          <a:xfrm>
            <a:off x="6583680" y="4215384"/>
            <a:ext cx="548640" cy="548640"/>
          </a:xfrm>
          <a:prstGeom prst="ellipse">
            <a:avLst/>
          </a:prstGeom>
          <a:solidFill>
            <a:srgbClr val="13315C"/>
          </a:solidFill>
          <a:ln w="12700">
            <a:solidFill>
              <a:srgbClr val="13315C"/>
            </a:solidFill>
            <a:prstDash val="solid"/>
          </a:ln>
        </p:spPr>
      </p:sp>
      <p:pic>
        <p:nvPicPr>
          <p:cNvPr id="16" name="fut-3-icon" descr="preencoded.png">    </p:cNvPr>
          <p:cNvPicPr>
            <a:picLocks noChangeAspect="1"/>
          </p:cNvPicPr>
          <p:nvPr/>
        </p:nvPicPr>
        <p:blipFill>
          <a:blip r:embed="rId4"/>
          <a:stretch>
            <a:fillRect/>
          </a:stretch>
        </p:blipFill>
        <p:spPr>
          <a:xfrm>
            <a:off x="6720840" y="4352544"/>
            <a:ext cx="274320" cy="274320"/>
          </a:xfrm>
          <a:prstGeom prst="rect">
            <a:avLst/>
          </a:prstGeom>
        </p:spPr>
      </p:pic>
      <p:sp>
        <p:nvSpPr>
          <p:cNvPr id="17" name="Text 11"/>
          <p:cNvSpPr txBox="1"/>
          <p:nvPr/>
        </p:nvSpPr>
        <p:spPr>
          <a:xfrm>
            <a:off x="7315200" y="4215384"/>
            <a:ext cx="4297680" cy="548640"/>
          </a:xfrm>
          <a:prstGeom prst="rect">
            <a:avLst/>
          </a:prstGeom>
          <a:noFill/>
          <a:ln/>
        </p:spPr>
        <p:txBody>
          <a:bodyPr wrap="square" lIns="0" tIns="0" rIns="0" bIns="0" rtlCol="0" anchor="ctr"/>
          <a:lstStyle/>
          <a:p>
            <a:pPr indent="0" marL="0">
              <a:buNone/>
            </a:pPr>
            <a:r>
              <a:rPr lang="en-US" sz="1600" dirty="0">
                <a:solidFill>
                  <a:srgbClr val="FFFFFF"/>
                </a:solidFill>
              </a:rPr>
              <a:t>Structured Streaming for day-of updates</a:t>
            </a:r>
            <a:endParaRPr lang="en-US" sz="1600" dirty="0"/>
          </a:p>
        </p:txBody>
      </p:sp>
      <p:sp>
        <p:nvSpPr>
          <p:cNvPr id="18" name="fut-4-circle"/>
          <p:cNvSpPr/>
          <p:nvPr/>
        </p:nvSpPr>
        <p:spPr>
          <a:xfrm>
            <a:off x="6583680" y="4965192"/>
            <a:ext cx="548640" cy="548640"/>
          </a:xfrm>
          <a:prstGeom prst="ellipse">
            <a:avLst/>
          </a:prstGeom>
          <a:solidFill>
            <a:srgbClr val="13315C"/>
          </a:solidFill>
          <a:ln w="12700">
            <a:solidFill>
              <a:srgbClr val="13315C"/>
            </a:solidFill>
            <a:prstDash val="solid"/>
          </a:ln>
        </p:spPr>
      </p:sp>
      <p:pic>
        <p:nvPicPr>
          <p:cNvPr id="19" name="fut-4-icon" descr="preencoded.png">    </p:cNvPr>
          <p:cNvPicPr>
            <a:picLocks noChangeAspect="1"/>
          </p:cNvPicPr>
          <p:nvPr/>
        </p:nvPicPr>
        <p:blipFill>
          <a:blip r:embed="rId5"/>
          <a:stretch>
            <a:fillRect/>
          </a:stretch>
        </p:blipFill>
        <p:spPr>
          <a:xfrm>
            <a:off x="6720840" y="5102352"/>
            <a:ext cx="274320" cy="274320"/>
          </a:xfrm>
          <a:prstGeom prst="rect">
            <a:avLst/>
          </a:prstGeom>
        </p:spPr>
      </p:pic>
      <p:sp>
        <p:nvSpPr>
          <p:cNvPr id="20" name="Text 13"/>
          <p:cNvSpPr txBox="1"/>
          <p:nvPr/>
        </p:nvSpPr>
        <p:spPr>
          <a:xfrm>
            <a:off x="7315200" y="4965192"/>
            <a:ext cx="4297680" cy="548640"/>
          </a:xfrm>
          <a:prstGeom prst="rect">
            <a:avLst/>
          </a:prstGeom>
          <a:noFill/>
          <a:ln/>
        </p:spPr>
        <p:txBody>
          <a:bodyPr wrap="square" lIns="0" tIns="0" rIns="0" bIns="0" rtlCol="0" anchor="ctr"/>
          <a:lstStyle/>
          <a:p>
            <a:pPr indent="0" marL="0">
              <a:buNone/>
            </a:pPr>
            <a:r>
              <a:rPr lang="en-US" sz="1600" dirty="0">
                <a:solidFill>
                  <a:srgbClr val="FFFFFF"/>
                </a:solidFill>
              </a:rPr>
              <a:t>Out-of-fold target encoding</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498080" cy="1828800"/>
          </a:xfrm>
          <a:prstGeom prst="rect">
            <a:avLst/>
          </a:prstGeom>
          <a:noFill/>
          <a:ln/>
        </p:spPr>
        <p:txBody>
          <a:bodyPr wrap="square" lIns="0" tIns="0" rIns="0" bIns="0" rtlCol="0" anchor="b"/>
          <a:lstStyle/>
          <a:p>
            <a:pPr algn="l" indent="0" marL="0">
              <a:buNone/>
            </a:pPr>
            <a:r>
              <a:rPr lang="en-US" sz="4400" b="1" dirty="0">
                <a:solidFill>
                  <a:schemeClr val="bg1"/>
                </a:solidFill>
              </a:rPr>
              <a:t>Thank you. Questions?</a:t>
            </a:r>
            <a:endParaRPr lang="en-US" sz="4400" dirty="0"/>
          </a:p>
        </p:txBody>
      </p:sp>
      <p:sp>
        <p:nvSpPr>
          <p:cNvPr id="3" name="Text 0"/>
          <p:cNvSpPr/>
          <p:nvPr>
            <p:ph idx="101" type="body" hasCustomPrompt="1"/>
          </p:nvPr>
        </p:nvSpPr>
        <p:spPr>
          <a:xfrm>
            <a:off x="548640" y="3840480"/>
            <a:ext cx="7498080" cy="1463040"/>
          </a:xfrm>
          <a:prstGeom prst="rect">
            <a:avLst/>
          </a:prstGeom>
          <a:noFill/>
          <a:ln/>
        </p:spPr>
        <p:txBody>
          <a:bodyPr wrap="square" lIns="0" tIns="0" rIns="0" bIns="0" rtlCol="0" anchor="t"/>
          <a:lstStyle/>
          <a:p>
            <a:pPr algn="l" indent="0" marL="0">
              <a:buNone/>
            </a:pPr>
            <a:r>
              <a:rPr lang="en-US" sz="1800" b="1" dirty="0">
                <a:solidFill>
                  <a:srgbClr val="FFB48F"/>
                </a:solidFill>
              </a:rPr>
              <a:t>Key references</a:t>
            </a:r>
            <a:endParaRPr lang="en-US" sz="1800" dirty="0"/>
          </a:p>
          <a:p>
            <a:pPr algn="l" indent="0" marL="0">
              <a:buNone/>
            </a:pPr>
            <a:r>
              <a:rPr lang="en-US" sz="1200" dirty="0">
                <a:solidFill>
                  <a:srgbClr val="C9D6E3"/>
                </a:solidFill>
              </a:rPr>
              <a:t>Ball et al. (2010) Total delay impact study · Bureau of Transportation Statistics (2026) On-Time Performance data · Kaufman et al. (2012) Leakage in data mining · Meng et al. (2016) MLlib · Saito &amp; Rehmsmeier (2015) PR vs ROC · Zaharia et al. (2016) Apache Spark</a:t>
            </a:r>
            <a:endParaRPr lang="en-US" sz="1800" dirty="0"/>
          </a:p>
        </p:txBody>
      </p:sp>
      <p:sp>
        <p:nvSpPr>
          <p:cNvPr id="4" name="q-circle"/>
          <p:cNvSpPr/>
          <p:nvPr/>
        </p:nvSpPr>
        <p:spPr>
          <a:xfrm>
            <a:off x="9052560" y="2103120"/>
            <a:ext cx="2194560" cy="2194560"/>
          </a:xfrm>
          <a:prstGeom prst="ellipse">
            <a:avLst/>
          </a:prstGeom>
          <a:solidFill>
            <a:srgbClr val="EB6834"/>
          </a:solidFill>
          <a:ln w="12700">
            <a:solidFill>
              <a:srgbClr val="EB6834"/>
            </a:solidFill>
            <a:prstDash val="solid"/>
          </a:ln>
        </p:spPr>
      </p:sp>
      <p:pic>
        <p:nvPicPr>
          <p:cNvPr id="5" name="q-icon" descr="preencoded.png">    </p:cNvPr>
          <p:cNvPicPr>
            <a:picLocks noChangeAspect="1"/>
          </p:cNvPicPr>
          <p:nvPr/>
        </p:nvPicPr>
        <p:blipFill>
          <a:blip r:embed="rId1"/>
          <a:stretch>
            <a:fillRect/>
          </a:stretch>
        </p:blipFill>
        <p:spPr>
          <a:xfrm>
            <a:off x="9601200" y="2651760"/>
            <a:ext cx="1097280" cy="1097280"/>
          </a:xfrm>
          <a:prstGeom prst="rect">
            <a:avLst/>
          </a:prstGeom>
        </p:spPr>
      </p:pic>
    </p:spTree>
  </p:cSld>
  <p:clrMapOvr>
    <a:masterClrMapping/>
  </p:clrMapOvr>
</p:sld>
</file>

<file path=ppt/theme/theme1.xml><?xml version="1.0" encoding="utf-8"?>
<a:theme xmlns:a="http://schemas.openxmlformats.org/drawingml/2006/main" name="Flight Delay Spark">
  <a:themeElements>
    <a:clrScheme name="Flight Delay Spark">
      <a:dk1>
        <a:srgbClr val="0B1F3A"/>
      </a:dk1>
      <a:lt1>
        <a:srgbClr val="FFFFFF"/>
      </a:lt1>
      <a:dk2>
        <a:srgbClr val="13315C"/>
      </a:dk2>
      <a:lt2>
        <a:srgbClr val="EEF3F8"/>
      </a:lt2>
      <a:accent1>
        <a:srgbClr val="2A78D6"/>
      </a:accent1>
      <a:accent2>
        <a:srgbClr val="EB6834"/>
      </a:accent2>
      <a:accent3>
        <a:srgbClr val="1BAF7A"/>
      </a:accent3>
      <a:accent4>
        <a:srgbClr val="EDA100"/>
      </a:accent4>
      <a:accent5>
        <a:srgbClr val="8DA9C4"/>
      </a:accent5>
      <a:accent6>
        <a:srgbClr val="5C6B7A"/>
      </a:accent6>
      <a:hlink>
        <a:srgbClr val="2A78D6"/>
      </a:hlink>
      <a:folHlink>
        <a:srgbClr val="4A3AA7"/>
      </a:folHlink>
    </a:clrScheme>
    <a:fontScheme name="Flight Delay Spar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Airline Flight Delays Using Apache Spark</dc:title>
  <dc:subject>PptxGenJS Presentation</dc:subject>
  <dc:creator>BDMLA student</dc:creator>
  <cp:lastModifiedBy>BDMLA student</cp:lastModifiedBy>
  <cp:revision>1</cp:revision>
  <dcterms:created xsi:type="dcterms:W3CDTF">2026-10-09T13:05:18Z</dcterms:created>
  <dcterms:modified xsi:type="dcterms:W3CDTF">2026-10-09T13:05:18Z</dcterms:modified>
</cp:coreProperties>
</file>